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Lst>
  <p:notesMasterIdLst>
    <p:notesMasterId r:id="rId28"/>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notesMaster" Target="notesMasters/notesMaster1.xml"/><Relationship Id="rId29" Type="http://schemas.openxmlformats.org/officeDocument/2006/relationships/presProps" Target="presProps.xml"/><Relationship Id="rId30" Type="http://schemas.openxmlformats.org/officeDocument/2006/relationships/viewProps" Target="viewProps.xml"/><Relationship Id="rId31" Type="http://schemas.openxmlformats.org/officeDocument/2006/relationships/theme" Target="theme/theme1.xml"/><Relationship Id="rId3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Buenas tardes. Soy Brajan Nieto y junto con Sebastián López y Mateo Tapia presentamos hoy el proyecto final del curso de Big Data: Lumina Bank, el sistema financiero unificado que diseñamos para DataLandia sobre Google Cloud Platform. La idea central es simple: tomar doce bancos que operan en silos y convertirlos en una sola plataforma de datos que opera en tiempo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Rápidamente, el equipo. Yo abro con contexto, objetivos y el diagrama general. Sebastián pasa al detalle técnico de la implementación. Mateo cierra con valor de negocio, KPIs, lecciones y roadmap. Veinte minutos, seis tramos, los verán en la agenda de la derecha. Vamos a empezar.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Primero el contexto. DataLandia es un país ficticio, pero el problema que modela es real: doce instituciones bancarias independientes, más de nueve millones de clientes atendidos entre todas, y cero visibilidad compartida. Cada banco hace lo suyo, con su propio core, su propia infraestructura, su propia visión del cliente. Ese es el punto de partida.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Identificamos cuatro puntos de dolor concretos. Uno: la congestión en quincena y fin de mes; los sistemas legacy no escalan horizontalmente. Dos: la fragmentación entre entidades; un fraude detectado en un banco no se comparte con los otros. Tres: infraestructura física desajustada, cajeros sobrecargados en unos lados y subutilizados en otros. Y cuatro: ausencia total de tiempo real, lo que bloquea productos como micro-créditos bajo demanda.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Tres números para dimensionar. Doce instituciones bancarias. Nueve millones de clientes. Cero analítica en tiempo real. Con esa escala, el modelo fragmentado no es sostenible; la pregunta ya no es si consolidar, sino cómo.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Nuestro objetivo principal es construir una plataforma de datos unificada, compartida, integrada y bajo demanda, que sirva a los tres consumidores del sistema: el regulador que necesita reportes consolidados, las áreas de negocio de cada banco que necesitan analítica sobre sus clientes, y el cliente final que espera decisiones inmediatas.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 ahí bajamos a seis objetivos específicos, todos medibles. Consolidar el flujo transaccional, evaluar riesgo de fraude online, distribuir con patrón fan-out, generar pronósticos diarios de liquidez, tener un warehouse analítico nativo, y hacer todo en Infraestructura como Código. Estos seis son el contrato del proyecto.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Así se ve el diagrama end-to-end. Cuatro fases sobre Google Cloud Platform. Ingesta: los doce bancos publican contra Cloud Run y Pub/Sub. Procesamiento: Dataflow enriquece y scorea contra Vertex AI. Almacenamiento polilítico: Bigtable, BigQuery, Redis y Cloud Storage, cada uno en su rol. Servicio: fan-out filtrado a los doce bancos, APIs en Cloud Run y dashboards en Looker Studio. Todo desplegado vía Terraform en us-east1.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Fase uno, ingesta. Cloud Run recibe las transacciones, escala de cero a diez instancias por demanda. Pub/Sub raw-ingest es el bus principal, con treinta y un días de retención y entrega at-least-once. Los mensajes fallidos caen en un Dead Letter Topic tras cinco intentos. El Schema Registry valida contratos JSON por versión de banco. Pub/Sub no tiene límite práctico de TPS, así que los picos de quincena se absorben solos.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Fase dos, procesamiento. Dataflow corre un pipeline streaming en Apache Beam 2.56, con autoescalado de cinco a veinte workers. Cada transacción se enriquece con features que viven en Memorystore Redis, luego se scorea contra el endpoint de Vertex AI que tiene el modelo de fraude, y se decide en menos de doscientos milisegundos. Dataproc corre los batches nocturnos. Esta fase es donde ocurre la magia interbancaria.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Fase tres, almacenamiento. Aquí aplicamos polilítica: cada tecnología en su sweet spot. Redis para cache sub-milisegundo. Bigtable para lookup caliente por transaction id. BigQuery para analítica de warehouse con particionado y clustering. Y Cloud Storage en capas bronze, silver y gold, con lifecycle automático a Nearline y Coldline que ahorra entre cincuenta y ochenta por ciento a largo plazo.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Fase cuatro, servicio. Doce suscripciones Pub/Sub filtradas por bank_entity — cada banco consume solo lo suyo, a su ritmo. El BFF en Cloud Run expone APIs de consulta y score. Looker Studio se conecta nativamente a BigQuery. Y la consola del regulador tiene vistas consolidadas con linaje. La frescura típica en BigQuery es de dos a cinco segundos desde el evento; el KPI exigía menos de diez. Con esto termino mi parte y le paso el micrófono a Sebastián.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Brajan. Soy Sebastián López y les voy a mostrar cómo el diagrama que acaban de ver se convierte en un terraform apply ejecutable. Tres bloques: Infraestructura como Código, el pipeline streaming en detalle, el batch en Dataproc, el modelo de fraude y la capa de gobierno.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Todo el proyecto vive en seis módulos Terraform: network, ingesta, streaming, batch, serving y warehouse. Un despliegue completo desde cero toma entre doce y quince minutos. Los deploys incrementales, menos de cinco. Y podemos destruir y recrear toda la infraestructura en menos de veinte minutos, lo que nos permite entornos efímeros de prueba y reduce drásticamente el drift en producción.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Acá está el pipeline streaming de Dataflow paso a paso. Leemos de Pub/Sub, parseamos el JSON a un schema tipado, enriquecemos con features de Redis, scoreamos contra Vertex AI — ese es el paso crítico, en cyan —, decidimos ruta y escribimos a los sinks: Bigtable, BigQuery y el fan-out. Sostiene más de cinco mil TPS, entrega exactly-once, autoescala de cinco a veinte workers, y la retención de treinta y un días nos cubre ante cualquier reprocesamiento.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batch corre en Dataproc efímero. Los clústers se crean bajo demanda, viven cuarenta y cinco minutos al día y se destruyen. Ocho nodos por job, corrida diaria a las dos de la mañana. Ahorro superior al noventa y cinco por ciento frente a un clúster veinticuatro siete. Corremos cuatro jobs: pronóstico de liquidez, utilización de red, re-entrenamiento del modelo de fraude y cierres contables diarios.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modelo de fraude es un Gradient Boosted Trees entrenado con Spark MLlib sobre Dataproc. Sirve desde Vertex AI con dos a diez réplicas. Las features viven en Memorystore Redis para latencia sub-milisegundo, y Dataflow invoca el endpoint con percentil noventa y cinco por debajo de doscientos milisegundos. Lo importante: el modelo se entrena sobre el historial consolidado de los doce bancos, así que un cliente sospechoso en uno queda marcado para todos. La arquitectura habilita el noventa por ciento de cobertura interbancaria.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 la capa de gobierno. El fan-out hacia los doce bancos son doce suscripciones Pub/Sub con filtro por bank_entity — elegante, sin acoplamientos. Seguridad: VPC Connector en slash veintiocho, Cloud NAT para salida determinista sin IPs públicas, audit logs y budgets con alertas al cincuenta, ochenta y cien por ciento, etiquetados por pipeline para detectar desviaciones por subsistema. Con esto cierro mi parte. Mateo.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Sebastián. Soy Mateo Tapia y cierro la presentación con lo que más le interesa al comité: resultados, valor de negocio, lecciones y hacia dónde vamos.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Empezamos con KPIs. Definimos siete indicadores en el capítulo dos y los siete están cumplidos. Throughput mayor o igual a cinco mil TPS en picos, disponibilidad noventa y nueve coma noventa y cinco por ciento mensual, cero pérdida de mensajes, fraude cruzado al menos noventa por ciento de cobertura, frescura en BigQuery menos de diez segundos, pronóstico diario para los doce bancos, y despliegue end-to-end en quince minutos o menos. Siete de siete.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 términos de valor de negocio, la plataforma habilita tres capacidades que el modelo fragmentado simplemente no podía entregar. Uno: fraude en tiempo real con visibilidad interbancaria. Dos: pronóstico de liquidez diario y accionable por tesorería. Y tres: productos de datos nuevos — micro-créditos bajo demanda, scoring contextual y recomendaciones en el momento de la interacción. Esto es el ROI real.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costo mensual estimado se ubica entre cuatro mil ciento sesenta y siete mil seiscientos treinta dólares, con picos hasta quince mil. Rango manejable para una iniciativa que consolida doce bancos y nueve millones de clientes. A la derecha listamos las palancas de optimización que aplicamos: Dataproc efímero, lifecycle de GCS, Cloud Run scale-to-zero y particionado de BigQuery. Juntas reducen entre cuarenta y ochenta por ciento frente a un despliegue ingenuo.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 lecciones aprendidas. Seis fricciones reales: cuotas del trial de GCP, permisos IAM de la cuenta default de Compute, planificación de rangos CIDR, mismatch de SDK en Dataflow, APIs que tardan en activarse y buckets temporales en Dataproc. Cada una la resolvimos y la documentamos. La lección transversal: priorizar servicios gestionados, escribir en IaC desde el día uno, documentar IAM dentro del módulo, y monitorear consumo con budgets desde el inicio.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El roadmap son tres horizontes. Primero, un Feature Store en Vertex AI para versionar features y evitar drift. Segundo, migrar el scoring analítico a BigQuery ML con Gemini Pro, lo que abre la puerta a un agente que responda al regulador en lenguaje natural. Tercero, Dataplex como capa de gobierno unificado sobre el data lake y BigQuery, con linaje automático y clasificación de PII. Cada fase suma, ninguna invalida lo anterior.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Cerramos. Lumina Bank no es solo una plataforma técnica. Es la fundación sobre la cual DataLandia puede construir su sistema financiero de próxima generación. Cuatro takeaways: exactly-once sin operar Kafka, fan-out elegante para resolver la fragmentación, polilítica intencional no dogmática, e IaC que nos permite destruir y recrear en veinte minutos. Gracias.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Gracias al comité. Quedamos a sus preguntas.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image" Target="../media/image-15-5.png"/><Relationship Id="rId6" Type="http://schemas.openxmlformats.org/officeDocument/2006/relationships/image" Target="../media/image-15-6.png"/><Relationship Id="rId7" Type="http://schemas.openxmlformats.org/officeDocument/2006/relationships/slideLayout" Target="../slideLayouts/slideLayout1.xml"/><Relationship Id="rId8"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1143000" y="1333500"/>
            <a:ext cx="4242435" cy="571500"/>
          </a:xfrm>
          <a:prstGeom prst="rect">
            <a:avLst/>
          </a:prstGeom>
          <a:solidFill>
            <a:srgbClr val="00E1FF"/>
          </a:solidFill>
          <a:ln/>
        </p:spPr>
      </p:sp>
      <p:sp>
        <p:nvSpPr>
          <p:cNvPr id="3" name="Text 1"/>
          <p:cNvSpPr/>
          <p:nvPr/>
        </p:nvSpPr>
        <p:spPr>
          <a:xfrm>
            <a:off x="1346063" y="1466850"/>
            <a:ext cx="3836308" cy="342900"/>
          </a:xfrm>
          <a:prstGeom prst="rect">
            <a:avLst/>
          </a:prstGeom>
          <a:noFill/>
          <a:ln/>
        </p:spPr>
        <p:txBody>
          <a:bodyPr wrap="square" lIns="25400" tIns="25400" rIns="25400" bIns="25400" rtlCol="0" anchor="ctr">
            <a:normAutofit/>
          </a:bodyPr>
          <a:lstStyle/>
          <a:p>
            <a:pPr algn="ctr" indent="0" marL="0">
              <a:buNone/>
            </a:pPr>
            <a:r>
              <a:rPr lang="en-US" sz="1800" spc="252" kern="0" dirty="0">
                <a:solidFill>
                  <a:srgbClr val="4D4B4C"/>
                </a:solidFill>
                <a:latin typeface="Space Grotesk" pitchFamily="34" charset="0"/>
                <a:ea typeface="Space Grotesk" pitchFamily="34" charset="-122"/>
                <a:cs typeface="Space Grotesk" pitchFamily="34" charset="-120"/>
              </a:rPr>
              <a:t>PROYECTO FINAL · BIG DATA</a:t>
            </a:r>
            <a:endParaRPr lang="en-US" sz="1800" dirty="0"/>
          </a:p>
        </p:txBody>
      </p:sp>
      <p:sp>
        <p:nvSpPr>
          <p:cNvPr id="4" name="Text 2"/>
          <p:cNvSpPr/>
          <p:nvPr/>
        </p:nvSpPr>
        <p:spPr>
          <a:xfrm>
            <a:off x="1143000" y="2438400"/>
            <a:ext cx="8110220" cy="914400"/>
          </a:xfrm>
          <a:prstGeom prst="rect">
            <a:avLst/>
          </a:prstGeom>
          <a:noFill/>
          <a:ln/>
        </p:spPr>
        <p:txBody>
          <a:bodyPr wrap="square" lIns="25400" tIns="25400" rIns="25400" bIns="25400" rtlCol="0" anchor="t">
            <a:normAutofit/>
          </a:bodyPr>
          <a:lstStyle/>
          <a:p>
            <a:pPr algn="l" indent="0" marL="0">
              <a:lnSpc>
                <a:spcPct val="100000"/>
              </a:lnSpc>
              <a:buNone/>
            </a:pPr>
            <a:r>
              <a:rPr lang="en-US" sz="6900" spc="-138" kern="0" dirty="0">
                <a:solidFill>
                  <a:srgbClr val="4D4B4C"/>
                </a:solidFill>
                <a:latin typeface="Space Grotesk" pitchFamily="34" charset="0"/>
                <a:ea typeface="Space Grotesk" pitchFamily="34" charset="-122"/>
                <a:cs typeface="Space Grotesk" pitchFamily="34" charset="-120"/>
              </a:rPr>
              <a:t>Lumina Bank</a:t>
            </a:r>
            <a:endParaRPr lang="en-US" sz="6900" dirty="0"/>
          </a:p>
        </p:txBody>
      </p:sp>
      <p:sp>
        <p:nvSpPr>
          <p:cNvPr id="5" name="Text 3"/>
          <p:cNvSpPr/>
          <p:nvPr/>
        </p:nvSpPr>
        <p:spPr>
          <a:xfrm>
            <a:off x="1143000" y="3390900"/>
            <a:ext cx="8110220" cy="2667000"/>
          </a:xfrm>
          <a:prstGeom prst="rect">
            <a:avLst/>
          </a:prstGeom>
          <a:noFill/>
          <a:ln/>
        </p:spPr>
        <p:txBody>
          <a:bodyPr wrap="square" lIns="25400" tIns="25400" rIns="25400" bIns="25400" rtlCol="0" anchor="t">
            <a:normAutofit/>
          </a:bodyPr>
          <a:lstStyle/>
          <a:p>
            <a:pPr algn="l" indent="0" marL="0">
              <a:lnSpc>
                <a:spcPct val="100000"/>
              </a:lnSpc>
              <a:buNone/>
            </a:pPr>
            <a:r>
              <a:rPr lang="en-US" sz="6900" b="1" spc="-138" kern="0" dirty="0">
                <a:solidFill>
                  <a:srgbClr val="4D4B4C"/>
                </a:solidFill>
                <a:latin typeface="Space Grotesk" pitchFamily="34" charset="0"/>
                <a:ea typeface="Space Grotesk" pitchFamily="34" charset="-122"/>
                <a:cs typeface="Space Grotesk" pitchFamily="34" charset="-120"/>
              </a:rPr>
              <a:t>Sistema financiero unificado de DataLandia</a:t>
            </a:r>
            <a:endParaRPr lang="en-US" sz="6900" dirty="0"/>
          </a:p>
        </p:txBody>
      </p:sp>
      <p:sp>
        <p:nvSpPr>
          <p:cNvPr id="6" name="Text 4"/>
          <p:cNvSpPr/>
          <p:nvPr/>
        </p:nvSpPr>
        <p:spPr>
          <a:xfrm>
            <a:off x="1143000" y="6553200"/>
            <a:ext cx="8044815" cy="1398270"/>
          </a:xfrm>
          <a:prstGeom prst="rect">
            <a:avLst/>
          </a:prstGeom>
          <a:noFill/>
          <a:ln/>
        </p:spPr>
        <p:txBody>
          <a:bodyPr wrap="square" lIns="25400" tIns="25400" rIns="25400" bIns="25400" rtlCol="0" anchor="t">
            <a:normAutofit/>
          </a:bodyPr>
          <a:lstStyle/>
          <a:p>
            <a:pPr algn="l" indent="0" marL="0">
              <a:lnSpc>
                <a:spcPct val="140000"/>
              </a:lnSpc>
              <a:buNone/>
            </a:pPr>
            <a:r>
              <a:rPr lang="en-US" sz="2550" dirty="0">
                <a:solidFill>
                  <a:srgbClr val="6B6869"/>
                </a:solidFill>
                <a:latin typeface="Space Grotesk" pitchFamily="34" charset="0"/>
                <a:ea typeface="Space Grotesk" pitchFamily="34" charset="-122"/>
                <a:cs typeface="Space Grotesk" pitchFamily="34" charset="-120"/>
              </a:rPr>
              <a:t>Arquitectura de datos end-to-end sobre Google Cloud Platform, construida íntegramente bajo Infraestructura como Código.</a:t>
            </a:r>
            <a:endParaRPr lang="en-US" sz="2550" dirty="0"/>
          </a:p>
        </p:txBody>
      </p:sp>
      <p:pic>
        <p:nvPicPr>
          <p:cNvPr id="7" name="Image 0" descr="preencoded.png">    </p:cNvPr>
          <p:cNvPicPr>
            <a:picLocks noChangeAspect="1"/>
          </p:cNvPicPr>
          <p:nvPr/>
        </p:nvPicPr>
        <p:blipFill>
          <a:blip r:embed="rId1"/>
          <a:stretch>
            <a:fillRect/>
          </a:stretch>
        </p:blipFill>
        <p:spPr>
          <a:xfrm>
            <a:off x="1143000" y="8391525"/>
            <a:ext cx="2673509" cy="514350"/>
          </a:xfrm>
          <a:prstGeom prst="rect">
            <a:avLst/>
          </a:prstGeom>
        </p:spPr>
      </p:pic>
      <p:sp>
        <p:nvSpPr>
          <p:cNvPr id="8" name="Shape 5"/>
          <p:cNvSpPr/>
          <p:nvPr/>
        </p:nvSpPr>
        <p:spPr>
          <a:xfrm>
            <a:off x="4349909" y="8458200"/>
            <a:ext cx="9525" cy="381000"/>
          </a:xfrm>
          <a:prstGeom prst="rect">
            <a:avLst/>
          </a:prstGeom>
          <a:solidFill>
            <a:srgbClr val="EEEEEE"/>
          </a:solidFill>
          <a:ln/>
        </p:spPr>
      </p:sp>
      <p:sp>
        <p:nvSpPr>
          <p:cNvPr id="9" name="Text 6"/>
          <p:cNvSpPr/>
          <p:nvPr/>
        </p:nvSpPr>
        <p:spPr>
          <a:xfrm>
            <a:off x="4892199" y="8343900"/>
            <a:ext cx="4248545" cy="647700"/>
          </a:xfrm>
          <a:prstGeom prst="rect">
            <a:avLst/>
          </a:prstGeom>
          <a:noFill/>
          <a:ln/>
        </p:spPr>
        <p:txBody>
          <a:bodyPr wrap="square" lIns="25400" tIns="25400" rIns="25400" bIns="25400" rtlCol="0" anchor="t">
            <a:normAutofit/>
          </a:bodyPr>
          <a:lstStyle/>
          <a:p>
            <a:pPr algn="l" indent="0" marL="0">
              <a:buNone/>
            </a:pPr>
            <a:r>
              <a:rPr lang="en-US" sz="1800" spc="360" kern="0" dirty="0">
                <a:solidFill>
                  <a:srgbClr val="6B6869"/>
                </a:solidFill>
                <a:latin typeface="Space Grotesk" pitchFamily="34" charset="0"/>
                <a:ea typeface="Space Grotesk" pitchFamily="34" charset="-122"/>
                <a:cs typeface="Space Grotesk" pitchFamily="34" charset="-120"/>
              </a:rPr>
              <a:t>ESCUELA DE POSGRADO · 2026</a:t>
            </a:r>
            <a:endParaRPr lang="en-US" sz="1800" dirty="0"/>
          </a:p>
        </p:txBody>
      </p:sp>
      <p:sp>
        <p:nvSpPr>
          <p:cNvPr id="10" name="Shape 7"/>
          <p:cNvSpPr/>
          <p:nvPr/>
        </p:nvSpPr>
        <p:spPr>
          <a:xfrm>
            <a:off x="10160000" y="0"/>
            <a:ext cx="8128000" cy="10287000"/>
          </a:xfrm>
          <a:prstGeom prst="rect">
            <a:avLst/>
          </a:prstGeom>
          <a:solidFill>
            <a:srgbClr val="00E1FF"/>
          </a:solidFill>
          <a:ln/>
        </p:spPr>
      </p:sp>
      <p:pic>
        <p:nvPicPr>
          <p:cNvPr id="11" name="Image 1" descr="preencoded.png">    </p:cNvPr>
          <p:cNvPicPr>
            <a:picLocks noChangeAspect="1"/>
          </p:cNvPicPr>
          <p:nvPr/>
        </p:nvPicPr>
        <p:blipFill>
          <a:blip r:embed="rId2"/>
          <a:srcRect l="0" r="0" t="0" b="0"/>
          <a:stretch/>
        </p:blipFill>
        <p:spPr>
          <a:xfrm>
            <a:off x="10810240" y="1729740"/>
            <a:ext cx="6827520" cy="6827520"/>
          </a:xfrm>
          <a:prstGeom prst="rect">
            <a:avLst/>
          </a:prstGeom>
        </p:spPr>
      </p:pic>
      <p:sp>
        <p:nvSpPr>
          <p:cNvPr id="12" name="Text 8"/>
          <p:cNvSpPr/>
          <p:nvPr/>
        </p:nvSpPr>
        <p:spPr>
          <a:xfrm>
            <a:off x="15838488" y="914400"/>
            <a:ext cx="1953419" cy="949325"/>
          </a:xfrm>
          <a:prstGeom prst="rect">
            <a:avLst/>
          </a:prstGeom>
          <a:noFill/>
          <a:ln/>
        </p:spPr>
        <p:txBody>
          <a:bodyPr wrap="square" lIns="25400" tIns="25400" rIns="25400" bIns="25400" rtlCol="0" anchor="t">
            <a:normAutofit/>
          </a:bodyPr>
          <a:lstStyle/>
          <a:p>
            <a:pPr algn="l" indent="0" marL="0">
              <a:lnSpc>
                <a:spcPct val="91987"/>
              </a:lnSpc>
              <a:buNone/>
            </a:pPr>
            <a:r>
              <a:rPr lang="en-US" sz="3900" b="1" spc="78" kern="0" dirty="0">
                <a:solidFill>
                  <a:srgbClr val="4D4B4C"/>
                </a:solidFill>
                <a:latin typeface="Space Grotesk" pitchFamily="34" charset="0"/>
                <a:ea typeface="Space Grotesk" pitchFamily="34" charset="-122"/>
                <a:cs typeface="Space Grotesk" pitchFamily="34" charset="-120"/>
              </a:rPr>
              <a:t>HANDS ON.</a:t>
            </a:r>
            <a:endParaRPr lang="en-US" sz="3900" dirty="0"/>
          </a:p>
        </p:txBody>
      </p:sp>
      <p:sp>
        <p:nvSpPr>
          <p:cNvPr id="13" name="Text 9"/>
          <p:cNvSpPr/>
          <p:nvPr/>
        </p:nvSpPr>
        <p:spPr>
          <a:xfrm>
            <a:off x="10845800" y="8667750"/>
            <a:ext cx="2949438" cy="314325"/>
          </a:xfrm>
          <a:prstGeom prst="rect">
            <a:avLst/>
          </a:prstGeom>
          <a:noFill/>
          <a:ln/>
        </p:spPr>
        <p:txBody>
          <a:bodyPr wrap="square" lIns="25400" tIns="25400" rIns="25400" bIns="25400" rtlCol="0" anchor="t">
            <a:normAutofit/>
          </a:bodyPr>
          <a:lstStyle/>
          <a:p>
            <a:pPr algn="l" indent="0" marL="0">
              <a:buNone/>
            </a:pPr>
            <a:r>
              <a:rPr lang="en-US" sz="1650" spc="231" kern="0" dirty="0">
                <a:solidFill>
                  <a:srgbClr val="4D4B4C"/>
                </a:solidFill>
                <a:latin typeface="Space Grotesk" pitchFamily="34" charset="0"/>
                <a:ea typeface="Space Grotesk" pitchFamily="34" charset="-122"/>
                <a:cs typeface="Space Grotesk" pitchFamily="34" charset="-120"/>
              </a:rPr>
              <a:t>MAESTRÍA EN</a:t>
            </a:r>
            <a:endParaRPr lang="en-US" sz="1650" dirty="0"/>
          </a:p>
        </p:txBody>
      </p:sp>
      <p:sp>
        <p:nvSpPr>
          <p:cNvPr id="14" name="Text 10"/>
          <p:cNvSpPr/>
          <p:nvPr/>
        </p:nvSpPr>
        <p:spPr>
          <a:xfrm>
            <a:off x="10845800" y="9001125"/>
            <a:ext cx="2949438" cy="409575"/>
          </a:xfrm>
          <a:prstGeom prst="rect">
            <a:avLst/>
          </a:prstGeom>
          <a:noFill/>
          <a:ln/>
        </p:spPr>
        <p:txBody>
          <a:bodyPr wrap="square" lIns="25400" tIns="25400" rIns="25400" bIns="25400" rtlCol="0" anchor="t">
            <a:normAutofit/>
          </a:bodyPr>
          <a:lstStyle/>
          <a:p>
            <a:pPr algn="l" indent="0" marL="0">
              <a:buNone/>
            </a:pPr>
            <a:r>
              <a:rPr lang="en-US" sz="2250" b="1" dirty="0">
                <a:solidFill>
                  <a:srgbClr val="4D4B4C"/>
                </a:solidFill>
                <a:latin typeface="Space Grotesk" pitchFamily="34" charset="0"/>
                <a:ea typeface="Space Grotesk" pitchFamily="34" charset="-122"/>
                <a:cs typeface="Space Grotesk" pitchFamily="34" charset="-120"/>
              </a:rPr>
              <a:t>Ciencia de Datos e IA</a:t>
            </a:r>
            <a:endParaRPr lang="en-US" sz="22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7652385"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01 · EQUIPO</a:t>
            </a:r>
            <a:endParaRPr lang="en-US" sz="1500" dirty="0"/>
          </a:p>
        </p:txBody>
      </p:sp>
      <p:sp>
        <p:nvSpPr>
          <p:cNvPr id="3" name="Text 1"/>
          <p:cNvSpPr/>
          <p:nvPr/>
        </p:nvSpPr>
        <p:spPr>
          <a:xfrm>
            <a:off x="1143000" y="1676400"/>
            <a:ext cx="7652385" cy="698818"/>
          </a:xfrm>
          <a:prstGeom prst="rect">
            <a:avLst/>
          </a:prstGeom>
          <a:noFill/>
          <a:ln/>
        </p:spPr>
        <p:txBody>
          <a:bodyPr wrap="square" lIns="25400" tIns="25400" rIns="25400" bIns="25400" rtlCol="0" anchor="t">
            <a:normAutofit/>
          </a:bodyPr>
          <a:lstStyle/>
          <a:p>
            <a:pPr algn="l" indent="0" marL="0">
              <a:lnSpc>
                <a:spcPct val="102010"/>
              </a:lnSpc>
              <a:buNone/>
            </a:pPr>
            <a:r>
              <a:rPr lang="en-US" sz="5100" b="1" spc="-76" kern="0" dirty="0">
                <a:solidFill>
                  <a:srgbClr val="4D4B4C"/>
                </a:solidFill>
                <a:latin typeface="Space Grotesk" pitchFamily="34" charset="0"/>
                <a:ea typeface="Space Grotesk" pitchFamily="34" charset="-122"/>
                <a:cs typeface="Space Grotesk" pitchFamily="34" charset="-120"/>
              </a:rPr>
              <a:t>Presentan hoy</a:t>
            </a:r>
            <a:endParaRPr lang="en-US" sz="5100" dirty="0"/>
          </a:p>
        </p:txBody>
      </p:sp>
      <p:sp>
        <p:nvSpPr>
          <p:cNvPr id="4" name="Text 2"/>
          <p:cNvSpPr/>
          <p:nvPr/>
        </p:nvSpPr>
        <p:spPr>
          <a:xfrm>
            <a:off x="1143000" y="2946718"/>
            <a:ext cx="647700"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dirty="0">
                <a:solidFill>
                  <a:srgbClr val="00E1FF"/>
                </a:solidFill>
                <a:latin typeface="Space Grotesk" pitchFamily="34" charset="0"/>
                <a:ea typeface="Space Grotesk" pitchFamily="34" charset="-122"/>
                <a:cs typeface="Space Grotesk" pitchFamily="34" charset="-120"/>
              </a:rPr>
              <a:t>0 1</a:t>
            </a:r>
            <a:endParaRPr lang="en-US" sz="3600" dirty="0"/>
          </a:p>
        </p:txBody>
      </p:sp>
      <p:sp>
        <p:nvSpPr>
          <p:cNvPr id="5" name="Text 3"/>
          <p:cNvSpPr/>
          <p:nvPr/>
        </p:nvSpPr>
        <p:spPr>
          <a:xfrm>
            <a:off x="2019300" y="2946718"/>
            <a:ext cx="3918250" cy="457200"/>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4D4B4C"/>
                </a:solidFill>
                <a:latin typeface="Space Grotesk" pitchFamily="34" charset="0"/>
                <a:ea typeface="Space Grotesk" pitchFamily="34" charset="-122"/>
                <a:cs typeface="Space Grotesk" pitchFamily="34" charset="-120"/>
              </a:rPr>
              <a:t>Brajan Nieto Espinoza</a:t>
            </a:r>
            <a:endParaRPr lang="en-US" sz="2550" dirty="0"/>
          </a:p>
        </p:txBody>
      </p:sp>
      <p:sp>
        <p:nvSpPr>
          <p:cNvPr id="6" name="Text 4"/>
          <p:cNvSpPr/>
          <p:nvPr/>
        </p:nvSpPr>
        <p:spPr>
          <a:xfrm>
            <a:off x="2019300" y="3442018"/>
            <a:ext cx="3918250"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6869"/>
                </a:solidFill>
                <a:latin typeface="Space Grotesk" pitchFamily="34" charset="0"/>
                <a:ea typeface="Space Grotesk" pitchFamily="34" charset="-122"/>
                <a:cs typeface="Space Grotesk" pitchFamily="34" charset="-120"/>
              </a:rPr>
              <a:t>Contexto, objetivos y arquitectura</a:t>
            </a:r>
            <a:endParaRPr lang="en-US" sz="1800" dirty="0"/>
          </a:p>
        </p:txBody>
      </p:sp>
      <p:sp>
        <p:nvSpPr>
          <p:cNvPr id="7" name="Text 5"/>
          <p:cNvSpPr/>
          <p:nvPr/>
        </p:nvSpPr>
        <p:spPr>
          <a:xfrm>
            <a:off x="1143000" y="4127818"/>
            <a:ext cx="647700"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dirty="0">
                <a:solidFill>
                  <a:srgbClr val="00E1FF"/>
                </a:solidFill>
                <a:latin typeface="Space Grotesk" pitchFamily="34" charset="0"/>
                <a:ea typeface="Space Grotesk" pitchFamily="34" charset="-122"/>
                <a:cs typeface="Space Grotesk" pitchFamily="34" charset="-120"/>
              </a:rPr>
              <a:t>0 2</a:t>
            </a:r>
            <a:endParaRPr lang="en-US" sz="3600" dirty="0"/>
          </a:p>
        </p:txBody>
      </p:sp>
      <p:sp>
        <p:nvSpPr>
          <p:cNvPr id="8" name="Text 6"/>
          <p:cNvSpPr/>
          <p:nvPr/>
        </p:nvSpPr>
        <p:spPr>
          <a:xfrm>
            <a:off x="2019300" y="4127818"/>
            <a:ext cx="5034387" cy="457200"/>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4D4B4C"/>
                </a:solidFill>
                <a:latin typeface="Space Grotesk" pitchFamily="34" charset="0"/>
                <a:ea typeface="Space Grotesk" pitchFamily="34" charset="-122"/>
                <a:cs typeface="Space Grotesk" pitchFamily="34" charset="-120"/>
              </a:rPr>
              <a:t>Sebastián López Medina</a:t>
            </a:r>
            <a:endParaRPr lang="en-US" sz="2550" dirty="0"/>
          </a:p>
        </p:txBody>
      </p:sp>
      <p:sp>
        <p:nvSpPr>
          <p:cNvPr id="9" name="Text 7"/>
          <p:cNvSpPr/>
          <p:nvPr/>
        </p:nvSpPr>
        <p:spPr>
          <a:xfrm>
            <a:off x="2019300" y="4623118"/>
            <a:ext cx="5034387"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6869"/>
                </a:solidFill>
                <a:latin typeface="Space Grotesk" pitchFamily="34" charset="0"/>
                <a:ea typeface="Space Grotesk" pitchFamily="34" charset="-122"/>
                <a:cs typeface="Space Grotesk" pitchFamily="34" charset="-120"/>
              </a:rPr>
              <a:t>Implementación detallada de la arquitectura</a:t>
            </a:r>
            <a:endParaRPr lang="en-US" sz="1800" dirty="0"/>
          </a:p>
        </p:txBody>
      </p:sp>
      <p:sp>
        <p:nvSpPr>
          <p:cNvPr id="10" name="Text 8"/>
          <p:cNvSpPr/>
          <p:nvPr/>
        </p:nvSpPr>
        <p:spPr>
          <a:xfrm>
            <a:off x="1143000" y="5308918"/>
            <a:ext cx="650399" cy="495300"/>
          </a:xfrm>
          <a:prstGeom prst="rect">
            <a:avLst/>
          </a:prstGeom>
          <a:noFill/>
          <a:ln/>
        </p:spPr>
        <p:txBody>
          <a:bodyPr wrap="square" lIns="25400" tIns="25400" rIns="25400" bIns="25400" rtlCol="0" anchor="t">
            <a:normAutofit/>
          </a:bodyPr>
          <a:lstStyle/>
          <a:p>
            <a:pPr algn="l" indent="0" marL="0">
              <a:lnSpc>
                <a:spcPct val="100000"/>
              </a:lnSpc>
              <a:buNone/>
            </a:pPr>
            <a:r>
              <a:rPr lang="en-US" sz="3600" b="1" dirty="0">
                <a:solidFill>
                  <a:srgbClr val="00E1FF"/>
                </a:solidFill>
                <a:latin typeface="Space Grotesk" pitchFamily="34" charset="0"/>
                <a:ea typeface="Space Grotesk" pitchFamily="34" charset="-122"/>
                <a:cs typeface="Space Grotesk" pitchFamily="34" charset="-120"/>
              </a:rPr>
              <a:t>0 3</a:t>
            </a:r>
            <a:endParaRPr lang="en-US" sz="3600" dirty="0"/>
          </a:p>
        </p:txBody>
      </p:sp>
      <p:sp>
        <p:nvSpPr>
          <p:cNvPr id="11" name="Text 9"/>
          <p:cNvSpPr/>
          <p:nvPr/>
        </p:nvSpPr>
        <p:spPr>
          <a:xfrm>
            <a:off x="2021999" y="5308918"/>
            <a:ext cx="4357281" cy="457200"/>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4D4B4C"/>
                </a:solidFill>
                <a:latin typeface="Space Grotesk" pitchFamily="34" charset="0"/>
                <a:ea typeface="Space Grotesk" pitchFamily="34" charset="-122"/>
                <a:cs typeface="Space Grotesk" pitchFamily="34" charset="-120"/>
              </a:rPr>
              <a:t>Mateo Tapia Chasquibol</a:t>
            </a:r>
            <a:endParaRPr lang="en-US" sz="2550" dirty="0"/>
          </a:p>
        </p:txBody>
      </p:sp>
      <p:sp>
        <p:nvSpPr>
          <p:cNvPr id="12" name="Text 10"/>
          <p:cNvSpPr/>
          <p:nvPr/>
        </p:nvSpPr>
        <p:spPr>
          <a:xfrm>
            <a:off x="2021999" y="5804218"/>
            <a:ext cx="4357281" cy="342900"/>
          </a:xfrm>
          <a:prstGeom prst="rect">
            <a:avLst/>
          </a:prstGeom>
          <a:noFill/>
          <a:ln/>
        </p:spPr>
        <p:txBody>
          <a:bodyPr wrap="square" lIns="25400" tIns="25400" rIns="25400" bIns="25400" rtlCol="0" anchor="t">
            <a:normAutofit/>
          </a:bodyPr>
          <a:lstStyle/>
          <a:p>
            <a:pPr algn="l" indent="0" marL="0">
              <a:buNone/>
            </a:pPr>
            <a:r>
              <a:rPr lang="en-US" sz="1800" dirty="0">
                <a:solidFill>
                  <a:srgbClr val="6B6869"/>
                </a:solidFill>
                <a:latin typeface="Space Grotesk" pitchFamily="34" charset="0"/>
                <a:ea typeface="Space Grotesk" pitchFamily="34" charset="-122"/>
                <a:cs typeface="Space Grotesk" pitchFamily="34" charset="-120"/>
              </a:rPr>
              <a:t>Valor, resultados, lecciones y roadmap</a:t>
            </a:r>
            <a:endParaRPr lang="en-US" sz="1800" dirty="0"/>
          </a:p>
        </p:txBody>
      </p:sp>
      <p:sp>
        <p:nvSpPr>
          <p:cNvPr id="13" name="Text 11"/>
          <p:cNvSpPr/>
          <p:nvPr/>
        </p:nvSpPr>
        <p:spPr>
          <a:xfrm>
            <a:off x="1143000" y="6718618"/>
            <a:ext cx="7652385" cy="342900"/>
          </a:xfrm>
          <a:prstGeom prst="rect">
            <a:avLst/>
          </a:prstGeom>
          <a:noFill/>
          <a:ln/>
        </p:spPr>
        <p:txBody>
          <a:bodyPr wrap="square" lIns="25400" tIns="25400" rIns="25400" bIns="25400" rtlCol="0" anchor="t">
            <a:normAutofit/>
          </a:bodyPr>
          <a:lstStyle/>
          <a:p>
            <a:pPr algn="l" indent="0" marL="0">
              <a:buNone/>
            </a:pPr>
            <a:r>
              <a:rPr lang="en-US" sz="1800" spc="180" kern="0" dirty="0">
                <a:solidFill>
                  <a:srgbClr val="A1A0A0"/>
                </a:solidFill>
                <a:latin typeface="Space Grotesk" pitchFamily="34" charset="0"/>
                <a:ea typeface="Space Grotesk" pitchFamily="34" charset="-122"/>
                <a:cs typeface="Space Grotesk" pitchFamily="34" charset="-120"/>
              </a:rPr>
              <a:t>DOCENTE · ANITA QUEVEDO</a:t>
            </a:r>
            <a:endParaRPr lang="en-US" sz="1800" dirty="0"/>
          </a:p>
        </p:txBody>
      </p:sp>
      <p:sp>
        <p:nvSpPr>
          <p:cNvPr id="14" name="Text 12"/>
          <p:cNvSpPr/>
          <p:nvPr/>
        </p:nvSpPr>
        <p:spPr>
          <a:xfrm>
            <a:off x="9715500" y="1047750"/>
            <a:ext cx="7652385"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02 · AGENDA</a:t>
            </a:r>
            <a:endParaRPr lang="en-US" sz="1500" dirty="0"/>
          </a:p>
        </p:txBody>
      </p:sp>
      <p:sp>
        <p:nvSpPr>
          <p:cNvPr id="15" name="Text 13"/>
          <p:cNvSpPr/>
          <p:nvPr/>
        </p:nvSpPr>
        <p:spPr>
          <a:xfrm>
            <a:off x="9715500" y="1676400"/>
            <a:ext cx="7652385" cy="698818"/>
          </a:xfrm>
          <a:prstGeom prst="rect">
            <a:avLst/>
          </a:prstGeom>
          <a:noFill/>
          <a:ln/>
        </p:spPr>
        <p:txBody>
          <a:bodyPr wrap="square" lIns="25400" tIns="25400" rIns="25400" bIns="25400" rtlCol="0" anchor="t">
            <a:normAutofit/>
          </a:bodyPr>
          <a:lstStyle/>
          <a:p>
            <a:pPr algn="l" indent="0" marL="0">
              <a:lnSpc>
                <a:spcPct val="102010"/>
              </a:lnSpc>
              <a:buNone/>
            </a:pPr>
            <a:r>
              <a:rPr lang="en-US" sz="5100" b="1" spc="-76" kern="0" dirty="0">
                <a:solidFill>
                  <a:srgbClr val="4D4B4C"/>
                </a:solidFill>
                <a:latin typeface="Space Grotesk" pitchFamily="34" charset="0"/>
                <a:ea typeface="Space Grotesk" pitchFamily="34" charset="-122"/>
                <a:cs typeface="Space Grotesk" pitchFamily="34" charset="-120"/>
              </a:rPr>
              <a:t>20 minutos, seis tramos</a:t>
            </a:r>
            <a:endParaRPr lang="en-US" sz="5100" dirty="0"/>
          </a:p>
        </p:txBody>
      </p:sp>
      <p:sp>
        <p:nvSpPr>
          <p:cNvPr id="16" name="Shape 14"/>
          <p:cNvSpPr/>
          <p:nvPr/>
        </p:nvSpPr>
        <p:spPr>
          <a:xfrm>
            <a:off x="9715500" y="3651568"/>
            <a:ext cx="7429500" cy="9525"/>
          </a:xfrm>
          <a:prstGeom prst="rect">
            <a:avLst/>
          </a:prstGeom>
          <a:solidFill>
            <a:srgbClr val="EEEEEE"/>
          </a:solidFill>
          <a:ln/>
        </p:spPr>
      </p:sp>
      <p:sp>
        <p:nvSpPr>
          <p:cNvPr id="17" name="Text 15"/>
          <p:cNvSpPr/>
          <p:nvPr/>
        </p:nvSpPr>
        <p:spPr>
          <a:xfrm>
            <a:off x="9715500" y="3184843"/>
            <a:ext cx="419100"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A1A0A0"/>
                </a:solidFill>
                <a:latin typeface="Space Grotesk" pitchFamily="34" charset="0"/>
                <a:ea typeface="Space Grotesk" pitchFamily="34" charset="-122"/>
                <a:cs typeface="Space Grotesk" pitchFamily="34" charset="-120"/>
              </a:rPr>
              <a:t>01</a:t>
            </a:r>
            <a:endParaRPr lang="en-US" sz="1350" dirty="0"/>
          </a:p>
        </p:txBody>
      </p:sp>
      <p:sp>
        <p:nvSpPr>
          <p:cNvPr id="18" name="Text 16"/>
          <p:cNvSpPr/>
          <p:nvPr/>
        </p:nvSpPr>
        <p:spPr>
          <a:xfrm>
            <a:off x="10325100" y="3137218"/>
            <a:ext cx="4570501" cy="361950"/>
          </a:xfrm>
          <a:prstGeom prst="rect">
            <a:avLst/>
          </a:prstGeom>
          <a:noFill/>
          <a:ln/>
        </p:spPr>
        <p:txBody>
          <a:bodyPr wrap="square" lIns="25400" tIns="25400" rIns="25400" bIns="25400" rtlCol="0" anchor="t">
            <a:normAutofit/>
          </a:bodyPr>
          <a:lstStyle/>
          <a:p>
            <a:pPr algn="l" indent="0" marL="0">
              <a:buNone/>
            </a:pPr>
            <a:r>
              <a:rPr lang="en-US" sz="1950" dirty="0">
                <a:solidFill>
                  <a:srgbClr val="4D4B4C"/>
                </a:solidFill>
                <a:latin typeface="Space Grotesk" pitchFamily="34" charset="0"/>
                <a:ea typeface="Space Grotesk" pitchFamily="34" charset="-122"/>
                <a:cs typeface="Space Grotesk" pitchFamily="34" charset="-120"/>
              </a:rPr>
              <a:t>Contexto y problemática del negocio</a:t>
            </a:r>
            <a:endParaRPr lang="en-US" sz="1950" dirty="0"/>
          </a:p>
        </p:txBody>
      </p:sp>
      <p:sp>
        <p:nvSpPr>
          <p:cNvPr id="19" name="Shape 17"/>
          <p:cNvSpPr/>
          <p:nvPr/>
        </p:nvSpPr>
        <p:spPr>
          <a:xfrm>
            <a:off x="9715500" y="4365943"/>
            <a:ext cx="7429500" cy="9525"/>
          </a:xfrm>
          <a:prstGeom prst="rect">
            <a:avLst/>
          </a:prstGeom>
          <a:solidFill>
            <a:srgbClr val="EEEEEE"/>
          </a:solidFill>
          <a:ln/>
        </p:spPr>
      </p:sp>
      <p:sp>
        <p:nvSpPr>
          <p:cNvPr id="20" name="Text 18"/>
          <p:cNvSpPr/>
          <p:nvPr/>
        </p:nvSpPr>
        <p:spPr>
          <a:xfrm>
            <a:off x="9715500" y="3899218"/>
            <a:ext cx="419100"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A1A0A0"/>
                </a:solidFill>
                <a:latin typeface="Space Grotesk" pitchFamily="34" charset="0"/>
                <a:ea typeface="Space Grotesk" pitchFamily="34" charset="-122"/>
                <a:cs typeface="Space Grotesk" pitchFamily="34" charset="-120"/>
              </a:rPr>
              <a:t>02</a:t>
            </a:r>
            <a:endParaRPr lang="en-US" sz="1350" dirty="0"/>
          </a:p>
        </p:txBody>
      </p:sp>
      <p:sp>
        <p:nvSpPr>
          <p:cNvPr id="21" name="Text 19"/>
          <p:cNvSpPr/>
          <p:nvPr/>
        </p:nvSpPr>
        <p:spPr>
          <a:xfrm>
            <a:off x="10325100" y="3851593"/>
            <a:ext cx="279590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4D4B4C"/>
                </a:solidFill>
                <a:latin typeface="Space Grotesk" pitchFamily="34" charset="0"/>
                <a:ea typeface="Space Grotesk" pitchFamily="34" charset="-122"/>
                <a:cs typeface="Space Grotesk" pitchFamily="34" charset="-120"/>
              </a:rPr>
              <a:t>Objetivos del proyecto</a:t>
            </a:r>
            <a:endParaRPr lang="en-US" sz="1950" dirty="0"/>
          </a:p>
        </p:txBody>
      </p:sp>
      <p:sp>
        <p:nvSpPr>
          <p:cNvPr id="22" name="Shape 20"/>
          <p:cNvSpPr/>
          <p:nvPr/>
        </p:nvSpPr>
        <p:spPr>
          <a:xfrm>
            <a:off x="9715500" y="5080318"/>
            <a:ext cx="7429500" cy="9525"/>
          </a:xfrm>
          <a:prstGeom prst="rect">
            <a:avLst/>
          </a:prstGeom>
          <a:solidFill>
            <a:srgbClr val="EEEEEE"/>
          </a:solidFill>
          <a:ln/>
        </p:spPr>
      </p:sp>
      <p:sp>
        <p:nvSpPr>
          <p:cNvPr id="23" name="Text 21"/>
          <p:cNvSpPr/>
          <p:nvPr/>
        </p:nvSpPr>
        <p:spPr>
          <a:xfrm>
            <a:off x="9715500" y="4613593"/>
            <a:ext cx="419100"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A1A0A0"/>
                </a:solidFill>
                <a:latin typeface="Space Grotesk" pitchFamily="34" charset="0"/>
                <a:ea typeface="Space Grotesk" pitchFamily="34" charset="-122"/>
                <a:cs typeface="Space Grotesk" pitchFamily="34" charset="-120"/>
              </a:rPr>
              <a:t>03</a:t>
            </a:r>
            <a:endParaRPr lang="en-US" sz="1350" dirty="0"/>
          </a:p>
        </p:txBody>
      </p:sp>
      <p:sp>
        <p:nvSpPr>
          <p:cNvPr id="24" name="Text 22"/>
          <p:cNvSpPr/>
          <p:nvPr/>
        </p:nvSpPr>
        <p:spPr>
          <a:xfrm>
            <a:off x="10325100" y="4565968"/>
            <a:ext cx="397875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4D4B4C"/>
                </a:solidFill>
                <a:latin typeface="Space Grotesk" pitchFamily="34" charset="0"/>
                <a:ea typeface="Space Grotesk" pitchFamily="34" charset="-122"/>
                <a:cs typeface="Space Grotesk" pitchFamily="34" charset="-120"/>
              </a:rPr>
              <a:t>Arquitectura end-to-end en GCP</a:t>
            </a:r>
            <a:endParaRPr lang="en-US" sz="1950" dirty="0"/>
          </a:p>
        </p:txBody>
      </p:sp>
      <p:sp>
        <p:nvSpPr>
          <p:cNvPr id="25" name="Shape 23"/>
          <p:cNvSpPr/>
          <p:nvPr/>
        </p:nvSpPr>
        <p:spPr>
          <a:xfrm>
            <a:off x="9715500" y="5794693"/>
            <a:ext cx="7429500" cy="9525"/>
          </a:xfrm>
          <a:prstGeom prst="rect">
            <a:avLst/>
          </a:prstGeom>
          <a:solidFill>
            <a:srgbClr val="EEEEEE"/>
          </a:solidFill>
          <a:ln/>
        </p:spPr>
      </p:sp>
      <p:sp>
        <p:nvSpPr>
          <p:cNvPr id="26" name="Text 24"/>
          <p:cNvSpPr/>
          <p:nvPr/>
        </p:nvSpPr>
        <p:spPr>
          <a:xfrm>
            <a:off x="9715500" y="5327968"/>
            <a:ext cx="419100"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A1A0A0"/>
                </a:solidFill>
                <a:latin typeface="Space Grotesk" pitchFamily="34" charset="0"/>
                <a:ea typeface="Space Grotesk" pitchFamily="34" charset="-122"/>
                <a:cs typeface="Space Grotesk" pitchFamily="34" charset="-120"/>
              </a:rPr>
              <a:t>04</a:t>
            </a:r>
            <a:endParaRPr lang="en-US" sz="1350" dirty="0"/>
          </a:p>
        </p:txBody>
      </p:sp>
      <p:sp>
        <p:nvSpPr>
          <p:cNvPr id="27" name="Text 25"/>
          <p:cNvSpPr/>
          <p:nvPr/>
        </p:nvSpPr>
        <p:spPr>
          <a:xfrm>
            <a:off x="10325100" y="5280343"/>
            <a:ext cx="3684100" cy="361950"/>
          </a:xfrm>
          <a:prstGeom prst="rect">
            <a:avLst/>
          </a:prstGeom>
          <a:noFill/>
          <a:ln/>
        </p:spPr>
        <p:txBody>
          <a:bodyPr wrap="square" lIns="25400" tIns="25400" rIns="25400" bIns="25400" rtlCol="0" anchor="t">
            <a:normAutofit/>
          </a:bodyPr>
          <a:lstStyle/>
          <a:p>
            <a:pPr algn="l" indent="0" marL="0">
              <a:buNone/>
            </a:pPr>
            <a:r>
              <a:rPr lang="en-US" sz="1950" dirty="0">
                <a:solidFill>
                  <a:srgbClr val="4D4B4C"/>
                </a:solidFill>
                <a:latin typeface="Space Grotesk" pitchFamily="34" charset="0"/>
                <a:ea typeface="Space Grotesk" pitchFamily="34" charset="-122"/>
                <a:cs typeface="Space Grotesk" pitchFamily="34" charset="-120"/>
              </a:rPr>
              <a:t>Detalles de la implementación</a:t>
            </a:r>
            <a:endParaRPr lang="en-US" sz="1950" dirty="0"/>
          </a:p>
        </p:txBody>
      </p:sp>
      <p:sp>
        <p:nvSpPr>
          <p:cNvPr id="28" name="Shape 26"/>
          <p:cNvSpPr/>
          <p:nvPr/>
        </p:nvSpPr>
        <p:spPr>
          <a:xfrm>
            <a:off x="9715500" y="6509068"/>
            <a:ext cx="7429500" cy="9525"/>
          </a:xfrm>
          <a:prstGeom prst="rect">
            <a:avLst/>
          </a:prstGeom>
          <a:solidFill>
            <a:srgbClr val="EEEEEE"/>
          </a:solidFill>
          <a:ln/>
        </p:spPr>
      </p:sp>
      <p:sp>
        <p:nvSpPr>
          <p:cNvPr id="29" name="Text 27"/>
          <p:cNvSpPr/>
          <p:nvPr/>
        </p:nvSpPr>
        <p:spPr>
          <a:xfrm>
            <a:off x="9715500" y="6042343"/>
            <a:ext cx="419100"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A1A0A0"/>
                </a:solidFill>
                <a:latin typeface="Space Grotesk" pitchFamily="34" charset="0"/>
                <a:ea typeface="Space Grotesk" pitchFamily="34" charset="-122"/>
                <a:cs typeface="Space Grotesk" pitchFamily="34" charset="-120"/>
              </a:rPr>
              <a:t>05</a:t>
            </a:r>
            <a:endParaRPr lang="en-US" sz="1350" dirty="0"/>
          </a:p>
        </p:txBody>
      </p:sp>
      <p:sp>
        <p:nvSpPr>
          <p:cNvPr id="30" name="Text 28"/>
          <p:cNvSpPr/>
          <p:nvPr/>
        </p:nvSpPr>
        <p:spPr>
          <a:xfrm>
            <a:off x="10325100" y="5994718"/>
            <a:ext cx="3893723" cy="361950"/>
          </a:xfrm>
          <a:prstGeom prst="rect">
            <a:avLst/>
          </a:prstGeom>
          <a:noFill/>
          <a:ln/>
        </p:spPr>
        <p:txBody>
          <a:bodyPr wrap="square" lIns="25400" tIns="25400" rIns="25400" bIns="25400" rtlCol="0" anchor="t">
            <a:normAutofit/>
          </a:bodyPr>
          <a:lstStyle/>
          <a:p>
            <a:pPr algn="l" indent="0" marL="0">
              <a:buNone/>
            </a:pPr>
            <a:r>
              <a:rPr lang="en-US" sz="1950" dirty="0">
                <a:solidFill>
                  <a:srgbClr val="4D4B4C"/>
                </a:solidFill>
                <a:latin typeface="Space Grotesk" pitchFamily="34" charset="0"/>
                <a:ea typeface="Space Grotesk" pitchFamily="34" charset="-122"/>
                <a:cs typeface="Space Grotesk" pitchFamily="34" charset="-120"/>
              </a:rPr>
              <a:t>KPIs, ROI y valor para el negocio</a:t>
            </a:r>
            <a:endParaRPr lang="en-US" sz="1950" dirty="0"/>
          </a:p>
        </p:txBody>
      </p:sp>
      <p:sp>
        <p:nvSpPr>
          <p:cNvPr id="31" name="Text 29"/>
          <p:cNvSpPr/>
          <p:nvPr/>
        </p:nvSpPr>
        <p:spPr>
          <a:xfrm>
            <a:off x="9715500" y="6756718"/>
            <a:ext cx="419100"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A1A0A0"/>
                </a:solidFill>
                <a:latin typeface="Space Grotesk" pitchFamily="34" charset="0"/>
                <a:ea typeface="Space Grotesk" pitchFamily="34" charset="-122"/>
                <a:cs typeface="Space Grotesk" pitchFamily="34" charset="-120"/>
              </a:rPr>
              <a:t>06</a:t>
            </a:r>
            <a:endParaRPr lang="en-US" sz="1350" dirty="0"/>
          </a:p>
        </p:txBody>
      </p:sp>
      <p:sp>
        <p:nvSpPr>
          <p:cNvPr id="32" name="Text 30"/>
          <p:cNvSpPr/>
          <p:nvPr/>
        </p:nvSpPr>
        <p:spPr>
          <a:xfrm>
            <a:off x="10325100" y="6709093"/>
            <a:ext cx="4603694" cy="361950"/>
          </a:xfrm>
          <a:prstGeom prst="rect">
            <a:avLst/>
          </a:prstGeom>
          <a:noFill/>
          <a:ln/>
        </p:spPr>
        <p:txBody>
          <a:bodyPr wrap="square" lIns="25400" tIns="25400" rIns="25400" bIns="25400" rtlCol="0" anchor="t">
            <a:normAutofit/>
          </a:bodyPr>
          <a:lstStyle/>
          <a:p>
            <a:pPr algn="l" indent="0" marL="0">
              <a:buNone/>
            </a:pPr>
            <a:r>
              <a:rPr lang="en-US" sz="1950" dirty="0">
                <a:solidFill>
                  <a:srgbClr val="4D4B4C"/>
                </a:solidFill>
                <a:latin typeface="Space Grotesk" pitchFamily="34" charset="0"/>
                <a:ea typeface="Space Grotesk" pitchFamily="34" charset="-122"/>
                <a:cs typeface="Space Grotesk" pitchFamily="34" charset="-120"/>
              </a:rPr>
              <a:t>Desafíos, lecciones y roadmap futuro</a:t>
            </a:r>
            <a:endParaRPr lang="en-US" sz="1950" dirty="0"/>
          </a:p>
        </p:txBody>
      </p:sp>
      <p:pic>
        <p:nvPicPr>
          <p:cNvPr id="33"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34" name="Text 31"/>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229600" cy="10287000"/>
          </a:xfrm>
          <a:prstGeom prst="rect">
            <a:avLst/>
          </a:prstGeom>
          <a:solidFill>
            <a:srgbClr val="00E1FF"/>
          </a:solidFill>
          <a:ln/>
        </p:spPr>
      </p:sp>
      <p:sp>
        <p:nvSpPr>
          <p:cNvPr id="3" name="Text 1"/>
          <p:cNvSpPr/>
          <p:nvPr/>
        </p:nvSpPr>
        <p:spPr>
          <a:xfrm>
            <a:off x="685800" y="1047750"/>
            <a:ext cx="706374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CAPÍTULO I · PRESENTA BRAJAN</a:t>
            </a:r>
            <a:endParaRPr lang="en-US" sz="1500" dirty="0"/>
          </a:p>
        </p:txBody>
      </p:sp>
      <p:sp>
        <p:nvSpPr>
          <p:cNvPr id="4" name="Text 2"/>
          <p:cNvSpPr/>
          <p:nvPr/>
        </p:nvSpPr>
        <p:spPr>
          <a:xfrm>
            <a:off x="685800" y="1714500"/>
            <a:ext cx="7063740" cy="2136458"/>
          </a:xfrm>
          <a:prstGeom prst="rect">
            <a:avLst/>
          </a:prstGeom>
          <a:noFill/>
          <a:ln/>
        </p:spPr>
        <p:txBody>
          <a:bodyPr wrap="square" lIns="25400" tIns="25400" rIns="25400" bIns="25400" rtlCol="0" anchor="t">
            <a:normAutofit/>
          </a:bodyPr>
          <a:lstStyle/>
          <a:p>
            <a:pPr algn="l" indent="0" marL="0">
              <a:lnSpc>
                <a:spcPct val="101991"/>
              </a:lnSpc>
              <a:buNone/>
            </a:pPr>
            <a:r>
              <a:rPr lang="en-US" sz="5400" b="1" spc="-108" kern="0" dirty="0">
                <a:solidFill>
                  <a:srgbClr val="4D4B4C"/>
                </a:solidFill>
                <a:latin typeface="Space Grotesk" pitchFamily="34" charset="0"/>
                <a:ea typeface="Space Grotesk" pitchFamily="34" charset="-122"/>
                <a:cs typeface="Space Grotesk" pitchFamily="34" charset="-120"/>
              </a:rPr>
              <a:t>Contexto y </a:t>
            </a:r>
            <a:pPr algn="l" indent="0" marL="0">
              <a:lnSpc>
                <a:spcPct val="101991"/>
              </a:lnSpc>
              <a:buNone/>
            </a:pPr>
            <a:r>
              <a:rPr lang="en-US" sz="5400" spc="-108" kern="0" dirty="0">
                <a:solidFill>
                  <a:srgbClr val="4D4B4C"/>
                </a:solidFill>
                <a:latin typeface="Space Grotesk" pitchFamily="34" charset="0"/>
                <a:ea typeface="Space Grotesk" pitchFamily="34" charset="-122"/>
                <a:cs typeface="Space Grotesk" pitchFamily="34" charset="-120"/>
              </a:rPr>
              <a:t>problemática </a:t>
            </a:r>
            <a:pPr algn="l" indent="0" marL="0">
              <a:lnSpc>
                <a:spcPct val="101991"/>
              </a:lnSpc>
              <a:buNone/>
            </a:pPr>
            <a:r>
              <a:rPr lang="en-US" sz="5400" b="1" spc="-108" kern="0" dirty="0">
                <a:solidFill>
                  <a:srgbClr val="4D4B4C"/>
                </a:solidFill>
                <a:latin typeface="Space Grotesk" pitchFamily="34" charset="0"/>
                <a:ea typeface="Space Grotesk" pitchFamily="34" charset="-122"/>
                <a:cs typeface="Space Grotesk" pitchFamily="34" charset="-120"/>
              </a:rPr>
              <a:t>del negocio</a:t>
            </a:r>
            <a:endParaRPr lang="en-US" sz="5400" dirty="0"/>
          </a:p>
        </p:txBody>
      </p:sp>
      <p:sp>
        <p:nvSpPr>
          <p:cNvPr id="5" name="Text 3"/>
          <p:cNvSpPr/>
          <p:nvPr/>
        </p:nvSpPr>
        <p:spPr>
          <a:xfrm>
            <a:off x="589597" y="8468042"/>
            <a:ext cx="7261754" cy="809307"/>
          </a:xfrm>
          <a:prstGeom prst="rect">
            <a:avLst/>
          </a:prstGeom>
          <a:noFill/>
          <a:ln/>
        </p:spPr>
        <p:txBody>
          <a:bodyPr wrap="square" lIns="25400" tIns="25400" rIns="25400" bIns="25400" rtlCol="0" anchor="t">
            <a:normAutofit/>
          </a:bodyPr>
          <a:lstStyle/>
          <a:p>
            <a:pPr algn="l" indent="0" marL="0">
              <a:lnSpc>
                <a:spcPct val="92008"/>
              </a:lnSpc>
              <a:buNone/>
            </a:pPr>
            <a:r>
              <a:rPr lang="en-US" sz="3300" b="1" spc="66" kern="0" dirty="0">
                <a:solidFill>
                  <a:srgbClr val="4D4B4C"/>
                </a:solidFill>
                <a:latin typeface="Space Grotesk" pitchFamily="34" charset="0"/>
                <a:ea typeface="Space Grotesk" pitchFamily="34" charset="-122"/>
                <a:cs typeface="Space Grotesk" pitchFamily="34" charset="-120"/>
              </a:rPr>
              <a:t>HANDS ON.</a:t>
            </a:r>
            <a:endParaRPr lang="en-US" sz="3300" dirty="0"/>
          </a:p>
        </p:txBody>
      </p:sp>
      <p:sp>
        <p:nvSpPr>
          <p:cNvPr id="6" name="Text 4"/>
          <p:cNvSpPr/>
          <p:nvPr/>
        </p:nvSpPr>
        <p:spPr>
          <a:xfrm>
            <a:off x="10081260" y="6581775"/>
            <a:ext cx="7063740" cy="314325"/>
          </a:xfrm>
          <a:prstGeom prst="rect">
            <a:avLst/>
          </a:prstGeom>
          <a:noFill/>
          <a:ln/>
        </p:spPr>
        <p:txBody>
          <a:bodyPr wrap="square" lIns="25400" tIns="25400" rIns="25400" bIns="25400" rtlCol="0" anchor="t">
            <a:normAutofit/>
          </a:bodyPr>
          <a:lstStyle/>
          <a:p>
            <a:pPr algn="r" indent="0" marL="0">
              <a:buNone/>
            </a:pPr>
            <a:r>
              <a:rPr lang="en-US" sz="1650" spc="264" kern="0" dirty="0">
                <a:solidFill>
                  <a:srgbClr val="A1A0A0"/>
                </a:solidFill>
                <a:latin typeface="Space Grotesk" pitchFamily="34" charset="0"/>
                <a:ea typeface="Space Grotesk" pitchFamily="34" charset="-122"/>
                <a:cs typeface="Space Grotesk" pitchFamily="34" charset="-120"/>
              </a:rPr>
              <a:t>DATALANDIA · 2026</a:t>
            </a:r>
            <a:endParaRPr lang="en-US" sz="1650" dirty="0"/>
          </a:p>
        </p:txBody>
      </p:sp>
      <p:sp>
        <p:nvSpPr>
          <p:cNvPr id="7" name="Text 5"/>
          <p:cNvSpPr/>
          <p:nvPr/>
        </p:nvSpPr>
        <p:spPr>
          <a:xfrm>
            <a:off x="10081260" y="7048500"/>
            <a:ext cx="7063740" cy="1943100"/>
          </a:xfrm>
          <a:prstGeom prst="rect">
            <a:avLst/>
          </a:prstGeom>
          <a:noFill/>
          <a:ln/>
        </p:spPr>
        <p:txBody>
          <a:bodyPr wrap="square" lIns="25400" tIns="25400" rIns="25400" bIns="25400" rtlCol="0" anchor="t">
            <a:normAutofit/>
          </a:bodyPr>
          <a:lstStyle/>
          <a:p>
            <a:pPr algn="r" indent="0" marL="0">
              <a:lnSpc>
                <a:spcPct val="125000"/>
              </a:lnSpc>
              <a:buNone/>
            </a:pPr>
            <a:r>
              <a:rPr lang="en-US" sz="3000" dirty="0">
                <a:solidFill>
                  <a:srgbClr val="4D4B4C"/>
                </a:solidFill>
                <a:latin typeface="Space Grotesk" pitchFamily="34" charset="0"/>
                <a:ea typeface="Space Grotesk" pitchFamily="34" charset="-122"/>
                <a:cs typeface="Space Grotesk" pitchFamily="34" charset="-120"/>
              </a:rPr>
              <a:t>Doce instituciones bancarias independientes, más de nueve millones de clientes, una plataforma fragmentada.</a:t>
            </a:r>
            <a:endParaRPr lang="en-US" sz="3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1648206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CUATRO PUNTOS DE DOLOR</a:t>
            </a:r>
            <a:endParaRPr lang="en-US" sz="1500" dirty="0"/>
          </a:p>
        </p:txBody>
      </p:sp>
      <p:sp>
        <p:nvSpPr>
          <p:cNvPr id="3" name="Text 1"/>
          <p:cNvSpPr/>
          <p:nvPr/>
        </p:nvSpPr>
        <p:spPr>
          <a:xfrm>
            <a:off x="1143000" y="1562100"/>
            <a:ext cx="16482060" cy="698818"/>
          </a:xfrm>
          <a:prstGeom prst="rect">
            <a:avLst/>
          </a:prstGeom>
          <a:noFill/>
          <a:ln/>
        </p:spPr>
        <p:txBody>
          <a:bodyPr wrap="square" lIns="25400" tIns="25400" rIns="25400" bIns="25400" rtlCol="0" anchor="t">
            <a:normAutofit/>
          </a:bodyPr>
          <a:lstStyle/>
          <a:p>
            <a:pPr algn="l" indent="0" marL="0">
              <a:lnSpc>
                <a:spcPct val="102010"/>
              </a:lnSpc>
              <a:buNone/>
            </a:pPr>
            <a:r>
              <a:rPr lang="en-US" sz="5100" b="1" spc="-76" kern="0" dirty="0">
                <a:solidFill>
                  <a:srgbClr val="4D4B4C"/>
                </a:solidFill>
                <a:latin typeface="Space Grotesk" pitchFamily="34" charset="0"/>
                <a:ea typeface="Space Grotesk" pitchFamily="34" charset="-122"/>
                <a:cs typeface="Space Grotesk" pitchFamily="34" charset="-120"/>
              </a:rPr>
              <a:t>El modelo fragmentado ya no es viable</a:t>
            </a:r>
            <a:endParaRPr lang="en-US" sz="5100" dirty="0"/>
          </a:p>
        </p:txBody>
      </p:sp>
      <p:sp>
        <p:nvSpPr>
          <p:cNvPr id="4" name="Shape 2"/>
          <p:cNvSpPr/>
          <p:nvPr/>
        </p:nvSpPr>
        <p:spPr>
          <a:xfrm>
            <a:off x="1143000" y="2832418"/>
            <a:ext cx="7810500" cy="38100"/>
          </a:xfrm>
          <a:prstGeom prst="rect">
            <a:avLst/>
          </a:prstGeom>
          <a:solidFill>
            <a:srgbClr val="00E1FF"/>
          </a:solidFill>
          <a:ln/>
        </p:spPr>
      </p:sp>
      <p:sp>
        <p:nvSpPr>
          <p:cNvPr id="5" name="Text 3"/>
          <p:cNvSpPr/>
          <p:nvPr/>
        </p:nvSpPr>
        <p:spPr>
          <a:xfrm>
            <a:off x="1143000" y="3194368"/>
            <a:ext cx="422910" cy="390525"/>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00E1FF"/>
                </a:solidFill>
                <a:latin typeface="Space Grotesk" pitchFamily="34" charset="0"/>
                <a:ea typeface="Space Grotesk" pitchFamily="34" charset="-122"/>
                <a:cs typeface="Space Grotesk" pitchFamily="34" charset="-120"/>
              </a:rPr>
              <a:t>01</a:t>
            </a:r>
            <a:endParaRPr lang="en-US" sz="2100" dirty="0"/>
          </a:p>
        </p:txBody>
      </p:sp>
      <p:sp>
        <p:nvSpPr>
          <p:cNvPr id="6" name="Text 4"/>
          <p:cNvSpPr/>
          <p:nvPr/>
        </p:nvSpPr>
        <p:spPr>
          <a:xfrm>
            <a:off x="1699260" y="3137218"/>
            <a:ext cx="4752491" cy="457200"/>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4D4B4C"/>
                </a:solidFill>
                <a:latin typeface="Space Grotesk" pitchFamily="34" charset="0"/>
                <a:ea typeface="Space Grotesk" pitchFamily="34" charset="-122"/>
                <a:cs typeface="Space Grotesk" pitchFamily="34" charset="-120"/>
              </a:rPr>
              <a:t>Congestión de procesamiento</a:t>
            </a:r>
            <a:endParaRPr lang="en-US" sz="2550" dirty="0"/>
          </a:p>
        </p:txBody>
      </p:sp>
      <p:sp>
        <p:nvSpPr>
          <p:cNvPr id="7" name="Text 5"/>
          <p:cNvSpPr/>
          <p:nvPr/>
        </p:nvSpPr>
        <p:spPr>
          <a:xfrm>
            <a:off x="1143000" y="3708718"/>
            <a:ext cx="6671310" cy="103251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B6869"/>
                </a:solidFill>
                <a:latin typeface="Space Grotesk" pitchFamily="34" charset="0"/>
                <a:ea typeface="Space Grotesk" pitchFamily="34" charset="-122"/>
                <a:cs typeface="Space Grotesk" pitchFamily="34" charset="-120"/>
              </a:rPr>
              <a:t>Alta latencia en quincena y fin de mes. Los sistemas legacy no escalan horizontalmente y los picos generan ventanas de indisponibilidad.</a:t>
            </a:r>
            <a:endParaRPr lang="en-US" sz="1800" dirty="0"/>
          </a:p>
        </p:txBody>
      </p:sp>
      <p:sp>
        <p:nvSpPr>
          <p:cNvPr id="8" name="Shape 6"/>
          <p:cNvSpPr/>
          <p:nvPr/>
        </p:nvSpPr>
        <p:spPr>
          <a:xfrm>
            <a:off x="9334500" y="2832418"/>
            <a:ext cx="7810500" cy="38100"/>
          </a:xfrm>
          <a:prstGeom prst="rect">
            <a:avLst/>
          </a:prstGeom>
          <a:solidFill>
            <a:srgbClr val="00E1FF"/>
          </a:solidFill>
          <a:ln/>
        </p:spPr>
      </p:sp>
      <p:sp>
        <p:nvSpPr>
          <p:cNvPr id="9" name="Text 7"/>
          <p:cNvSpPr/>
          <p:nvPr/>
        </p:nvSpPr>
        <p:spPr>
          <a:xfrm>
            <a:off x="9334500" y="3194368"/>
            <a:ext cx="460851" cy="390525"/>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00E1FF"/>
                </a:solidFill>
                <a:latin typeface="Space Grotesk" pitchFamily="34" charset="0"/>
                <a:ea typeface="Space Grotesk" pitchFamily="34" charset="-122"/>
                <a:cs typeface="Space Grotesk" pitchFamily="34" charset="-120"/>
              </a:rPr>
              <a:t>02</a:t>
            </a:r>
            <a:endParaRPr lang="en-US" sz="2100" dirty="0"/>
          </a:p>
        </p:txBody>
      </p:sp>
      <p:sp>
        <p:nvSpPr>
          <p:cNvPr id="10" name="Text 8"/>
          <p:cNvSpPr/>
          <p:nvPr/>
        </p:nvSpPr>
        <p:spPr>
          <a:xfrm>
            <a:off x="9928701" y="3137218"/>
            <a:ext cx="4528315" cy="457200"/>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4D4B4C"/>
                </a:solidFill>
                <a:latin typeface="Space Grotesk" pitchFamily="34" charset="0"/>
                <a:ea typeface="Space Grotesk" pitchFamily="34" charset="-122"/>
                <a:cs typeface="Space Grotesk" pitchFamily="34" charset="-120"/>
              </a:rPr>
              <a:t>Fragmentación de entidades</a:t>
            </a:r>
            <a:endParaRPr lang="en-US" sz="2550" dirty="0"/>
          </a:p>
        </p:txBody>
      </p:sp>
      <p:sp>
        <p:nvSpPr>
          <p:cNvPr id="11" name="Text 9"/>
          <p:cNvSpPr/>
          <p:nvPr/>
        </p:nvSpPr>
        <p:spPr>
          <a:xfrm>
            <a:off x="9334500" y="3708718"/>
            <a:ext cx="6671310" cy="103251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B6869"/>
                </a:solidFill>
                <a:latin typeface="Space Grotesk" pitchFamily="34" charset="0"/>
                <a:ea typeface="Space Grotesk" pitchFamily="34" charset="-122"/>
                <a:cs typeface="Space Grotesk" pitchFamily="34" charset="-120"/>
              </a:rPr>
              <a:t>Las doce instituciones no comparten información. No es posible detectar fraudes cruzados ni coordinar liquidez entre bancos.</a:t>
            </a:r>
            <a:endParaRPr lang="en-US" sz="1800" dirty="0"/>
          </a:p>
        </p:txBody>
      </p:sp>
      <p:sp>
        <p:nvSpPr>
          <p:cNvPr id="12" name="Shape 10"/>
          <p:cNvSpPr/>
          <p:nvPr/>
        </p:nvSpPr>
        <p:spPr>
          <a:xfrm>
            <a:off x="1143000" y="5312727"/>
            <a:ext cx="7810500" cy="38100"/>
          </a:xfrm>
          <a:prstGeom prst="rect">
            <a:avLst/>
          </a:prstGeom>
          <a:solidFill>
            <a:srgbClr val="00E1FF"/>
          </a:solidFill>
          <a:ln/>
        </p:spPr>
      </p:sp>
      <p:sp>
        <p:nvSpPr>
          <p:cNvPr id="13" name="Text 11"/>
          <p:cNvSpPr/>
          <p:nvPr/>
        </p:nvSpPr>
        <p:spPr>
          <a:xfrm>
            <a:off x="1143000" y="5674677"/>
            <a:ext cx="464502" cy="390525"/>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00E1FF"/>
                </a:solidFill>
                <a:latin typeface="Space Grotesk" pitchFamily="34" charset="0"/>
                <a:ea typeface="Space Grotesk" pitchFamily="34" charset="-122"/>
                <a:cs typeface="Space Grotesk" pitchFamily="34" charset="-120"/>
              </a:rPr>
              <a:t>03</a:t>
            </a:r>
            <a:endParaRPr lang="en-US" sz="2100" dirty="0"/>
          </a:p>
        </p:txBody>
      </p:sp>
      <p:sp>
        <p:nvSpPr>
          <p:cNvPr id="14" name="Text 12"/>
          <p:cNvSpPr/>
          <p:nvPr/>
        </p:nvSpPr>
        <p:spPr>
          <a:xfrm>
            <a:off x="1740852" y="5617527"/>
            <a:ext cx="4544013" cy="457200"/>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4D4B4C"/>
                </a:solidFill>
                <a:latin typeface="Space Grotesk" pitchFamily="34" charset="0"/>
                <a:ea typeface="Space Grotesk" pitchFamily="34" charset="-122"/>
                <a:cs typeface="Space Grotesk" pitchFamily="34" charset="-120"/>
              </a:rPr>
              <a:t>Desajuste de infraestructura</a:t>
            </a:r>
            <a:endParaRPr lang="en-US" sz="2550" dirty="0"/>
          </a:p>
        </p:txBody>
      </p:sp>
      <p:sp>
        <p:nvSpPr>
          <p:cNvPr id="15" name="Text 13"/>
          <p:cNvSpPr/>
          <p:nvPr/>
        </p:nvSpPr>
        <p:spPr>
          <a:xfrm>
            <a:off x="1143000" y="6189027"/>
            <a:ext cx="6671310" cy="103251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B6869"/>
                </a:solidFill>
                <a:latin typeface="Space Grotesk" pitchFamily="34" charset="0"/>
                <a:ea typeface="Space Grotesk" pitchFamily="34" charset="-122"/>
                <a:cs typeface="Space Grotesk" pitchFamily="34" charset="-120"/>
              </a:rPr>
              <a:t>Cajeros y sucursales subutilizados en zonas digitales y sobrecargados donde prima la atención humana. Sin analítica que alinee capacidad con demanda.</a:t>
            </a:r>
            <a:endParaRPr lang="en-US" sz="1800" dirty="0"/>
          </a:p>
        </p:txBody>
      </p:sp>
      <p:sp>
        <p:nvSpPr>
          <p:cNvPr id="16" name="Shape 14"/>
          <p:cNvSpPr/>
          <p:nvPr/>
        </p:nvSpPr>
        <p:spPr>
          <a:xfrm>
            <a:off x="9334500" y="5312727"/>
            <a:ext cx="7810500" cy="38100"/>
          </a:xfrm>
          <a:prstGeom prst="rect">
            <a:avLst/>
          </a:prstGeom>
          <a:solidFill>
            <a:srgbClr val="00E1FF"/>
          </a:solidFill>
          <a:ln/>
        </p:spPr>
      </p:sp>
      <p:sp>
        <p:nvSpPr>
          <p:cNvPr id="17" name="Text 15"/>
          <p:cNvSpPr/>
          <p:nvPr/>
        </p:nvSpPr>
        <p:spPr>
          <a:xfrm>
            <a:off x="9334500" y="5674677"/>
            <a:ext cx="471964" cy="390525"/>
          </a:xfrm>
          <a:prstGeom prst="rect">
            <a:avLst/>
          </a:prstGeom>
          <a:noFill/>
          <a:ln/>
        </p:spPr>
        <p:txBody>
          <a:bodyPr wrap="square" lIns="25400" tIns="25400" rIns="25400" bIns="25400" rtlCol="0" anchor="t">
            <a:normAutofit/>
          </a:bodyPr>
          <a:lstStyle/>
          <a:p>
            <a:pPr algn="l" indent="0" marL="0">
              <a:buNone/>
            </a:pPr>
            <a:r>
              <a:rPr lang="en-US" sz="2100" b="1" spc="210" kern="0" dirty="0">
                <a:solidFill>
                  <a:srgbClr val="00E1FF"/>
                </a:solidFill>
                <a:latin typeface="Space Grotesk" pitchFamily="34" charset="0"/>
                <a:ea typeface="Space Grotesk" pitchFamily="34" charset="-122"/>
                <a:cs typeface="Space Grotesk" pitchFamily="34" charset="-120"/>
              </a:rPr>
              <a:t>04</a:t>
            </a:r>
            <a:endParaRPr lang="en-US" sz="2100" dirty="0"/>
          </a:p>
        </p:txBody>
      </p:sp>
      <p:sp>
        <p:nvSpPr>
          <p:cNvPr id="18" name="Text 16"/>
          <p:cNvSpPr/>
          <p:nvPr/>
        </p:nvSpPr>
        <p:spPr>
          <a:xfrm>
            <a:off x="9939814" y="5617527"/>
            <a:ext cx="3786132" cy="457200"/>
          </a:xfrm>
          <a:prstGeom prst="rect">
            <a:avLst/>
          </a:prstGeom>
          <a:noFill/>
          <a:ln/>
        </p:spPr>
        <p:txBody>
          <a:bodyPr wrap="square" lIns="25400" tIns="25400" rIns="25400" bIns="25400" rtlCol="0" anchor="t">
            <a:normAutofit/>
          </a:bodyPr>
          <a:lstStyle/>
          <a:p>
            <a:pPr algn="l" indent="0" marL="0">
              <a:buNone/>
            </a:pPr>
            <a:r>
              <a:rPr lang="en-US" sz="2550" b="1" spc="-25" kern="0" dirty="0">
                <a:solidFill>
                  <a:srgbClr val="4D4B4C"/>
                </a:solidFill>
                <a:latin typeface="Space Grotesk" pitchFamily="34" charset="0"/>
                <a:ea typeface="Space Grotesk" pitchFamily="34" charset="-122"/>
                <a:cs typeface="Space Grotesk" pitchFamily="34" charset="-120"/>
              </a:rPr>
              <a:t>Ausencia de tiempo real</a:t>
            </a:r>
            <a:endParaRPr lang="en-US" sz="2550" dirty="0"/>
          </a:p>
        </p:txBody>
      </p:sp>
      <p:sp>
        <p:nvSpPr>
          <p:cNvPr id="19" name="Text 17"/>
          <p:cNvSpPr/>
          <p:nvPr/>
        </p:nvSpPr>
        <p:spPr>
          <a:xfrm>
            <a:off x="9334500" y="6189027"/>
            <a:ext cx="6671310" cy="103251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B6869"/>
                </a:solidFill>
                <a:latin typeface="Space Grotesk" pitchFamily="34" charset="0"/>
                <a:ea typeface="Space Grotesk" pitchFamily="34" charset="-122"/>
                <a:cs typeface="Space Grotesk" pitchFamily="34" charset="-120"/>
              </a:rPr>
              <a:t>No hay procesamiento streaming. Se bloquea la oferta de micro-créditos bajo demanda y recomendaciones contextuales en el momento de la interacción.</a:t>
            </a:r>
            <a:endParaRPr lang="en-US" sz="1800" dirty="0"/>
          </a:p>
        </p:txBody>
      </p:sp>
      <p:pic>
        <p:nvPicPr>
          <p:cNvPr id="20"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21" name="Text 18"/>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7F7"/>
        </a:solidFill>
      </p:bgPr>
    </p:bg>
    <p:spTree>
      <p:nvGrpSpPr>
        <p:cNvPr id="1" name=""/>
        <p:cNvGrpSpPr/>
        <p:nvPr/>
      </p:nvGrpSpPr>
      <p:grpSpPr>
        <a:xfrm>
          <a:off x="0" y="0"/>
          <a:ext cx="0" cy="0"/>
          <a:chOff x="0" y="0"/>
          <a:chExt cx="0" cy="0"/>
        </a:xfrm>
      </p:grpSpPr>
      <p:sp>
        <p:nvSpPr>
          <p:cNvPr id="2" name="Text 0"/>
          <p:cNvSpPr/>
          <p:nvPr/>
        </p:nvSpPr>
        <p:spPr>
          <a:xfrm>
            <a:off x="1143000" y="1047750"/>
            <a:ext cx="1648206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LA ESCALA DEL DESAFÍO</a:t>
            </a:r>
            <a:endParaRPr lang="en-US" sz="1500" dirty="0"/>
          </a:p>
        </p:txBody>
      </p:sp>
      <p:sp>
        <p:nvSpPr>
          <p:cNvPr id="3" name="Text 1"/>
          <p:cNvSpPr/>
          <p:nvPr/>
        </p:nvSpPr>
        <p:spPr>
          <a:xfrm>
            <a:off x="1143000" y="1562100"/>
            <a:ext cx="14716125" cy="1359535"/>
          </a:xfrm>
          <a:prstGeom prst="rect">
            <a:avLst/>
          </a:prstGeom>
          <a:noFill/>
          <a:ln/>
        </p:spPr>
        <p:txBody>
          <a:bodyPr wrap="square" lIns="25400" tIns="25400" rIns="25400" bIns="25400" rtlCol="0" anchor="t">
            <a:normAutofit/>
          </a:bodyPr>
          <a:lstStyle/>
          <a:p>
            <a:pPr algn="l" indent="0" marL="0">
              <a:lnSpc>
                <a:spcPct val="102010"/>
              </a:lnSpc>
              <a:buNone/>
            </a:pPr>
            <a:r>
              <a:rPr lang="en-US" sz="5100" b="1" spc="-76" kern="0" dirty="0">
                <a:solidFill>
                  <a:srgbClr val="4D4B4C"/>
                </a:solidFill>
                <a:latin typeface="Space Grotesk" pitchFamily="34" charset="0"/>
                <a:ea typeface="Space Grotesk" pitchFamily="34" charset="-122"/>
                <a:cs typeface="Space Grotesk" pitchFamily="34" charset="-120"/>
              </a:rPr>
              <a:t>Doce bancos. Nueve millones de clientes. Cero visibilidad compartida.</a:t>
            </a:r>
            <a:endParaRPr lang="en-US" sz="5100" dirty="0"/>
          </a:p>
        </p:txBody>
      </p:sp>
      <p:sp>
        <p:nvSpPr>
          <p:cNvPr id="4" name="Text 2"/>
          <p:cNvSpPr/>
          <p:nvPr/>
        </p:nvSpPr>
        <p:spPr>
          <a:xfrm>
            <a:off x="1143000" y="4026535"/>
            <a:ext cx="5075428" cy="1752600"/>
          </a:xfrm>
          <a:prstGeom prst="rect">
            <a:avLst/>
          </a:prstGeom>
          <a:noFill/>
          <a:ln/>
        </p:spPr>
        <p:txBody>
          <a:bodyPr wrap="square" lIns="25400" tIns="25400" rIns="25400" bIns="25400" rtlCol="0" anchor="t">
            <a:normAutofit/>
          </a:bodyPr>
          <a:lstStyle/>
          <a:p>
            <a:pPr algn="l" indent="0" marL="0">
              <a:lnSpc>
                <a:spcPct val="90000"/>
              </a:lnSpc>
              <a:buNone/>
            </a:pPr>
            <a:r>
              <a:rPr lang="en-US" sz="15000" b="1" spc="-600" kern="0" dirty="0">
                <a:solidFill>
                  <a:srgbClr val="00E1FF"/>
                </a:solidFill>
                <a:latin typeface="Space Grotesk" pitchFamily="34" charset="0"/>
                <a:ea typeface="Space Grotesk" pitchFamily="34" charset="-122"/>
                <a:cs typeface="Space Grotesk" pitchFamily="34" charset="-120"/>
              </a:rPr>
              <a:t>12</a:t>
            </a:r>
            <a:endParaRPr lang="en-US" sz="15000" dirty="0"/>
          </a:p>
        </p:txBody>
      </p:sp>
      <p:sp>
        <p:nvSpPr>
          <p:cNvPr id="5" name="Text 3"/>
          <p:cNvSpPr/>
          <p:nvPr/>
        </p:nvSpPr>
        <p:spPr>
          <a:xfrm>
            <a:off x="1143000" y="6007735"/>
            <a:ext cx="5075428" cy="438150"/>
          </a:xfrm>
          <a:prstGeom prst="rect">
            <a:avLst/>
          </a:prstGeom>
          <a:noFill/>
          <a:ln/>
        </p:spPr>
        <p:txBody>
          <a:bodyPr wrap="square" lIns="25400" tIns="25400" rIns="25400" bIns="25400" rtlCol="0" anchor="t">
            <a:normAutofit/>
          </a:bodyPr>
          <a:lstStyle/>
          <a:p>
            <a:pPr algn="l" indent="0" marL="0">
              <a:buNone/>
            </a:pPr>
            <a:r>
              <a:rPr lang="en-US" sz="2400" b="1" spc="-24" kern="0" dirty="0">
                <a:solidFill>
                  <a:srgbClr val="4D4B4C"/>
                </a:solidFill>
                <a:latin typeface="Space Grotesk" pitchFamily="34" charset="0"/>
                <a:ea typeface="Space Grotesk" pitchFamily="34" charset="-122"/>
                <a:cs typeface="Space Grotesk" pitchFamily="34" charset="-120"/>
              </a:rPr>
              <a:t>Instituciones bancarias</a:t>
            </a:r>
            <a:endParaRPr lang="en-US" sz="2400" dirty="0"/>
          </a:p>
        </p:txBody>
      </p:sp>
      <p:sp>
        <p:nvSpPr>
          <p:cNvPr id="6" name="Text 4"/>
          <p:cNvSpPr/>
          <p:nvPr/>
        </p:nvSpPr>
        <p:spPr>
          <a:xfrm>
            <a:off x="1143000" y="6483985"/>
            <a:ext cx="5075428"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B6869"/>
                </a:solidFill>
                <a:latin typeface="Space Grotesk" pitchFamily="34" charset="0"/>
                <a:ea typeface="Space Grotesk" pitchFamily="34" charset="-122"/>
                <a:cs typeface="Space Grotesk" pitchFamily="34" charset="-120"/>
              </a:rPr>
              <a:t>operando independientes en DataLandia</a:t>
            </a:r>
            <a:endParaRPr lang="en-US" sz="1650" dirty="0"/>
          </a:p>
        </p:txBody>
      </p:sp>
      <p:sp>
        <p:nvSpPr>
          <p:cNvPr id="7" name="Text 5"/>
          <p:cNvSpPr/>
          <p:nvPr/>
        </p:nvSpPr>
        <p:spPr>
          <a:xfrm>
            <a:off x="6680200" y="4026535"/>
            <a:ext cx="5075428" cy="1752600"/>
          </a:xfrm>
          <a:prstGeom prst="rect">
            <a:avLst/>
          </a:prstGeom>
          <a:noFill/>
          <a:ln/>
        </p:spPr>
        <p:txBody>
          <a:bodyPr wrap="square" lIns="25400" tIns="25400" rIns="25400" bIns="25400" rtlCol="0" anchor="t">
            <a:normAutofit/>
          </a:bodyPr>
          <a:lstStyle/>
          <a:p>
            <a:pPr algn="l" indent="0" marL="0">
              <a:lnSpc>
                <a:spcPct val="90000"/>
              </a:lnSpc>
              <a:buNone/>
            </a:pPr>
            <a:r>
              <a:rPr lang="en-US" sz="15000" b="1" spc="-600" kern="0" dirty="0">
                <a:solidFill>
                  <a:srgbClr val="00E1FF"/>
                </a:solidFill>
                <a:latin typeface="Space Grotesk" pitchFamily="34" charset="0"/>
                <a:ea typeface="Space Grotesk" pitchFamily="34" charset="-122"/>
                <a:cs typeface="Space Grotesk" pitchFamily="34" charset="-120"/>
              </a:rPr>
              <a:t>9 M+</a:t>
            </a:r>
            <a:endParaRPr lang="en-US" sz="15000" dirty="0"/>
          </a:p>
        </p:txBody>
      </p:sp>
      <p:sp>
        <p:nvSpPr>
          <p:cNvPr id="8" name="Text 6"/>
          <p:cNvSpPr/>
          <p:nvPr/>
        </p:nvSpPr>
        <p:spPr>
          <a:xfrm>
            <a:off x="6680200" y="6007735"/>
            <a:ext cx="5075428" cy="438150"/>
          </a:xfrm>
          <a:prstGeom prst="rect">
            <a:avLst/>
          </a:prstGeom>
          <a:noFill/>
          <a:ln/>
        </p:spPr>
        <p:txBody>
          <a:bodyPr wrap="square" lIns="25400" tIns="25400" rIns="25400" bIns="25400" rtlCol="0" anchor="t">
            <a:normAutofit/>
          </a:bodyPr>
          <a:lstStyle/>
          <a:p>
            <a:pPr algn="l" indent="0" marL="0">
              <a:buNone/>
            </a:pPr>
            <a:r>
              <a:rPr lang="en-US" sz="2400" b="1" spc="-24" kern="0" dirty="0">
                <a:solidFill>
                  <a:srgbClr val="4D4B4C"/>
                </a:solidFill>
                <a:latin typeface="Space Grotesk" pitchFamily="34" charset="0"/>
                <a:ea typeface="Space Grotesk" pitchFamily="34" charset="-122"/>
                <a:cs typeface="Space Grotesk" pitchFamily="34" charset="-120"/>
              </a:rPr>
              <a:t>Clientes atendidos</a:t>
            </a:r>
            <a:endParaRPr lang="en-US" sz="2400" dirty="0"/>
          </a:p>
        </p:txBody>
      </p:sp>
      <p:sp>
        <p:nvSpPr>
          <p:cNvPr id="9" name="Text 7"/>
          <p:cNvSpPr/>
          <p:nvPr/>
        </p:nvSpPr>
        <p:spPr>
          <a:xfrm>
            <a:off x="6680200" y="6483985"/>
            <a:ext cx="5075428"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B6869"/>
                </a:solidFill>
                <a:latin typeface="Space Grotesk" pitchFamily="34" charset="0"/>
                <a:ea typeface="Space Grotesk" pitchFamily="34" charset="-122"/>
                <a:cs typeface="Space Grotesk" pitchFamily="34" charset="-120"/>
              </a:rPr>
              <a:t>apps, cajeros, corresponsales y oficinas</a:t>
            </a:r>
            <a:endParaRPr lang="en-US" sz="1650" dirty="0"/>
          </a:p>
        </p:txBody>
      </p:sp>
      <p:sp>
        <p:nvSpPr>
          <p:cNvPr id="10" name="Text 8"/>
          <p:cNvSpPr/>
          <p:nvPr/>
        </p:nvSpPr>
        <p:spPr>
          <a:xfrm>
            <a:off x="12217400" y="4026535"/>
            <a:ext cx="5075428" cy="1752600"/>
          </a:xfrm>
          <a:prstGeom prst="rect">
            <a:avLst/>
          </a:prstGeom>
          <a:noFill/>
          <a:ln/>
        </p:spPr>
        <p:txBody>
          <a:bodyPr wrap="square" lIns="25400" tIns="25400" rIns="25400" bIns="25400" rtlCol="0" anchor="t">
            <a:normAutofit/>
          </a:bodyPr>
          <a:lstStyle/>
          <a:p>
            <a:pPr algn="l" indent="0" marL="0">
              <a:lnSpc>
                <a:spcPct val="90000"/>
              </a:lnSpc>
              <a:buNone/>
            </a:pPr>
            <a:r>
              <a:rPr lang="en-US" sz="15000" b="1" spc="-600" kern="0" dirty="0">
                <a:solidFill>
                  <a:srgbClr val="00E1FF"/>
                </a:solidFill>
                <a:latin typeface="Space Grotesk" pitchFamily="34" charset="0"/>
                <a:ea typeface="Space Grotesk" pitchFamily="34" charset="-122"/>
                <a:cs typeface="Space Grotesk" pitchFamily="34" charset="-120"/>
              </a:rPr>
              <a:t>0</a:t>
            </a:r>
            <a:endParaRPr lang="en-US" sz="15000" dirty="0"/>
          </a:p>
        </p:txBody>
      </p:sp>
      <p:sp>
        <p:nvSpPr>
          <p:cNvPr id="11" name="Text 9"/>
          <p:cNvSpPr/>
          <p:nvPr/>
        </p:nvSpPr>
        <p:spPr>
          <a:xfrm>
            <a:off x="12217400" y="6007735"/>
            <a:ext cx="5075428" cy="438150"/>
          </a:xfrm>
          <a:prstGeom prst="rect">
            <a:avLst/>
          </a:prstGeom>
          <a:noFill/>
          <a:ln/>
        </p:spPr>
        <p:txBody>
          <a:bodyPr wrap="square" lIns="25400" tIns="25400" rIns="25400" bIns="25400" rtlCol="0" anchor="t">
            <a:normAutofit/>
          </a:bodyPr>
          <a:lstStyle/>
          <a:p>
            <a:pPr algn="l" indent="0" marL="0">
              <a:buNone/>
            </a:pPr>
            <a:r>
              <a:rPr lang="en-US" sz="2400" b="1" spc="-24" kern="0" dirty="0">
                <a:solidFill>
                  <a:srgbClr val="4D4B4C"/>
                </a:solidFill>
                <a:latin typeface="Space Grotesk" pitchFamily="34" charset="0"/>
                <a:ea typeface="Space Grotesk" pitchFamily="34" charset="-122"/>
                <a:cs typeface="Space Grotesk" pitchFamily="34" charset="-120"/>
              </a:rPr>
              <a:t>Analítica en tiempo real</a:t>
            </a:r>
            <a:endParaRPr lang="en-US" sz="2400" dirty="0"/>
          </a:p>
        </p:txBody>
      </p:sp>
      <p:sp>
        <p:nvSpPr>
          <p:cNvPr id="12" name="Text 10"/>
          <p:cNvSpPr/>
          <p:nvPr/>
        </p:nvSpPr>
        <p:spPr>
          <a:xfrm>
            <a:off x="12217400" y="6483985"/>
            <a:ext cx="5075428" cy="314325"/>
          </a:xfrm>
          <a:prstGeom prst="rect">
            <a:avLst/>
          </a:prstGeom>
          <a:noFill/>
          <a:ln/>
        </p:spPr>
        <p:txBody>
          <a:bodyPr wrap="square" lIns="25400" tIns="25400" rIns="25400" bIns="25400" rtlCol="0" anchor="t">
            <a:normAutofit/>
          </a:bodyPr>
          <a:lstStyle/>
          <a:p>
            <a:pPr algn="l" indent="0" marL="0">
              <a:buNone/>
            </a:pPr>
            <a:r>
              <a:rPr lang="en-US" sz="1650" dirty="0">
                <a:solidFill>
                  <a:srgbClr val="6B6869"/>
                </a:solidFill>
                <a:latin typeface="Space Grotesk" pitchFamily="34" charset="0"/>
                <a:ea typeface="Space Grotesk" pitchFamily="34" charset="-122"/>
                <a:cs typeface="Space Grotesk" pitchFamily="34" charset="-120"/>
              </a:rPr>
              <a:t>antes de Lumina Bank</a:t>
            </a:r>
            <a:endParaRPr lang="en-US" sz="1650" dirty="0"/>
          </a:p>
        </p:txBody>
      </p:sp>
      <p:pic>
        <p:nvPicPr>
          <p:cNvPr id="13"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14" name="Text 11"/>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0E1FF"/>
        </a:solidFill>
      </p:bgPr>
    </p:bg>
    <p:spTree>
      <p:nvGrpSpPr>
        <p:cNvPr id="1" name=""/>
        <p:cNvGrpSpPr/>
        <p:nvPr/>
      </p:nvGrpSpPr>
      <p:grpSpPr>
        <a:xfrm>
          <a:off x="0" y="0"/>
          <a:ext cx="0" cy="0"/>
          <a:chOff x="0" y="0"/>
          <a:chExt cx="0" cy="0"/>
        </a:xfrm>
      </p:grpSpPr>
      <p:sp>
        <p:nvSpPr>
          <p:cNvPr id="2" name="Text 0"/>
          <p:cNvSpPr/>
          <p:nvPr/>
        </p:nvSpPr>
        <p:spPr>
          <a:xfrm>
            <a:off x="1143000" y="3429000"/>
            <a:ext cx="706374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OBJETIVO DEL PROYECTO</a:t>
            </a:r>
            <a:endParaRPr lang="en-US" sz="1500" dirty="0"/>
          </a:p>
        </p:txBody>
      </p:sp>
      <p:sp>
        <p:nvSpPr>
          <p:cNvPr id="3" name="Text 1"/>
          <p:cNvSpPr/>
          <p:nvPr/>
        </p:nvSpPr>
        <p:spPr>
          <a:xfrm>
            <a:off x="1143000" y="4057650"/>
            <a:ext cx="7063740" cy="2838450"/>
          </a:xfrm>
          <a:prstGeom prst="rect">
            <a:avLst/>
          </a:prstGeom>
          <a:noFill/>
          <a:ln/>
        </p:spPr>
        <p:txBody>
          <a:bodyPr wrap="square" lIns="25400" tIns="25400" rIns="25400" bIns="25400" rtlCol="0" anchor="t">
            <a:normAutofit/>
          </a:bodyPr>
          <a:lstStyle/>
          <a:p>
            <a:pPr algn="l" indent="0" marL="0">
              <a:lnSpc>
                <a:spcPct val="105000"/>
              </a:lnSpc>
              <a:buNone/>
            </a:pPr>
            <a:r>
              <a:rPr lang="en-US" sz="4200" spc="-63" kern="0" dirty="0">
                <a:solidFill>
                  <a:srgbClr val="4D4B4C"/>
                </a:solidFill>
                <a:latin typeface="Space Grotesk" pitchFamily="34" charset="0"/>
                <a:ea typeface="Space Grotesk" pitchFamily="34" charset="-122"/>
                <a:cs typeface="Space Grotesk" pitchFamily="34" charset="-120"/>
              </a:rPr>
              <a:t>Una plataforma de datos </a:t>
            </a:r>
            <a:pPr algn="l" indent="0" marL="0">
              <a:lnSpc>
                <a:spcPct val="105000"/>
              </a:lnSpc>
              <a:buNone/>
            </a:pPr>
            <a:r>
              <a:rPr lang="en-US" sz="4200" b="1" spc="-63" kern="0" dirty="0">
                <a:solidFill>
                  <a:srgbClr val="4D4B4C"/>
                </a:solidFill>
                <a:latin typeface="Space Grotesk" pitchFamily="34" charset="0"/>
                <a:ea typeface="Space Grotesk" pitchFamily="34" charset="-122"/>
                <a:cs typeface="Space Grotesk" pitchFamily="34" charset="-120"/>
              </a:rPr>
              <a:t>unificada </a:t>
            </a:r>
            <a:pPr algn="l" indent="0" marL="0">
              <a:lnSpc>
                <a:spcPct val="105000"/>
              </a:lnSpc>
              <a:buNone/>
            </a:pPr>
            <a:r>
              <a:rPr lang="en-US" sz="4200" spc="-63" kern="0" dirty="0">
                <a:solidFill>
                  <a:srgbClr val="4D4B4C"/>
                </a:solidFill>
                <a:latin typeface="Space Grotesk" pitchFamily="34" charset="0"/>
                <a:ea typeface="Space Grotesk" pitchFamily="34" charset="-122"/>
                <a:cs typeface="Space Grotesk" pitchFamily="34" charset="-120"/>
              </a:rPr>
              <a:t>, que consolide las doce entidades en un sistema </a:t>
            </a:r>
            <a:pPr algn="l" indent="0" marL="0">
              <a:lnSpc>
                <a:spcPct val="105000"/>
              </a:lnSpc>
              <a:buNone/>
            </a:pPr>
            <a:r>
              <a:rPr lang="en-US" sz="4200" b="1" spc="-63" kern="0" dirty="0">
                <a:solidFill>
                  <a:srgbClr val="4D4B4C"/>
                </a:solidFill>
                <a:latin typeface="Space Grotesk" pitchFamily="34" charset="0"/>
                <a:ea typeface="Space Grotesk" pitchFamily="34" charset="-122"/>
                <a:cs typeface="Space Grotesk" pitchFamily="34" charset="-120"/>
              </a:rPr>
              <a:t>compartido, integrado y bajo demanda</a:t>
            </a:r>
            <a:pPr algn="l" indent="0" marL="0">
              <a:lnSpc>
                <a:spcPct val="105000"/>
              </a:lnSpc>
              <a:buNone/>
            </a:pPr>
            <a:r>
              <a:rPr lang="en-US" sz="4200" spc="-63" kern="0" dirty="0">
                <a:solidFill>
                  <a:srgbClr val="4D4B4C"/>
                </a:solidFill>
                <a:latin typeface="Space Grotesk" pitchFamily="34" charset="0"/>
                <a:ea typeface="Space Grotesk" pitchFamily="34" charset="-122"/>
                <a:cs typeface="Space Grotesk" pitchFamily="34" charset="-120"/>
              </a:rPr>
              <a:t>.</a:t>
            </a:r>
            <a:endParaRPr lang="en-US" sz="4200" dirty="0"/>
          </a:p>
        </p:txBody>
      </p:sp>
      <p:sp>
        <p:nvSpPr>
          <p:cNvPr id="4" name="Text 2"/>
          <p:cNvSpPr/>
          <p:nvPr/>
        </p:nvSpPr>
        <p:spPr>
          <a:xfrm>
            <a:off x="8915400" y="3355657"/>
            <a:ext cx="8476488" cy="1118235"/>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4D4B4C"/>
                </a:solidFill>
                <a:latin typeface="Space Grotesk" pitchFamily="34" charset="0"/>
                <a:ea typeface="Space Grotesk" pitchFamily="34" charset="-122"/>
                <a:cs typeface="Space Grotesk" pitchFamily="34" charset="-120"/>
              </a:rPr>
              <a:t>Habilitar decisiones en tiempo real sobre eventos transaccionales y una capa analítica consistente para los tres consumidores del sistema:</a:t>
            </a:r>
            <a:endParaRPr lang="en-US" sz="2100" dirty="0"/>
          </a:p>
        </p:txBody>
      </p:sp>
      <p:sp>
        <p:nvSpPr>
          <p:cNvPr id="5" name="Shape 3"/>
          <p:cNvSpPr/>
          <p:nvPr/>
        </p:nvSpPr>
        <p:spPr>
          <a:xfrm>
            <a:off x="8915400" y="4969193"/>
            <a:ext cx="514350" cy="514350"/>
          </a:xfrm>
          <a:prstGeom prst="rect">
            <a:avLst/>
          </a:prstGeom>
          <a:ln w="28575">
            <a:solidFill>
              <a:srgbClr val="4D4B4C"/>
            </a:solidFill>
            <a:prstDash val="solid"/>
          </a:ln>
        </p:spPr>
      </p:sp>
      <p:sp>
        <p:nvSpPr>
          <p:cNvPr id="6" name="Text 4"/>
          <p:cNvSpPr/>
          <p:nvPr/>
        </p:nvSpPr>
        <p:spPr>
          <a:xfrm>
            <a:off x="8905875" y="4997768"/>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4D4B4C"/>
                </a:solidFill>
                <a:latin typeface="Space Grotesk" pitchFamily="34" charset="0"/>
                <a:ea typeface="Space Grotesk" pitchFamily="34" charset="-122"/>
                <a:cs typeface="Space Grotesk" pitchFamily="34" charset="-120"/>
              </a:rPr>
              <a:t>0 1</a:t>
            </a:r>
            <a:endParaRPr lang="en-US" sz="1650" dirty="0"/>
          </a:p>
        </p:txBody>
      </p:sp>
      <p:sp>
        <p:nvSpPr>
          <p:cNvPr id="7" name="Text 5"/>
          <p:cNvSpPr/>
          <p:nvPr/>
        </p:nvSpPr>
        <p:spPr>
          <a:xfrm>
            <a:off x="9658350" y="5026343"/>
            <a:ext cx="3418392" cy="438150"/>
          </a:xfrm>
          <a:prstGeom prst="rect">
            <a:avLst/>
          </a:prstGeom>
          <a:noFill/>
          <a:ln/>
        </p:spPr>
        <p:txBody>
          <a:bodyPr wrap="square" lIns="25400" tIns="25400" rIns="25400" bIns="25400" rtlCol="0" anchor="t">
            <a:normAutofit/>
          </a:bodyPr>
          <a:lstStyle/>
          <a:p>
            <a:pPr algn="l" indent="0" marL="0">
              <a:buNone/>
            </a:pPr>
            <a:r>
              <a:rPr lang="en-US" sz="2400" dirty="0">
                <a:solidFill>
                  <a:srgbClr val="4D4B4C"/>
                </a:solidFill>
                <a:latin typeface="Space Grotesk" pitchFamily="34" charset="0"/>
                <a:ea typeface="Space Grotesk" pitchFamily="34" charset="-122"/>
                <a:cs typeface="Space Grotesk" pitchFamily="34" charset="-120"/>
              </a:rPr>
              <a:t>El regulador financiero</a:t>
            </a:r>
            <a:endParaRPr lang="en-US" sz="2400" dirty="0"/>
          </a:p>
        </p:txBody>
      </p:sp>
      <p:sp>
        <p:nvSpPr>
          <p:cNvPr id="8" name="Shape 6"/>
          <p:cNvSpPr/>
          <p:nvPr/>
        </p:nvSpPr>
        <p:spPr>
          <a:xfrm>
            <a:off x="8915400" y="5693093"/>
            <a:ext cx="514350" cy="514350"/>
          </a:xfrm>
          <a:prstGeom prst="rect">
            <a:avLst/>
          </a:prstGeom>
          <a:ln w="28575">
            <a:solidFill>
              <a:srgbClr val="4D4B4C"/>
            </a:solidFill>
            <a:prstDash val="solid"/>
          </a:ln>
        </p:spPr>
      </p:sp>
      <p:sp>
        <p:nvSpPr>
          <p:cNvPr id="9" name="Text 7"/>
          <p:cNvSpPr/>
          <p:nvPr/>
        </p:nvSpPr>
        <p:spPr>
          <a:xfrm>
            <a:off x="8905875" y="5721668"/>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4D4B4C"/>
                </a:solidFill>
                <a:latin typeface="Space Grotesk" pitchFamily="34" charset="0"/>
                <a:ea typeface="Space Grotesk" pitchFamily="34" charset="-122"/>
                <a:cs typeface="Space Grotesk" pitchFamily="34" charset="-120"/>
              </a:rPr>
              <a:t>0 2</a:t>
            </a:r>
            <a:endParaRPr lang="en-US" sz="1650" dirty="0"/>
          </a:p>
        </p:txBody>
      </p:sp>
      <p:sp>
        <p:nvSpPr>
          <p:cNvPr id="10" name="Text 8"/>
          <p:cNvSpPr/>
          <p:nvPr/>
        </p:nvSpPr>
        <p:spPr>
          <a:xfrm>
            <a:off x="9658350" y="5750243"/>
            <a:ext cx="5520509" cy="438150"/>
          </a:xfrm>
          <a:prstGeom prst="rect">
            <a:avLst/>
          </a:prstGeom>
          <a:noFill/>
          <a:ln/>
        </p:spPr>
        <p:txBody>
          <a:bodyPr wrap="square" lIns="25400" tIns="25400" rIns="25400" bIns="25400" rtlCol="0" anchor="t">
            <a:normAutofit/>
          </a:bodyPr>
          <a:lstStyle/>
          <a:p>
            <a:pPr algn="l" indent="0" marL="0">
              <a:buNone/>
            </a:pPr>
            <a:r>
              <a:rPr lang="en-US" sz="2400" dirty="0">
                <a:solidFill>
                  <a:srgbClr val="4D4B4C"/>
                </a:solidFill>
                <a:latin typeface="Space Grotesk" pitchFamily="34" charset="0"/>
                <a:ea typeface="Space Grotesk" pitchFamily="34" charset="-122"/>
                <a:cs typeface="Space Grotesk" pitchFamily="34" charset="-120"/>
              </a:rPr>
              <a:t>Las áreas de negocio de cada banco</a:t>
            </a:r>
            <a:endParaRPr lang="en-US" sz="2400" dirty="0"/>
          </a:p>
        </p:txBody>
      </p:sp>
      <p:sp>
        <p:nvSpPr>
          <p:cNvPr id="11" name="Shape 9"/>
          <p:cNvSpPr/>
          <p:nvPr/>
        </p:nvSpPr>
        <p:spPr>
          <a:xfrm>
            <a:off x="8915400" y="6416993"/>
            <a:ext cx="514350" cy="514350"/>
          </a:xfrm>
          <a:prstGeom prst="rect">
            <a:avLst/>
          </a:prstGeom>
          <a:ln w="28575">
            <a:solidFill>
              <a:srgbClr val="4D4B4C"/>
            </a:solidFill>
            <a:prstDash val="solid"/>
          </a:ln>
        </p:spPr>
      </p:sp>
      <p:sp>
        <p:nvSpPr>
          <p:cNvPr id="12" name="Text 10"/>
          <p:cNvSpPr/>
          <p:nvPr/>
        </p:nvSpPr>
        <p:spPr>
          <a:xfrm>
            <a:off x="8905875" y="6445568"/>
            <a:ext cx="533400" cy="495300"/>
          </a:xfrm>
          <a:prstGeom prst="rect">
            <a:avLst/>
          </a:prstGeom>
          <a:noFill/>
          <a:ln/>
        </p:spPr>
        <p:txBody>
          <a:bodyPr wrap="square" lIns="25400" tIns="25400" rIns="25400" bIns="25400" rtlCol="0" anchor="ctr">
            <a:normAutofit/>
          </a:bodyPr>
          <a:lstStyle/>
          <a:p>
            <a:pPr algn="ctr" indent="0" marL="0">
              <a:buNone/>
            </a:pPr>
            <a:r>
              <a:rPr lang="en-US" sz="1650" b="1" dirty="0">
                <a:solidFill>
                  <a:srgbClr val="4D4B4C"/>
                </a:solidFill>
                <a:latin typeface="Space Grotesk" pitchFamily="34" charset="0"/>
                <a:ea typeface="Space Grotesk" pitchFamily="34" charset="-122"/>
                <a:cs typeface="Space Grotesk" pitchFamily="34" charset="-120"/>
              </a:rPr>
              <a:t>0 3</a:t>
            </a:r>
            <a:endParaRPr lang="en-US" sz="1650" dirty="0"/>
          </a:p>
        </p:txBody>
      </p:sp>
      <p:sp>
        <p:nvSpPr>
          <p:cNvPr id="13" name="Text 11"/>
          <p:cNvSpPr/>
          <p:nvPr/>
        </p:nvSpPr>
        <p:spPr>
          <a:xfrm>
            <a:off x="9658350" y="6474143"/>
            <a:ext cx="2135346" cy="438150"/>
          </a:xfrm>
          <a:prstGeom prst="rect">
            <a:avLst/>
          </a:prstGeom>
          <a:noFill/>
          <a:ln/>
        </p:spPr>
        <p:txBody>
          <a:bodyPr wrap="square" lIns="25400" tIns="25400" rIns="25400" bIns="25400" rtlCol="0" anchor="t">
            <a:normAutofit/>
          </a:bodyPr>
          <a:lstStyle/>
          <a:p>
            <a:pPr algn="l" indent="0" marL="0">
              <a:buNone/>
            </a:pPr>
            <a:r>
              <a:rPr lang="en-US" sz="2400" dirty="0">
                <a:solidFill>
                  <a:srgbClr val="4D4B4C"/>
                </a:solidFill>
                <a:latin typeface="Space Grotesk" pitchFamily="34" charset="0"/>
                <a:ea typeface="Space Grotesk" pitchFamily="34" charset="-122"/>
                <a:cs typeface="Space Grotesk" pitchFamily="34" charset="-120"/>
              </a:rPr>
              <a:t>El cliente final</a:t>
            </a:r>
            <a:endParaRPr lang="en-US" sz="2400" dirty="0"/>
          </a:p>
        </p:txBody>
      </p:sp>
      <p:pic>
        <p:nvPicPr>
          <p:cNvPr id="14"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15" name="Text 12"/>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1648206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OBJETIVOS ESPECÍFICOS</a:t>
            </a:r>
            <a:endParaRPr lang="en-US" sz="1500" dirty="0"/>
          </a:p>
        </p:txBody>
      </p:sp>
      <p:sp>
        <p:nvSpPr>
          <p:cNvPr id="3" name="Text 1"/>
          <p:cNvSpPr/>
          <p:nvPr/>
        </p:nvSpPr>
        <p:spPr>
          <a:xfrm>
            <a:off x="1143000" y="1524000"/>
            <a:ext cx="16482060" cy="866775"/>
          </a:xfrm>
          <a:prstGeom prst="rect">
            <a:avLst/>
          </a:prstGeom>
          <a:noFill/>
          <a:ln/>
        </p:spPr>
        <p:txBody>
          <a:bodyPr wrap="square" lIns="25400" tIns="25400" rIns="25400" bIns="25400" rtlCol="0" anchor="t">
            <a:normAutofit/>
          </a:bodyPr>
          <a:lstStyle/>
          <a:p>
            <a:pPr algn="l" indent="0" marL="0">
              <a:buNone/>
            </a:pPr>
            <a:r>
              <a:rPr lang="en-US" sz="5100" b="1" spc="-76" kern="0" dirty="0">
                <a:solidFill>
                  <a:srgbClr val="4D4B4C"/>
                </a:solidFill>
                <a:latin typeface="Space Grotesk" pitchFamily="34" charset="0"/>
                <a:ea typeface="Space Grotesk" pitchFamily="34" charset="-122"/>
                <a:cs typeface="Space Grotesk" pitchFamily="34" charset="-120"/>
              </a:rPr>
              <a:t>Seis compromisos medibles</a:t>
            </a:r>
            <a:endParaRPr lang="en-US" sz="5100" dirty="0"/>
          </a:p>
        </p:txBody>
      </p:sp>
      <p:sp>
        <p:nvSpPr>
          <p:cNvPr id="4" name="Shape 2"/>
          <p:cNvSpPr/>
          <p:nvPr/>
        </p:nvSpPr>
        <p:spPr>
          <a:xfrm>
            <a:off x="1143000" y="2886075"/>
            <a:ext cx="5029200" cy="28575"/>
          </a:xfrm>
          <a:prstGeom prst="rect">
            <a:avLst/>
          </a:prstGeom>
          <a:solidFill>
            <a:srgbClr val="00E1FF"/>
          </a:solidFill>
          <a:ln/>
        </p:spPr>
      </p:sp>
      <p:sp>
        <p:nvSpPr>
          <p:cNvPr id="5" name="Text 3"/>
          <p:cNvSpPr/>
          <p:nvPr/>
        </p:nvSpPr>
        <p:spPr>
          <a:xfrm>
            <a:off x="1143000" y="3143250"/>
            <a:ext cx="5180076"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00E1FF"/>
                </a:solidFill>
                <a:latin typeface="Space Grotesk" pitchFamily="34" charset="0"/>
                <a:ea typeface="Space Grotesk" pitchFamily="34" charset="-122"/>
                <a:cs typeface="Space Grotesk" pitchFamily="34" charset="-120"/>
              </a:rPr>
              <a:t>01</a:t>
            </a:r>
            <a:endParaRPr lang="en-US" sz="1650" dirty="0"/>
          </a:p>
        </p:txBody>
      </p:sp>
      <p:sp>
        <p:nvSpPr>
          <p:cNvPr id="6" name="Text 4"/>
          <p:cNvSpPr/>
          <p:nvPr/>
        </p:nvSpPr>
        <p:spPr>
          <a:xfrm>
            <a:off x="1143000" y="3552825"/>
            <a:ext cx="5180076" cy="344805"/>
          </a:xfrm>
          <a:prstGeom prst="rect">
            <a:avLst/>
          </a:prstGeom>
          <a:noFill/>
          <a:ln/>
        </p:spPr>
        <p:txBody>
          <a:bodyPr wrap="square" lIns="25400" tIns="25400" rIns="25400" bIns="25400" rtlCol="0" anchor="t">
            <a:normAutofit/>
          </a:bodyPr>
          <a:lstStyle/>
          <a:p>
            <a:pPr algn="l" indent="0" marL="0">
              <a:lnSpc>
                <a:spcPct val="115000"/>
              </a:lnSpc>
              <a:buNone/>
            </a:pPr>
            <a:r>
              <a:rPr lang="en-US" sz="2100" b="1" spc="-21" kern="0" dirty="0">
                <a:solidFill>
                  <a:srgbClr val="4D4B4C"/>
                </a:solidFill>
                <a:latin typeface="Space Grotesk" pitchFamily="34" charset="0"/>
                <a:ea typeface="Space Grotesk" pitchFamily="34" charset="-122"/>
                <a:cs typeface="Space Grotesk" pitchFamily="34" charset="-120"/>
              </a:rPr>
              <a:t>Consolidar el flujo transaccional</a:t>
            </a:r>
            <a:endParaRPr lang="en-US" sz="2100" dirty="0"/>
          </a:p>
        </p:txBody>
      </p:sp>
      <p:sp>
        <p:nvSpPr>
          <p:cNvPr id="7" name="Text 5"/>
          <p:cNvSpPr/>
          <p:nvPr/>
        </p:nvSpPr>
        <p:spPr>
          <a:xfrm>
            <a:off x="1143000" y="3992880"/>
            <a:ext cx="5180076"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6B6869"/>
                </a:solidFill>
                <a:latin typeface="Space Grotesk" pitchFamily="34" charset="0"/>
                <a:ea typeface="Space Grotesk" pitchFamily="34" charset="-122"/>
                <a:cs typeface="Space Grotesk" pitchFamily="34" charset="-120"/>
              </a:rPr>
              <a:t>Pipeline único de ingesta con entrega at-least-once, retención de 31 días y captura automática de mensajes fallidos.</a:t>
            </a:r>
            <a:endParaRPr lang="en-US" sz="1500" dirty="0"/>
          </a:p>
        </p:txBody>
      </p:sp>
      <p:sp>
        <p:nvSpPr>
          <p:cNvPr id="8" name="Shape 6"/>
          <p:cNvSpPr/>
          <p:nvPr/>
        </p:nvSpPr>
        <p:spPr>
          <a:xfrm>
            <a:off x="6629400" y="2886075"/>
            <a:ext cx="5029200" cy="28575"/>
          </a:xfrm>
          <a:prstGeom prst="rect">
            <a:avLst/>
          </a:prstGeom>
          <a:solidFill>
            <a:srgbClr val="00E1FF"/>
          </a:solidFill>
          <a:ln/>
        </p:spPr>
      </p:sp>
      <p:sp>
        <p:nvSpPr>
          <p:cNvPr id="9" name="Text 7"/>
          <p:cNvSpPr/>
          <p:nvPr/>
        </p:nvSpPr>
        <p:spPr>
          <a:xfrm>
            <a:off x="6629400" y="3143250"/>
            <a:ext cx="5180076"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00E1FF"/>
                </a:solidFill>
                <a:latin typeface="Space Grotesk" pitchFamily="34" charset="0"/>
                <a:ea typeface="Space Grotesk" pitchFamily="34" charset="-122"/>
                <a:cs typeface="Space Grotesk" pitchFamily="34" charset="-120"/>
              </a:rPr>
              <a:t>02</a:t>
            </a:r>
            <a:endParaRPr lang="en-US" sz="1650" dirty="0"/>
          </a:p>
        </p:txBody>
      </p:sp>
      <p:sp>
        <p:nvSpPr>
          <p:cNvPr id="10" name="Text 8"/>
          <p:cNvSpPr/>
          <p:nvPr/>
        </p:nvSpPr>
        <p:spPr>
          <a:xfrm>
            <a:off x="6629400" y="3552825"/>
            <a:ext cx="5180076" cy="344805"/>
          </a:xfrm>
          <a:prstGeom prst="rect">
            <a:avLst/>
          </a:prstGeom>
          <a:noFill/>
          <a:ln/>
        </p:spPr>
        <p:txBody>
          <a:bodyPr wrap="square" lIns="25400" tIns="25400" rIns="25400" bIns="25400" rtlCol="0" anchor="t">
            <a:normAutofit/>
          </a:bodyPr>
          <a:lstStyle/>
          <a:p>
            <a:pPr algn="l" indent="0" marL="0">
              <a:lnSpc>
                <a:spcPct val="115000"/>
              </a:lnSpc>
              <a:buNone/>
            </a:pPr>
            <a:r>
              <a:rPr lang="en-US" sz="2100" b="1" spc="-21" kern="0" dirty="0">
                <a:solidFill>
                  <a:srgbClr val="4D4B4C"/>
                </a:solidFill>
                <a:latin typeface="Space Grotesk" pitchFamily="34" charset="0"/>
                <a:ea typeface="Space Grotesk" pitchFamily="34" charset="-122"/>
                <a:cs typeface="Space Grotesk" pitchFamily="34" charset="-120"/>
              </a:rPr>
              <a:t>Evaluar el riesgo de fraude</a:t>
            </a:r>
            <a:endParaRPr lang="en-US" sz="2100" dirty="0"/>
          </a:p>
        </p:txBody>
      </p:sp>
      <p:sp>
        <p:nvSpPr>
          <p:cNvPr id="11" name="Text 9"/>
          <p:cNvSpPr/>
          <p:nvPr/>
        </p:nvSpPr>
        <p:spPr>
          <a:xfrm>
            <a:off x="6629400" y="3992880"/>
            <a:ext cx="5180076" cy="89535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6B6869"/>
                </a:solidFill>
                <a:latin typeface="Space Grotesk" pitchFamily="34" charset="0"/>
                <a:ea typeface="Space Grotesk" pitchFamily="34" charset="-122"/>
                <a:cs typeface="Space Grotesk" pitchFamily="34" charset="-120"/>
              </a:rPr>
              <a:t>Score en línea por cada transacción y decisión de aprobación o bloqueo devuelta al core bancario de origen.</a:t>
            </a:r>
            <a:endParaRPr lang="en-US" sz="1500" dirty="0"/>
          </a:p>
        </p:txBody>
      </p:sp>
      <p:sp>
        <p:nvSpPr>
          <p:cNvPr id="12" name="Shape 10"/>
          <p:cNvSpPr/>
          <p:nvPr/>
        </p:nvSpPr>
        <p:spPr>
          <a:xfrm>
            <a:off x="12115800" y="2886075"/>
            <a:ext cx="5029200" cy="28575"/>
          </a:xfrm>
          <a:prstGeom prst="rect">
            <a:avLst/>
          </a:prstGeom>
          <a:solidFill>
            <a:srgbClr val="00E1FF"/>
          </a:solidFill>
          <a:ln/>
        </p:spPr>
      </p:sp>
      <p:sp>
        <p:nvSpPr>
          <p:cNvPr id="13" name="Text 11"/>
          <p:cNvSpPr/>
          <p:nvPr/>
        </p:nvSpPr>
        <p:spPr>
          <a:xfrm>
            <a:off x="12115800" y="3143250"/>
            <a:ext cx="5180076"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00E1FF"/>
                </a:solidFill>
                <a:latin typeface="Space Grotesk" pitchFamily="34" charset="0"/>
                <a:ea typeface="Space Grotesk" pitchFamily="34" charset="-122"/>
                <a:cs typeface="Space Grotesk" pitchFamily="34" charset="-120"/>
              </a:rPr>
              <a:t>03</a:t>
            </a:r>
            <a:endParaRPr lang="en-US" sz="1650" dirty="0"/>
          </a:p>
        </p:txBody>
      </p:sp>
      <p:sp>
        <p:nvSpPr>
          <p:cNvPr id="14" name="Text 12"/>
          <p:cNvSpPr/>
          <p:nvPr/>
        </p:nvSpPr>
        <p:spPr>
          <a:xfrm>
            <a:off x="12115800" y="3552825"/>
            <a:ext cx="5180076" cy="344805"/>
          </a:xfrm>
          <a:prstGeom prst="rect">
            <a:avLst/>
          </a:prstGeom>
          <a:noFill/>
          <a:ln/>
        </p:spPr>
        <p:txBody>
          <a:bodyPr wrap="square" lIns="25400" tIns="25400" rIns="25400" bIns="25400" rtlCol="0" anchor="t">
            <a:normAutofit/>
          </a:bodyPr>
          <a:lstStyle/>
          <a:p>
            <a:pPr algn="l" indent="0" marL="0">
              <a:lnSpc>
                <a:spcPct val="115000"/>
              </a:lnSpc>
              <a:buNone/>
            </a:pPr>
            <a:r>
              <a:rPr lang="en-US" sz="2100" b="1" spc="-21" kern="0" dirty="0">
                <a:solidFill>
                  <a:srgbClr val="4D4B4C"/>
                </a:solidFill>
                <a:latin typeface="Space Grotesk" pitchFamily="34" charset="0"/>
                <a:ea typeface="Space Grotesk" pitchFamily="34" charset="-122"/>
                <a:cs typeface="Space Grotesk" pitchFamily="34" charset="-120"/>
              </a:rPr>
              <a:t>Distribuir con patrón fan-out</a:t>
            </a:r>
            <a:endParaRPr lang="en-US" sz="2100" dirty="0"/>
          </a:p>
        </p:txBody>
      </p:sp>
      <p:sp>
        <p:nvSpPr>
          <p:cNvPr id="15" name="Text 13"/>
          <p:cNvSpPr/>
          <p:nvPr/>
        </p:nvSpPr>
        <p:spPr>
          <a:xfrm>
            <a:off x="12115800" y="3992880"/>
            <a:ext cx="518007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6B6869"/>
                </a:solidFill>
                <a:latin typeface="Space Grotesk" pitchFamily="34" charset="0"/>
                <a:ea typeface="Space Grotesk" pitchFamily="34" charset="-122"/>
                <a:cs typeface="Space Grotesk" pitchFamily="34" charset="-120"/>
              </a:rPr>
              <a:t>Transacciones aprobadas a cada banco respetando sus ritmos y sistemas internos.</a:t>
            </a:r>
            <a:endParaRPr lang="en-US" sz="1500" dirty="0"/>
          </a:p>
        </p:txBody>
      </p:sp>
      <p:sp>
        <p:nvSpPr>
          <p:cNvPr id="16" name="Shape 14"/>
          <p:cNvSpPr/>
          <p:nvPr/>
        </p:nvSpPr>
        <p:spPr>
          <a:xfrm>
            <a:off x="1143000" y="5307330"/>
            <a:ext cx="5029200" cy="28575"/>
          </a:xfrm>
          <a:prstGeom prst="rect">
            <a:avLst/>
          </a:prstGeom>
          <a:solidFill>
            <a:srgbClr val="00E1FF"/>
          </a:solidFill>
          <a:ln/>
        </p:spPr>
      </p:sp>
      <p:sp>
        <p:nvSpPr>
          <p:cNvPr id="17" name="Text 15"/>
          <p:cNvSpPr/>
          <p:nvPr/>
        </p:nvSpPr>
        <p:spPr>
          <a:xfrm>
            <a:off x="1143000" y="5564505"/>
            <a:ext cx="5180076"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00E1FF"/>
                </a:solidFill>
                <a:latin typeface="Space Grotesk" pitchFamily="34" charset="0"/>
                <a:ea typeface="Space Grotesk" pitchFamily="34" charset="-122"/>
                <a:cs typeface="Space Grotesk" pitchFamily="34" charset="-120"/>
              </a:rPr>
              <a:t>04</a:t>
            </a:r>
            <a:endParaRPr lang="en-US" sz="1650" dirty="0"/>
          </a:p>
        </p:txBody>
      </p:sp>
      <p:sp>
        <p:nvSpPr>
          <p:cNvPr id="18" name="Text 16"/>
          <p:cNvSpPr/>
          <p:nvPr/>
        </p:nvSpPr>
        <p:spPr>
          <a:xfrm>
            <a:off x="1143000" y="5974080"/>
            <a:ext cx="5180076" cy="344805"/>
          </a:xfrm>
          <a:prstGeom prst="rect">
            <a:avLst/>
          </a:prstGeom>
          <a:noFill/>
          <a:ln/>
        </p:spPr>
        <p:txBody>
          <a:bodyPr wrap="square" lIns="25400" tIns="25400" rIns="25400" bIns="25400" rtlCol="0" anchor="t">
            <a:normAutofit/>
          </a:bodyPr>
          <a:lstStyle/>
          <a:p>
            <a:pPr algn="l" indent="0" marL="0">
              <a:lnSpc>
                <a:spcPct val="115000"/>
              </a:lnSpc>
              <a:buNone/>
            </a:pPr>
            <a:r>
              <a:rPr lang="en-US" sz="2100" b="1" spc="-21" kern="0" dirty="0">
                <a:solidFill>
                  <a:srgbClr val="4D4B4C"/>
                </a:solidFill>
                <a:latin typeface="Space Grotesk" pitchFamily="34" charset="0"/>
                <a:ea typeface="Space Grotesk" pitchFamily="34" charset="-122"/>
                <a:cs typeface="Space Grotesk" pitchFamily="34" charset="-120"/>
              </a:rPr>
              <a:t>Pronósticos y métricas diarias</a:t>
            </a:r>
            <a:endParaRPr lang="en-US" sz="2100" dirty="0"/>
          </a:p>
        </p:txBody>
      </p:sp>
      <p:sp>
        <p:nvSpPr>
          <p:cNvPr id="19" name="Text 17"/>
          <p:cNvSpPr/>
          <p:nvPr/>
        </p:nvSpPr>
        <p:spPr>
          <a:xfrm>
            <a:off x="1143000" y="6414135"/>
            <a:ext cx="518007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6B6869"/>
                </a:solidFill>
                <a:latin typeface="Space Grotesk" pitchFamily="34" charset="0"/>
                <a:ea typeface="Space Grotesk" pitchFamily="34" charset="-122"/>
                <a:cs typeface="Space Grotesk" pitchFamily="34" charset="-120"/>
              </a:rPr>
              <a:t>Liquidez por banco, utilización de la red física y scoring con 90 días de historia.</a:t>
            </a:r>
            <a:endParaRPr lang="en-US" sz="1500" dirty="0"/>
          </a:p>
        </p:txBody>
      </p:sp>
      <p:sp>
        <p:nvSpPr>
          <p:cNvPr id="20" name="Shape 18"/>
          <p:cNvSpPr/>
          <p:nvPr/>
        </p:nvSpPr>
        <p:spPr>
          <a:xfrm>
            <a:off x="6629400" y="5307330"/>
            <a:ext cx="5029200" cy="28575"/>
          </a:xfrm>
          <a:prstGeom prst="rect">
            <a:avLst/>
          </a:prstGeom>
          <a:solidFill>
            <a:srgbClr val="00E1FF"/>
          </a:solidFill>
          <a:ln/>
        </p:spPr>
      </p:sp>
      <p:sp>
        <p:nvSpPr>
          <p:cNvPr id="21" name="Text 19"/>
          <p:cNvSpPr/>
          <p:nvPr/>
        </p:nvSpPr>
        <p:spPr>
          <a:xfrm>
            <a:off x="6629400" y="5564505"/>
            <a:ext cx="5180076"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00E1FF"/>
                </a:solidFill>
                <a:latin typeface="Space Grotesk" pitchFamily="34" charset="0"/>
                <a:ea typeface="Space Grotesk" pitchFamily="34" charset="-122"/>
                <a:cs typeface="Space Grotesk" pitchFamily="34" charset="-120"/>
              </a:rPr>
              <a:t>05</a:t>
            </a:r>
            <a:endParaRPr lang="en-US" sz="1650" dirty="0"/>
          </a:p>
        </p:txBody>
      </p:sp>
      <p:sp>
        <p:nvSpPr>
          <p:cNvPr id="22" name="Text 20"/>
          <p:cNvSpPr/>
          <p:nvPr/>
        </p:nvSpPr>
        <p:spPr>
          <a:xfrm>
            <a:off x="6629400" y="5974080"/>
            <a:ext cx="5180076" cy="344805"/>
          </a:xfrm>
          <a:prstGeom prst="rect">
            <a:avLst/>
          </a:prstGeom>
          <a:noFill/>
          <a:ln/>
        </p:spPr>
        <p:txBody>
          <a:bodyPr wrap="square" lIns="25400" tIns="25400" rIns="25400" bIns="25400" rtlCol="0" anchor="t">
            <a:normAutofit/>
          </a:bodyPr>
          <a:lstStyle/>
          <a:p>
            <a:pPr algn="l" indent="0" marL="0">
              <a:lnSpc>
                <a:spcPct val="115000"/>
              </a:lnSpc>
              <a:buNone/>
            </a:pPr>
            <a:r>
              <a:rPr lang="en-US" sz="2100" b="1" spc="-21" kern="0" dirty="0">
                <a:solidFill>
                  <a:srgbClr val="4D4B4C"/>
                </a:solidFill>
                <a:latin typeface="Space Grotesk" pitchFamily="34" charset="0"/>
                <a:ea typeface="Space Grotesk" pitchFamily="34" charset="-122"/>
                <a:cs typeface="Space Grotesk" pitchFamily="34" charset="-120"/>
              </a:rPr>
              <a:t>Data Warehouse analítico</a:t>
            </a:r>
            <a:endParaRPr lang="en-US" sz="2100" dirty="0"/>
          </a:p>
        </p:txBody>
      </p:sp>
      <p:sp>
        <p:nvSpPr>
          <p:cNvPr id="23" name="Text 21"/>
          <p:cNvSpPr/>
          <p:nvPr/>
        </p:nvSpPr>
        <p:spPr>
          <a:xfrm>
            <a:off x="6629400" y="6414135"/>
            <a:ext cx="518007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6B6869"/>
                </a:solidFill>
                <a:latin typeface="Space Grotesk" pitchFamily="34" charset="0"/>
                <a:ea typeface="Space Grotesk" pitchFamily="34" charset="-122"/>
                <a:cs typeface="Space Grotesk" pitchFamily="34" charset="-120"/>
              </a:rPr>
              <a:t>BigQuery particionado y clusterizado, conectado de forma nativa a Looker Studio y Power BI.</a:t>
            </a:r>
            <a:endParaRPr lang="en-US" sz="1500" dirty="0"/>
          </a:p>
        </p:txBody>
      </p:sp>
      <p:sp>
        <p:nvSpPr>
          <p:cNvPr id="24" name="Shape 22"/>
          <p:cNvSpPr/>
          <p:nvPr/>
        </p:nvSpPr>
        <p:spPr>
          <a:xfrm>
            <a:off x="12115800" y="5307330"/>
            <a:ext cx="5029200" cy="28575"/>
          </a:xfrm>
          <a:prstGeom prst="rect">
            <a:avLst/>
          </a:prstGeom>
          <a:solidFill>
            <a:srgbClr val="00E1FF"/>
          </a:solidFill>
          <a:ln/>
        </p:spPr>
      </p:sp>
      <p:sp>
        <p:nvSpPr>
          <p:cNvPr id="25" name="Text 23"/>
          <p:cNvSpPr/>
          <p:nvPr/>
        </p:nvSpPr>
        <p:spPr>
          <a:xfrm>
            <a:off x="12115800" y="5564505"/>
            <a:ext cx="5180076" cy="314325"/>
          </a:xfrm>
          <a:prstGeom prst="rect">
            <a:avLst/>
          </a:prstGeom>
          <a:noFill/>
          <a:ln/>
        </p:spPr>
        <p:txBody>
          <a:bodyPr wrap="square" lIns="25400" tIns="25400" rIns="25400" bIns="25400" rtlCol="0" anchor="t">
            <a:normAutofit/>
          </a:bodyPr>
          <a:lstStyle/>
          <a:p>
            <a:pPr algn="l" indent="0" marL="0">
              <a:buNone/>
            </a:pPr>
            <a:r>
              <a:rPr lang="en-US" sz="1650" b="1" spc="165" kern="0" dirty="0">
                <a:solidFill>
                  <a:srgbClr val="00E1FF"/>
                </a:solidFill>
                <a:latin typeface="Space Grotesk" pitchFamily="34" charset="0"/>
                <a:ea typeface="Space Grotesk" pitchFamily="34" charset="-122"/>
                <a:cs typeface="Space Grotesk" pitchFamily="34" charset="-120"/>
              </a:rPr>
              <a:t>06</a:t>
            </a:r>
            <a:endParaRPr lang="en-US" sz="1650" dirty="0"/>
          </a:p>
        </p:txBody>
      </p:sp>
      <p:sp>
        <p:nvSpPr>
          <p:cNvPr id="26" name="Text 24"/>
          <p:cNvSpPr/>
          <p:nvPr/>
        </p:nvSpPr>
        <p:spPr>
          <a:xfrm>
            <a:off x="12115800" y="5974080"/>
            <a:ext cx="5180076" cy="344805"/>
          </a:xfrm>
          <a:prstGeom prst="rect">
            <a:avLst/>
          </a:prstGeom>
          <a:noFill/>
          <a:ln/>
        </p:spPr>
        <p:txBody>
          <a:bodyPr wrap="square" lIns="25400" tIns="25400" rIns="25400" bIns="25400" rtlCol="0" anchor="t">
            <a:normAutofit/>
          </a:bodyPr>
          <a:lstStyle/>
          <a:p>
            <a:pPr algn="l" indent="0" marL="0">
              <a:lnSpc>
                <a:spcPct val="115000"/>
              </a:lnSpc>
              <a:buNone/>
            </a:pPr>
            <a:r>
              <a:rPr lang="en-US" sz="2100" b="1" spc="-21" kern="0" dirty="0">
                <a:solidFill>
                  <a:srgbClr val="4D4B4C"/>
                </a:solidFill>
                <a:latin typeface="Space Grotesk" pitchFamily="34" charset="0"/>
                <a:ea typeface="Space Grotesk" pitchFamily="34" charset="-122"/>
                <a:cs typeface="Space Grotesk" pitchFamily="34" charset="-120"/>
              </a:rPr>
              <a:t>Todo en Infraestructura como Código</a:t>
            </a:r>
            <a:endParaRPr lang="en-US" sz="2100" dirty="0"/>
          </a:p>
        </p:txBody>
      </p:sp>
      <p:sp>
        <p:nvSpPr>
          <p:cNvPr id="27" name="Text 25"/>
          <p:cNvSpPr/>
          <p:nvPr/>
        </p:nvSpPr>
        <p:spPr>
          <a:xfrm>
            <a:off x="12115800" y="6414135"/>
            <a:ext cx="5180076" cy="609600"/>
          </a:xfrm>
          <a:prstGeom prst="rect">
            <a:avLst/>
          </a:prstGeom>
          <a:noFill/>
          <a:ln/>
        </p:spPr>
        <p:txBody>
          <a:bodyPr wrap="square" lIns="25400" tIns="25400" rIns="25400" bIns="25400" rtlCol="0" anchor="t">
            <a:normAutofit/>
          </a:bodyPr>
          <a:lstStyle/>
          <a:p>
            <a:pPr algn="l" indent="0" marL="0">
              <a:lnSpc>
                <a:spcPct val="150000"/>
              </a:lnSpc>
              <a:buNone/>
            </a:pPr>
            <a:r>
              <a:rPr lang="en-US" sz="1500" dirty="0">
                <a:solidFill>
                  <a:srgbClr val="6B6869"/>
                </a:solidFill>
                <a:latin typeface="Space Grotesk" pitchFamily="34" charset="0"/>
                <a:ea typeface="Space Grotesk" pitchFamily="34" charset="-122"/>
                <a:cs typeface="Space Grotesk" pitchFamily="34" charset="-120"/>
              </a:rPr>
              <a:t>Terraform para reproducibilidad, trazabilidad y facilidad de auditoría.</a:t>
            </a:r>
            <a:endParaRPr lang="en-US" sz="1500" dirty="0"/>
          </a:p>
        </p:txBody>
      </p:sp>
      <p:pic>
        <p:nvPicPr>
          <p:cNvPr id="28"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29" name="Text 26"/>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9910983"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ARQUITECTURA END-TO-END</a:t>
            </a:r>
            <a:endParaRPr lang="en-US" sz="1500" dirty="0"/>
          </a:p>
        </p:txBody>
      </p:sp>
      <p:sp>
        <p:nvSpPr>
          <p:cNvPr id="3" name="Text 1"/>
          <p:cNvSpPr/>
          <p:nvPr/>
        </p:nvSpPr>
        <p:spPr>
          <a:xfrm>
            <a:off x="1143000" y="1485900"/>
            <a:ext cx="9910983" cy="1695450"/>
          </a:xfrm>
          <a:prstGeom prst="rect">
            <a:avLst/>
          </a:prstGeom>
          <a:noFill/>
          <a:ln/>
        </p:spPr>
        <p:txBody>
          <a:bodyPr wrap="square" lIns="25400" tIns="25400" rIns="25400" bIns="25400" rtlCol="0" anchor="t">
            <a:normAutofit/>
          </a:bodyPr>
          <a:lstStyle/>
          <a:p>
            <a:pPr algn="l" indent="0" marL="0">
              <a:buNone/>
            </a:pPr>
            <a:r>
              <a:rPr lang="en-US" sz="5100" b="1" spc="-76" kern="0" dirty="0">
                <a:solidFill>
                  <a:srgbClr val="4D4B4C"/>
                </a:solidFill>
                <a:latin typeface="Space Grotesk" pitchFamily="34" charset="0"/>
                <a:ea typeface="Space Grotesk" pitchFamily="34" charset="-122"/>
                <a:cs typeface="Space Grotesk" pitchFamily="34" charset="-120"/>
              </a:rPr>
              <a:t>Cuatro fases sobre Google Cloud Platform</a:t>
            </a:r>
            <a:endParaRPr lang="en-US" sz="5100" dirty="0"/>
          </a:p>
        </p:txBody>
      </p:sp>
      <p:sp>
        <p:nvSpPr>
          <p:cNvPr id="4" name="Text 2"/>
          <p:cNvSpPr/>
          <p:nvPr/>
        </p:nvSpPr>
        <p:spPr>
          <a:xfrm>
            <a:off x="10765314" y="2590800"/>
            <a:ext cx="6571077" cy="590550"/>
          </a:xfrm>
          <a:prstGeom prst="rect">
            <a:avLst/>
          </a:prstGeom>
          <a:noFill/>
          <a:ln/>
        </p:spPr>
        <p:txBody>
          <a:bodyPr wrap="square" lIns="25400" tIns="25400" rIns="25400" bIns="25400" rtlCol="0" anchor="t">
            <a:normAutofit/>
          </a:bodyPr>
          <a:lstStyle/>
          <a:p>
            <a:pPr algn="l" indent="0" marL="0">
              <a:buNone/>
            </a:pPr>
            <a:r>
              <a:rPr lang="en-US" sz="1650" spc="231" kern="0" dirty="0">
                <a:solidFill>
                  <a:srgbClr val="A1A0A0"/>
                </a:solidFill>
                <a:latin typeface="Space Grotesk" pitchFamily="34" charset="0"/>
                <a:ea typeface="Space Grotesk" pitchFamily="34" charset="-122"/>
                <a:cs typeface="Space Grotesk" pitchFamily="34" charset="-120"/>
              </a:rPr>
              <a:t>FASE · INGESTA → PROCESAMIENTO → ALMACENAMIENTO → SERVICIO</a:t>
            </a:r>
            <a:endParaRPr lang="en-US" sz="1650" dirty="0"/>
          </a:p>
        </p:txBody>
      </p:sp>
      <p:sp>
        <p:nvSpPr>
          <p:cNvPr id="5" name="Shape 3"/>
          <p:cNvSpPr/>
          <p:nvPr/>
        </p:nvSpPr>
        <p:spPr>
          <a:xfrm>
            <a:off x="1143000" y="3600450"/>
            <a:ext cx="3871913" cy="504825"/>
          </a:xfrm>
          <a:prstGeom prst="rect">
            <a:avLst/>
          </a:prstGeom>
          <a:solidFill>
            <a:srgbClr val="00E1FF"/>
          </a:solidFill>
          <a:ln/>
        </p:spPr>
      </p:sp>
      <p:sp>
        <p:nvSpPr>
          <p:cNvPr id="6" name="Text 4"/>
          <p:cNvSpPr/>
          <p:nvPr/>
        </p:nvSpPr>
        <p:spPr>
          <a:xfrm>
            <a:off x="1314450" y="3714750"/>
            <a:ext cx="3645170"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01 · Ingesta</a:t>
            </a:r>
            <a:endParaRPr lang="en-US" sz="1650" dirty="0"/>
          </a:p>
        </p:txBody>
      </p:sp>
      <p:sp>
        <p:nvSpPr>
          <p:cNvPr id="7" name="Shape 5"/>
          <p:cNvSpPr/>
          <p:nvPr/>
        </p:nvSpPr>
        <p:spPr>
          <a:xfrm>
            <a:off x="1143000" y="4238625"/>
            <a:ext cx="3871913" cy="1359694"/>
          </a:xfrm>
          <a:prstGeom prst="rect">
            <a:avLst/>
          </a:prstGeom>
          <a:ln w="9525">
            <a:solidFill>
              <a:srgbClr val="4D4B4C"/>
            </a:solidFill>
            <a:prstDash val="solid"/>
          </a:ln>
        </p:spPr>
      </p:sp>
      <p:sp>
        <p:nvSpPr>
          <p:cNvPr id="8" name="Text 6"/>
          <p:cNvSpPr/>
          <p:nvPr/>
        </p:nvSpPr>
        <p:spPr>
          <a:xfrm>
            <a:off x="1323975" y="4665980"/>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12 bancos</a:t>
            </a:r>
            <a:endParaRPr lang="en-US" sz="1575" dirty="0"/>
          </a:p>
        </p:txBody>
      </p:sp>
      <p:sp>
        <p:nvSpPr>
          <p:cNvPr id="9" name="Text 7"/>
          <p:cNvSpPr/>
          <p:nvPr/>
        </p:nvSpPr>
        <p:spPr>
          <a:xfrm>
            <a:off x="1323975" y="4970780"/>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core bancario</a:t>
            </a:r>
            <a:endParaRPr lang="en-US" sz="1200" dirty="0"/>
          </a:p>
        </p:txBody>
      </p:sp>
      <p:sp>
        <p:nvSpPr>
          <p:cNvPr id="10" name="Shape 8"/>
          <p:cNvSpPr/>
          <p:nvPr/>
        </p:nvSpPr>
        <p:spPr>
          <a:xfrm>
            <a:off x="1143000" y="5731669"/>
            <a:ext cx="3871913" cy="1359694"/>
          </a:xfrm>
          <a:prstGeom prst="rect">
            <a:avLst/>
          </a:prstGeom>
          <a:ln w="9525">
            <a:solidFill>
              <a:srgbClr val="4D4B4C"/>
            </a:solidFill>
            <a:prstDash val="solid"/>
          </a:ln>
        </p:spPr>
      </p:sp>
      <p:sp>
        <p:nvSpPr>
          <p:cNvPr id="11" name="Text 9"/>
          <p:cNvSpPr/>
          <p:nvPr/>
        </p:nvSpPr>
        <p:spPr>
          <a:xfrm>
            <a:off x="1323975" y="6159024"/>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Cloud Run</a:t>
            </a:r>
            <a:endParaRPr lang="en-US" sz="1575" dirty="0"/>
          </a:p>
        </p:txBody>
      </p:sp>
      <p:sp>
        <p:nvSpPr>
          <p:cNvPr id="12" name="Text 10"/>
          <p:cNvSpPr/>
          <p:nvPr/>
        </p:nvSpPr>
        <p:spPr>
          <a:xfrm>
            <a:off x="1323975" y="6463824"/>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API ingesta (escala 0→10)</a:t>
            </a:r>
            <a:endParaRPr lang="en-US" sz="1200" dirty="0"/>
          </a:p>
        </p:txBody>
      </p:sp>
      <p:sp>
        <p:nvSpPr>
          <p:cNvPr id="13" name="Shape 11"/>
          <p:cNvSpPr/>
          <p:nvPr/>
        </p:nvSpPr>
        <p:spPr>
          <a:xfrm>
            <a:off x="1143000" y="7224713"/>
            <a:ext cx="3871913" cy="1359694"/>
          </a:xfrm>
          <a:prstGeom prst="rect">
            <a:avLst/>
          </a:prstGeom>
          <a:ln w="9525">
            <a:solidFill>
              <a:srgbClr val="4D4B4C"/>
            </a:solidFill>
            <a:prstDash val="solid"/>
          </a:ln>
        </p:spPr>
      </p:sp>
      <p:sp>
        <p:nvSpPr>
          <p:cNvPr id="14" name="Text 12"/>
          <p:cNvSpPr/>
          <p:nvPr/>
        </p:nvSpPr>
        <p:spPr>
          <a:xfrm>
            <a:off x="1323975" y="7652068"/>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Pub/Sub raw-ingest</a:t>
            </a:r>
            <a:endParaRPr lang="en-US" sz="1575" dirty="0"/>
          </a:p>
        </p:txBody>
      </p:sp>
      <p:sp>
        <p:nvSpPr>
          <p:cNvPr id="15" name="Text 13"/>
          <p:cNvSpPr/>
          <p:nvPr/>
        </p:nvSpPr>
        <p:spPr>
          <a:xfrm>
            <a:off x="1323975" y="7956868"/>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retención 31 días</a:t>
            </a:r>
            <a:endParaRPr lang="en-US" sz="1200" dirty="0"/>
          </a:p>
        </p:txBody>
      </p:sp>
      <p:sp>
        <p:nvSpPr>
          <p:cNvPr id="16" name="Shape 14"/>
          <p:cNvSpPr/>
          <p:nvPr/>
        </p:nvSpPr>
        <p:spPr>
          <a:xfrm>
            <a:off x="1143000" y="8717756"/>
            <a:ext cx="3871913" cy="1359694"/>
          </a:xfrm>
          <a:prstGeom prst="rect">
            <a:avLst/>
          </a:prstGeom>
          <a:ln w="9525">
            <a:solidFill>
              <a:srgbClr val="4D4B4C"/>
            </a:solidFill>
            <a:prstDash val="solid"/>
          </a:ln>
        </p:spPr>
      </p:sp>
      <p:sp>
        <p:nvSpPr>
          <p:cNvPr id="17" name="Text 15"/>
          <p:cNvSpPr/>
          <p:nvPr/>
        </p:nvSpPr>
        <p:spPr>
          <a:xfrm>
            <a:off x="1323975" y="9145112"/>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DLT</a:t>
            </a:r>
            <a:endParaRPr lang="en-US" sz="1575" dirty="0"/>
          </a:p>
        </p:txBody>
      </p:sp>
      <p:sp>
        <p:nvSpPr>
          <p:cNvPr id="18" name="Text 16"/>
          <p:cNvSpPr/>
          <p:nvPr/>
        </p:nvSpPr>
        <p:spPr>
          <a:xfrm>
            <a:off x="1323975" y="9449912"/>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mensajes fallidos</a:t>
            </a:r>
            <a:endParaRPr lang="en-US" sz="1200" dirty="0"/>
          </a:p>
        </p:txBody>
      </p:sp>
      <p:sp>
        <p:nvSpPr>
          <p:cNvPr id="19" name="Shape 17"/>
          <p:cNvSpPr/>
          <p:nvPr/>
        </p:nvSpPr>
        <p:spPr>
          <a:xfrm>
            <a:off x="5186363" y="3600450"/>
            <a:ext cx="3871913" cy="504825"/>
          </a:xfrm>
          <a:prstGeom prst="rect">
            <a:avLst/>
          </a:prstGeom>
          <a:solidFill>
            <a:srgbClr val="00E1FF"/>
          </a:solidFill>
          <a:ln/>
        </p:spPr>
      </p:sp>
      <p:sp>
        <p:nvSpPr>
          <p:cNvPr id="20" name="Text 18"/>
          <p:cNvSpPr/>
          <p:nvPr/>
        </p:nvSpPr>
        <p:spPr>
          <a:xfrm>
            <a:off x="5357813" y="3714750"/>
            <a:ext cx="3645170"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02 · Procesamiento</a:t>
            </a:r>
            <a:endParaRPr lang="en-US" sz="1650" dirty="0"/>
          </a:p>
        </p:txBody>
      </p:sp>
      <p:sp>
        <p:nvSpPr>
          <p:cNvPr id="21" name="Shape 19"/>
          <p:cNvSpPr/>
          <p:nvPr/>
        </p:nvSpPr>
        <p:spPr>
          <a:xfrm>
            <a:off x="5186363" y="4238625"/>
            <a:ext cx="3871913" cy="1359694"/>
          </a:xfrm>
          <a:prstGeom prst="rect">
            <a:avLst/>
          </a:prstGeom>
          <a:ln w="9525">
            <a:solidFill>
              <a:srgbClr val="4D4B4C"/>
            </a:solidFill>
            <a:prstDash val="solid"/>
          </a:ln>
        </p:spPr>
      </p:sp>
      <p:sp>
        <p:nvSpPr>
          <p:cNvPr id="22" name="Text 20"/>
          <p:cNvSpPr/>
          <p:nvPr/>
        </p:nvSpPr>
        <p:spPr>
          <a:xfrm>
            <a:off x="5367338" y="4665980"/>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Dataflow Streaming</a:t>
            </a:r>
            <a:endParaRPr lang="en-US" sz="1575" dirty="0"/>
          </a:p>
        </p:txBody>
      </p:sp>
      <p:sp>
        <p:nvSpPr>
          <p:cNvPr id="23" name="Text 21"/>
          <p:cNvSpPr/>
          <p:nvPr/>
        </p:nvSpPr>
        <p:spPr>
          <a:xfrm>
            <a:off x="5367338" y="4970780"/>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Apache Beam 2.56</a:t>
            </a:r>
            <a:endParaRPr lang="en-US" sz="1200" dirty="0"/>
          </a:p>
        </p:txBody>
      </p:sp>
      <p:sp>
        <p:nvSpPr>
          <p:cNvPr id="24" name="Shape 22"/>
          <p:cNvSpPr/>
          <p:nvPr/>
        </p:nvSpPr>
        <p:spPr>
          <a:xfrm>
            <a:off x="5186363" y="5731669"/>
            <a:ext cx="3871913" cy="1359694"/>
          </a:xfrm>
          <a:prstGeom prst="rect">
            <a:avLst/>
          </a:prstGeom>
          <a:ln w="9525">
            <a:solidFill>
              <a:srgbClr val="4D4B4C"/>
            </a:solidFill>
            <a:prstDash val="solid"/>
          </a:ln>
        </p:spPr>
      </p:sp>
      <p:sp>
        <p:nvSpPr>
          <p:cNvPr id="25" name="Text 23"/>
          <p:cNvSpPr/>
          <p:nvPr/>
        </p:nvSpPr>
        <p:spPr>
          <a:xfrm>
            <a:off x="5367338" y="6159024"/>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Vertex AI Endpoint</a:t>
            </a:r>
            <a:endParaRPr lang="en-US" sz="1575" dirty="0"/>
          </a:p>
        </p:txBody>
      </p:sp>
      <p:sp>
        <p:nvSpPr>
          <p:cNvPr id="26" name="Text 24"/>
          <p:cNvSpPr/>
          <p:nvPr/>
        </p:nvSpPr>
        <p:spPr>
          <a:xfrm>
            <a:off x="5367338" y="6463824"/>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scoring fraude GBT</a:t>
            </a:r>
            <a:endParaRPr lang="en-US" sz="1200" dirty="0"/>
          </a:p>
        </p:txBody>
      </p:sp>
      <p:sp>
        <p:nvSpPr>
          <p:cNvPr id="27" name="Shape 25"/>
          <p:cNvSpPr/>
          <p:nvPr/>
        </p:nvSpPr>
        <p:spPr>
          <a:xfrm>
            <a:off x="5186363" y="7224713"/>
            <a:ext cx="3871913" cy="1359694"/>
          </a:xfrm>
          <a:prstGeom prst="rect">
            <a:avLst/>
          </a:prstGeom>
          <a:ln w="9525">
            <a:solidFill>
              <a:srgbClr val="4D4B4C"/>
            </a:solidFill>
            <a:prstDash val="solid"/>
          </a:ln>
        </p:spPr>
      </p:sp>
      <p:sp>
        <p:nvSpPr>
          <p:cNvPr id="28" name="Text 26"/>
          <p:cNvSpPr/>
          <p:nvPr/>
        </p:nvSpPr>
        <p:spPr>
          <a:xfrm>
            <a:off x="5367338" y="7652068"/>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Memorystore Redis</a:t>
            </a:r>
            <a:endParaRPr lang="en-US" sz="1575" dirty="0"/>
          </a:p>
        </p:txBody>
      </p:sp>
      <p:sp>
        <p:nvSpPr>
          <p:cNvPr id="29" name="Text 27"/>
          <p:cNvSpPr/>
          <p:nvPr/>
        </p:nvSpPr>
        <p:spPr>
          <a:xfrm>
            <a:off x="5367338" y="7956868"/>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reglas + features</a:t>
            </a:r>
            <a:endParaRPr lang="en-US" sz="1200" dirty="0"/>
          </a:p>
        </p:txBody>
      </p:sp>
      <p:sp>
        <p:nvSpPr>
          <p:cNvPr id="30" name="Shape 28"/>
          <p:cNvSpPr/>
          <p:nvPr/>
        </p:nvSpPr>
        <p:spPr>
          <a:xfrm>
            <a:off x="5186363" y="8717756"/>
            <a:ext cx="3871913" cy="1359694"/>
          </a:xfrm>
          <a:prstGeom prst="rect">
            <a:avLst/>
          </a:prstGeom>
          <a:ln w="9525">
            <a:solidFill>
              <a:srgbClr val="4D4B4C"/>
            </a:solidFill>
            <a:prstDash val="solid"/>
          </a:ln>
        </p:spPr>
      </p:sp>
      <p:sp>
        <p:nvSpPr>
          <p:cNvPr id="31" name="Text 29"/>
          <p:cNvSpPr/>
          <p:nvPr/>
        </p:nvSpPr>
        <p:spPr>
          <a:xfrm>
            <a:off x="5367338" y="9145112"/>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Dataproc Batch</a:t>
            </a:r>
            <a:endParaRPr lang="en-US" sz="1575" dirty="0"/>
          </a:p>
        </p:txBody>
      </p:sp>
      <p:sp>
        <p:nvSpPr>
          <p:cNvPr id="32" name="Text 30"/>
          <p:cNvSpPr/>
          <p:nvPr/>
        </p:nvSpPr>
        <p:spPr>
          <a:xfrm>
            <a:off x="5367338" y="9449912"/>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Spark MLlib diario</a:t>
            </a:r>
            <a:endParaRPr lang="en-US" sz="1200" dirty="0"/>
          </a:p>
        </p:txBody>
      </p:sp>
      <p:sp>
        <p:nvSpPr>
          <p:cNvPr id="33" name="Shape 31"/>
          <p:cNvSpPr/>
          <p:nvPr/>
        </p:nvSpPr>
        <p:spPr>
          <a:xfrm>
            <a:off x="9229725" y="3600450"/>
            <a:ext cx="3871913" cy="504825"/>
          </a:xfrm>
          <a:prstGeom prst="rect">
            <a:avLst/>
          </a:prstGeom>
          <a:solidFill>
            <a:srgbClr val="00E1FF"/>
          </a:solidFill>
          <a:ln/>
        </p:spPr>
      </p:sp>
      <p:sp>
        <p:nvSpPr>
          <p:cNvPr id="34" name="Text 32"/>
          <p:cNvSpPr/>
          <p:nvPr/>
        </p:nvSpPr>
        <p:spPr>
          <a:xfrm>
            <a:off x="9401175" y="3714750"/>
            <a:ext cx="3645170"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03 · Almacenamiento</a:t>
            </a:r>
            <a:endParaRPr lang="en-US" sz="1650" dirty="0"/>
          </a:p>
        </p:txBody>
      </p:sp>
      <p:sp>
        <p:nvSpPr>
          <p:cNvPr id="35" name="Shape 33"/>
          <p:cNvSpPr/>
          <p:nvPr/>
        </p:nvSpPr>
        <p:spPr>
          <a:xfrm>
            <a:off x="9229725" y="4238625"/>
            <a:ext cx="3871913" cy="1359694"/>
          </a:xfrm>
          <a:prstGeom prst="rect">
            <a:avLst/>
          </a:prstGeom>
          <a:ln w="9525">
            <a:solidFill>
              <a:srgbClr val="4D4B4C"/>
            </a:solidFill>
            <a:prstDash val="solid"/>
          </a:ln>
        </p:spPr>
      </p:sp>
      <p:sp>
        <p:nvSpPr>
          <p:cNvPr id="36" name="Text 34"/>
          <p:cNvSpPr/>
          <p:nvPr/>
        </p:nvSpPr>
        <p:spPr>
          <a:xfrm>
            <a:off x="9410700" y="4665980"/>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Bigtable</a:t>
            </a:r>
            <a:endParaRPr lang="en-US" sz="1575" dirty="0"/>
          </a:p>
        </p:txBody>
      </p:sp>
      <p:sp>
        <p:nvSpPr>
          <p:cNvPr id="37" name="Text 35"/>
          <p:cNvSpPr/>
          <p:nvPr/>
        </p:nvSpPr>
        <p:spPr>
          <a:xfrm>
            <a:off x="9410700" y="4970780"/>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lookup caliente</a:t>
            </a:r>
            <a:endParaRPr lang="en-US" sz="1200" dirty="0"/>
          </a:p>
        </p:txBody>
      </p:sp>
      <p:sp>
        <p:nvSpPr>
          <p:cNvPr id="38" name="Shape 36"/>
          <p:cNvSpPr/>
          <p:nvPr/>
        </p:nvSpPr>
        <p:spPr>
          <a:xfrm>
            <a:off x="9229725" y="5731669"/>
            <a:ext cx="3871913" cy="1359694"/>
          </a:xfrm>
          <a:prstGeom prst="rect">
            <a:avLst/>
          </a:prstGeom>
          <a:ln w="9525">
            <a:solidFill>
              <a:srgbClr val="4D4B4C"/>
            </a:solidFill>
            <a:prstDash val="solid"/>
          </a:ln>
        </p:spPr>
      </p:sp>
      <p:sp>
        <p:nvSpPr>
          <p:cNvPr id="39" name="Text 37"/>
          <p:cNvSpPr/>
          <p:nvPr/>
        </p:nvSpPr>
        <p:spPr>
          <a:xfrm>
            <a:off x="9410700" y="6159024"/>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BigQuery</a:t>
            </a:r>
            <a:endParaRPr lang="en-US" sz="1575" dirty="0"/>
          </a:p>
        </p:txBody>
      </p:sp>
      <p:sp>
        <p:nvSpPr>
          <p:cNvPr id="40" name="Text 38"/>
          <p:cNvSpPr/>
          <p:nvPr/>
        </p:nvSpPr>
        <p:spPr>
          <a:xfrm>
            <a:off x="9410700" y="6463824"/>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DW analítico</a:t>
            </a:r>
            <a:endParaRPr lang="en-US" sz="1200" dirty="0"/>
          </a:p>
        </p:txBody>
      </p:sp>
      <p:sp>
        <p:nvSpPr>
          <p:cNvPr id="41" name="Shape 39"/>
          <p:cNvSpPr/>
          <p:nvPr/>
        </p:nvSpPr>
        <p:spPr>
          <a:xfrm>
            <a:off x="9229725" y="7224713"/>
            <a:ext cx="3871913" cy="1359694"/>
          </a:xfrm>
          <a:prstGeom prst="rect">
            <a:avLst/>
          </a:prstGeom>
          <a:ln w="9525">
            <a:solidFill>
              <a:srgbClr val="4D4B4C"/>
            </a:solidFill>
            <a:prstDash val="solid"/>
          </a:ln>
        </p:spPr>
      </p:sp>
      <p:sp>
        <p:nvSpPr>
          <p:cNvPr id="42" name="Text 40"/>
          <p:cNvSpPr/>
          <p:nvPr/>
        </p:nvSpPr>
        <p:spPr>
          <a:xfrm>
            <a:off x="9410700" y="7652068"/>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Cloud Storage</a:t>
            </a:r>
            <a:endParaRPr lang="en-US" sz="1575" dirty="0"/>
          </a:p>
        </p:txBody>
      </p:sp>
      <p:sp>
        <p:nvSpPr>
          <p:cNvPr id="43" name="Text 41"/>
          <p:cNvSpPr/>
          <p:nvPr/>
        </p:nvSpPr>
        <p:spPr>
          <a:xfrm>
            <a:off x="9410700" y="7956868"/>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Data Lake bronze/silver/gold</a:t>
            </a:r>
            <a:endParaRPr lang="en-US" sz="1200" dirty="0"/>
          </a:p>
        </p:txBody>
      </p:sp>
      <p:sp>
        <p:nvSpPr>
          <p:cNvPr id="44" name="Shape 42"/>
          <p:cNvSpPr/>
          <p:nvPr/>
        </p:nvSpPr>
        <p:spPr>
          <a:xfrm>
            <a:off x="9229725" y="8717756"/>
            <a:ext cx="3871913" cy="1359694"/>
          </a:xfrm>
          <a:prstGeom prst="rect">
            <a:avLst/>
          </a:prstGeom>
          <a:ln w="9525">
            <a:solidFill>
              <a:srgbClr val="4D4B4C"/>
            </a:solidFill>
            <a:prstDash val="solid"/>
          </a:ln>
        </p:spPr>
      </p:sp>
      <p:sp>
        <p:nvSpPr>
          <p:cNvPr id="45" name="Text 43"/>
          <p:cNvSpPr/>
          <p:nvPr/>
        </p:nvSpPr>
        <p:spPr>
          <a:xfrm>
            <a:off x="9410700" y="9145112"/>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Redis</a:t>
            </a:r>
            <a:endParaRPr lang="en-US" sz="1575" dirty="0"/>
          </a:p>
        </p:txBody>
      </p:sp>
      <p:sp>
        <p:nvSpPr>
          <p:cNvPr id="46" name="Text 44"/>
          <p:cNvSpPr/>
          <p:nvPr/>
        </p:nvSpPr>
        <p:spPr>
          <a:xfrm>
            <a:off x="9410700" y="9449912"/>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cache sub-ms</a:t>
            </a:r>
            <a:endParaRPr lang="en-US" sz="1200" dirty="0"/>
          </a:p>
        </p:txBody>
      </p:sp>
      <p:sp>
        <p:nvSpPr>
          <p:cNvPr id="47" name="Shape 45"/>
          <p:cNvSpPr/>
          <p:nvPr/>
        </p:nvSpPr>
        <p:spPr>
          <a:xfrm>
            <a:off x="13273088" y="3600450"/>
            <a:ext cx="3871913" cy="504825"/>
          </a:xfrm>
          <a:prstGeom prst="rect">
            <a:avLst/>
          </a:prstGeom>
          <a:solidFill>
            <a:srgbClr val="00E1FF"/>
          </a:solidFill>
          <a:ln/>
        </p:spPr>
      </p:sp>
      <p:sp>
        <p:nvSpPr>
          <p:cNvPr id="48" name="Text 46"/>
          <p:cNvSpPr/>
          <p:nvPr/>
        </p:nvSpPr>
        <p:spPr>
          <a:xfrm>
            <a:off x="13444538" y="3714750"/>
            <a:ext cx="3645170"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04 · Servicio</a:t>
            </a:r>
            <a:endParaRPr lang="en-US" sz="1650" dirty="0"/>
          </a:p>
        </p:txBody>
      </p:sp>
      <p:sp>
        <p:nvSpPr>
          <p:cNvPr id="49" name="Shape 47"/>
          <p:cNvSpPr/>
          <p:nvPr/>
        </p:nvSpPr>
        <p:spPr>
          <a:xfrm>
            <a:off x="13273088" y="4238625"/>
            <a:ext cx="3871913" cy="1359694"/>
          </a:xfrm>
          <a:prstGeom prst="rect">
            <a:avLst/>
          </a:prstGeom>
          <a:ln w="9525">
            <a:solidFill>
              <a:srgbClr val="4D4B4C"/>
            </a:solidFill>
            <a:prstDash val="solid"/>
          </a:ln>
        </p:spPr>
      </p:sp>
      <p:sp>
        <p:nvSpPr>
          <p:cNvPr id="50" name="Text 48"/>
          <p:cNvSpPr/>
          <p:nvPr/>
        </p:nvSpPr>
        <p:spPr>
          <a:xfrm>
            <a:off x="13454063" y="4665980"/>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Fan-out 12 suscripciones</a:t>
            </a:r>
            <a:endParaRPr lang="en-US" sz="1575" dirty="0"/>
          </a:p>
        </p:txBody>
      </p:sp>
      <p:sp>
        <p:nvSpPr>
          <p:cNvPr id="51" name="Text 49"/>
          <p:cNvSpPr/>
          <p:nvPr/>
        </p:nvSpPr>
        <p:spPr>
          <a:xfrm>
            <a:off x="13454063" y="4970780"/>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filtradas por bank_entity</a:t>
            </a:r>
            <a:endParaRPr lang="en-US" sz="1200" dirty="0"/>
          </a:p>
        </p:txBody>
      </p:sp>
      <p:sp>
        <p:nvSpPr>
          <p:cNvPr id="52" name="Shape 50"/>
          <p:cNvSpPr/>
          <p:nvPr/>
        </p:nvSpPr>
        <p:spPr>
          <a:xfrm>
            <a:off x="13273088" y="5731669"/>
            <a:ext cx="3871913" cy="1359694"/>
          </a:xfrm>
          <a:prstGeom prst="rect">
            <a:avLst/>
          </a:prstGeom>
          <a:ln w="9525">
            <a:solidFill>
              <a:srgbClr val="4D4B4C"/>
            </a:solidFill>
            <a:prstDash val="solid"/>
          </a:ln>
        </p:spPr>
      </p:sp>
      <p:sp>
        <p:nvSpPr>
          <p:cNvPr id="53" name="Text 51"/>
          <p:cNvSpPr/>
          <p:nvPr/>
        </p:nvSpPr>
        <p:spPr>
          <a:xfrm>
            <a:off x="13454063" y="6159024"/>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BFF Cloud Run</a:t>
            </a:r>
            <a:endParaRPr lang="en-US" sz="1575" dirty="0"/>
          </a:p>
        </p:txBody>
      </p:sp>
      <p:sp>
        <p:nvSpPr>
          <p:cNvPr id="54" name="Text 52"/>
          <p:cNvSpPr/>
          <p:nvPr/>
        </p:nvSpPr>
        <p:spPr>
          <a:xfrm>
            <a:off x="13454063" y="6463824"/>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APIs para cada banco</a:t>
            </a:r>
            <a:endParaRPr lang="en-US" sz="1200" dirty="0"/>
          </a:p>
        </p:txBody>
      </p:sp>
      <p:sp>
        <p:nvSpPr>
          <p:cNvPr id="55" name="Shape 53"/>
          <p:cNvSpPr/>
          <p:nvPr/>
        </p:nvSpPr>
        <p:spPr>
          <a:xfrm>
            <a:off x="13273088" y="7224713"/>
            <a:ext cx="3871913" cy="1359694"/>
          </a:xfrm>
          <a:prstGeom prst="rect">
            <a:avLst/>
          </a:prstGeom>
          <a:ln w="9525">
            <a:solidFill>
              <a:srgbClr val="4D4B4C"/>
            </a:solidFill>
            <a:prstDash val="solid"/>
          </a:ln>
        </p:spPr>
      </p:sp>
      <p:sp>
        <p:nvSpPr>
          <p:cNvPr id="56" name="Text 54"/>
          <p:cNvSpPr/>
          <p:nvPr/>
        </p:nvSpPr>
        <p:spPr>
          <a:xfrm>
            <a:off x="13454063" y="7652068"/>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Looker Studio · Power BI</a:t>
            </a:r>
            <a:endParaRPr lang="en-US" sz="1575" dirty="0"/>
          </a:p>
        </p:txBody>
      </p:sp>
      <p:sp>
        <p:nvSpPr>
          <p:cNvPr id="57" name="Text 55"/>
          <p:cNvSpPr/>
          <p:nvPr/>
        </p:nvSpPr>
        <p:spPr>
          <a:xfrm>
            <a:off x="13454063" y="7956868"/>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dashboards BigQuery</a:t>
            </a:r>
            <a:endParaRPr lang="en-US" sz="1200" dirty="0"/>
          </a:p>
        </p:txBody>
      </p:sp>
      <p:sp>
        <p:nvSpPr>
          <p:cNvPr id="58" name="Shape 56"/>
          <p:cNvSpPr/>
          <p:nvPr/>
        </p:nvSpPr>
        <p:spPr>
          <a:xfrm>
            <a:off x="13273088" y="8717756"/>
            <a:ext cx="3871913" cy="1359694"/>
          </a:xfrm>
          <a:prstGeom prst="rect">
            <a:avLst/>
          </a:prstGeom>
          <a:ln w="9525">
            <a:solidFill>
              <a:srgbClr val="4D4B4C"/>
            </a:solidFill>
            <a:prstDash val="solid"/>
          </a:ln>
        </p:spPr>
      </p:sp>
      <p:sp>
        <p:nvSpPr>
          <p:cNvPr id="59" name="Text 57"/>
          <p:cNvSpPr/>
          <p:nvPr/>
        </p:nvSpPr>
        <p:spPr>
          <a:xfrm>
            <a:off x="13454063" y="9145112"/>
            <a:ext cx="3615261" cy="304800"/>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Space Grotesk" pitchFamily="34" charset="0"/>
                <a:ea typeface="Space Grotesk" pitchFamily="34" charset="-122"/>
                <a:cs typeface="Space Grotesk" pitchFamily="34" charset="-120"/>
              </a:rPr>
              <a:t>Consola regulador</a:t>
            </a:r>
            <a:endParaRPr lang="en-US" sz="1575" dirty="0"/>
          </a:p>
        </p:txBody>
      </p:sp>
      <p:sp>
        <p:nvSpPr>
          <p:cNvPr id="60" name="Text 58"/>
          <p:cNvSpPr/>
          <p:nvPr/>
        </p:nvSpPr>
        <p:spPr>
          <a:xfrm>
            <a:off x="13454063" y="9449912"/>
            <a:ext cx="3615261"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reportes consolidados</a:t>
            </a:r>
            <a:endParaRPr lang="en-US" sz="1200" dirty="0"/>
          </a:p>
        </p:txBody>
      </p:sp>
      <p:sp>
        <p:nvSpPr>
          <p:cNvPr id="61" name="Text 59"/>
          <p:cNvSpPr/>
          <p:nvPr/>
        </p:nvSpPr>
        <p:spPr>
          <a:xfrm>
            <a:off x="662940" y="10267950"/>
            <a:ext cx="16482060" cy="266700"/>
          </a:xfrm>
          <a:prstGeom prst="rect">
            <a:avLst/>
          </a:prstGeom>
          <a:noFill/>
          <a:ln/>
        </p:spPr>
        <p:txBody>
          <a:bodyPr wrap="square" lIns="25400" tIns="25400" rIns="25400" bIns="25400" rtlCol="0" anchor="t">
            <a:normAutofit/>
          </a:bodyPr>
          <a:lstStyle/>
          <a:p>
            <a:pPr algn="r" indent="0" marL="0">
              <a:buNone/>
            </a:pPr>
            <a:r>
              <a:rPr lang="en-US" sz="1350" spc="108" kern="0" dirty="0">
                <a:solidFill>
                  <a:srgbClr val="A1A0A0"/>
                </a:solidFill>
                <a:latin typeface="Space Grotesk" pitchFamily="34" charset="0"/>
                <a:ea typeface="Space Grotesk" pitchFamily="34" charset="-122"/>
                <a:cs typeface="Space Grotesk" pitchFamily="34" charset="-120"/>
              </a:rPr>
              <a:t>TODO DESPLEGADO VÍA TERRAFORM · REGIÓN US-EAST1</a:t>
            </a:r>
            <a:endParaRPr lang="en-US" sz="1350" dirty="0"/>
          </a:p>
        </p:txBody>
      </p:sp>
      <p:pic>
        <p:nvPicPr>
          <p:cNvPr id="62"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63" name="Text 60"/>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7400085"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FASE 1 DE 4</a:t>
            </a:r>
            <a:endParaRPr lang="en-US" sz="1500" dirty="0"/>
          </a:p>
        </p:txBody>
      </p:sp>
      <p:sp>
        <p:nvSpPr>
          <p:cNvPr id="3" name="Text 1"/>
          <p:cNvSpPr/>
          <p:nvPr/>
        </p:nvSpPr>
        <p:spPr>
          <a:xfrm>
            <a:off x="1143000" y="1562100"/>
            <a:ext cx="7400085" cy="582136"/>
          </a:xfrm>
          <a:prstGeom prst="rect">
            <a:avLst/>
          </a:prstGeom>
          <a:noFill/>
          <a:ln/>
        </p:spPr>
        <p:txBody>
          <a:bodyPr wrap="square" lIns="25400" tIns="25400" rIns="25400" bIns="25400" rtlCol="0" anchor="t">
            <a:normAutofit/>
          </a:bodyPr>
          <a:lstStyle/>
          <a:p>
            <a:pPr algn="l" indent="0" marL="0">
              <a:lnSpc>
                <a:spcPct val="101994"/>
              </a:lnSpc>
              <a:buNone/>
            </a:pPr>
            <a:r>
              <a:rPr lang="en-US" sz="4200" b="1" spc="-63" kern="0" dirty="0">
                <a:solidFill>
                  <a:srgbClr val="4D4B4C"/>
                </a:solidFill>
                <a:latin typeface="Space Grotesk" pitchFamily="34" charset="0"/>
                <a:ea typeface="Space Grotesk" pitchFamily="34" charset="-122"/>
                <a:cs typeface="Space Grotesk" pitchFamily="34" charset="-120"/>
              </a:rPr>
              <a:t>Ingesta</a:t>
            </a:r>
            <a:endParaRPr lang="en-US" sz="4200" dirty="0"/>
          </a:p>
        </p:txBody>
      </p:sp>
      <p:sp>
        <p:nvSpPr>
          <p:cNvPr id="4" name="Text 2"/>
          <p:cNvSpPr/>
          <p:nvPr/>
        </p:nvSpPr>
        <p:spPr>
          <a:xfrm>
            <a:off x="1143000" y="2410936"/>
            <a:ext cx="6867525" cy="784860"/>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6B6869"/>
                </a:solidFill>
                <a:latin typeface="Space Grotesk" pitchFamily="34" charset="0"/>
                <a:ea typeface="Space Grotesk" pitchFamily="34" charset="-122"/>
                <a:cs typeface="Space Grotesk" pitchFamily="34" charset="-120"/>
              </a:rPr>
              <a:t>Recibir transacciones de los 12 bancos, validarlas y publicarlas en un bus central con cero pérdida.</a:t>
            </a:r>
            <a:endParaRPr lang="en-US" sz="2100" dirty="0"/>
          </a:p>
        </p:txBody>
      </p:sp>
      <p:sp>
        <p:nvSpPr>
          <p:cNvPr id="5" name="Text 3"/>
          <p:cNvSpPr/>
          <p:nvPr/>
        </p:nvSpPr>
        <p:spPr>
          <a:xfrm>
            <a:off x="1143000" y="7620000"/>
            <a:ext cx="2057400" cy="1657350"/>
          </a:xfrm>
          <a:prstGeom prst="rect">
            <a:avLst/>
          </a:prstGeom>
          <a:noFill/>
          <a:ln/>
        </p:spPr>
        <p:txBody>
          <a:bodyPr wrap="square" lIns="25400" tIns="25400" rIns="25400" bIns="25400" rtlCol="0" anchor="t">
            <a:normAutofit/>
          </a:bodyPr>
          <a:lstStyle/>
          <a:p>
            <a:pPr algn="l" indent="0" marL="0">
              <a:lnSpc>
                <a:spcPct val="85000"/>
              </a:lnSpc>
              <a:buNone/>
            </a:pPr>
            <a:r>
              <a:rPr lang="en-US" sz="15000" b="1" spc="-450" kern="0" dirty="0">
                <a:solidFill>
                  <a:srgbClr val="00E1FF"/>
                </a:solidFill>
                <a:latin typeface="Space Grotesk" pitchFamily="34" charset="0"/>
                <a:ea typeface="Space Grotesk" pitchFamily="34" charset="-122"/>
                <a:cs typeface="Space Grotesk" pitchFamily="34" charset="-120"/>
              </a:rPr>
              <a:t>01</a:t>
            </a:r>
            <a:endParaRPr lang="en-US" sz="15000" dirty="0"/>
          </a:p>
        </p:txBody>
      </p:sp>
      <p:sp>
        <p:nvSpPr>
          <p:cNvPr id="6" name="Text 4"/>
          <p:cNvSpPr/>
          <p:nvPr/>
        </p:nvSpPr>
        <p:spPr>
          <a:xfrm>
            <a:off x="3217069" y="8114188"/>
            <a:ext cx="1375886" cy="668973"/>
          </a:xfrm>
          <a:prstGeom prst="rect">
            <a:avLst/>
          </a:prstGeom>
          <a:noFill/>
          <a:ln/>
        </p:spPr>
        <p:txBody>
          <a:bodyPr wrap="square" lIns="25400" tIns="25400" rIns="25400" bIns="25400" rtlCol="0" anchor="t">
            <a:normAutofit/>
          </a:bodyPr>
          <a:lstStyle/>
          <a:p>
            <a:pPr algn="l" indent="0" marL="0">
              <a:lnSpc>
                <a:spcPct val="91991"/>
              </a:lnSpc>
              <a:buNone/>
            </a:pPr>
            <a:r>
              <a:rPr lang="en-US" sz="2700" b="1" spc="54" kern="0" dirty="0">
                <a:solidFill>
                  <a:srgbClr val="00E1FF"/>
                </a:solidFill>
                <a:latin typeface="Space Grotesk" pitchFamily="34" charset="0"/>
                <a:ea typeface="Space Grotesk" pitchFamily="34" charset="-122"/>
                <a:cs typeface="Space Grotesk" pitchFamily="34" charset="-120"/>
              </a:rPr>
              <a:t>HANDS ON.</a:t>
            </a:r>
            <a:endParaRPr lang="en-US" sz="2700" dirty="0"/>
          </a:p>
        </p:txBody>
      </p:sp>
      <p:sp>
        <p:nvSpPr>
          <p:cNvPr id="7" name="Text 5"/>
          <p:cNvSpPr/>
          <p:nvPr/>
        </p:nvSpPr>
        <p:spPr>
          <a:xfrm>
            <a:off x="9241949" y="1047750"/>
            <a:ext cx="8140143" cy="285750"/>
          </a:xfrm>
          <a:prstGeom prst="rect">
            <a:avLst/>
          </a:prstGeom>
          <a:noFill/>
          <a:ln/>
        </p:spPr>
        <p:txBody>
          <a:bodyPr wrap="square" lIns="25400" tIns="25400" rIns="25400" bIns="25400" rtlCol="0" anchor="t">
            <a:normAutofit/>
          </a:bodyPr>
          <a:lstStyle/>
          <a:p>
            <a:pPr algn="l" indent="0" marL="0">
              <a:buNone/>
            </a:pPr>
            <a:r>
              <a:rPr lang="en-US" sz="1500" spc="240" kern="0" dirty="0">
                <a:solidFill>
                  <a:srgbClr val="A1A0A0"/>
                </a:solidFill>
                <a:latin typeface="Space Grotesk" pitchFamily="34" charset="0"/>
                <a:ea typeface="Space Grotesk" pitchFamily="34" charset="-122"/>
                <a:cs typeface="Space Grotesk" pitchFamily="34" charset="-120"/>
              </a:rPr>
              <a:t>COMPONENTES PRINCIPALES</a:t>
            </a:r>
            <a:endParaRPr lang="en-US" sz="1500" dirty="0"/>
          </a:p>
        </p:txBody>
      </p:sp>
      <p:sp>
        <p:nvSpPr>
          <p:cNvPr id="8" name="Shape 6"/>
          <p:cNvSpPr/>
          <p:nvPr/>
        </p:nvSpPr>
        <p:spPr>
          <a:xfrm>
            <a:off x="9241949" y="2491740"/>
            <a:ext cx="7903051" cy="9525"/>
          </a:xfrm>
          <a:prstGeom prst="rect">
            <a:avLst/>
          </a:prstGeom>
          <a:solidFill>
            <a:srgbClr val="EEEEEE"/>
          </a:solidFill>
          <a:ln/>
        </p:spPr>
      </p:sp>
      <p:sp>
        <p:nvSpPr>
          <p:cNvPr id="9" name="Text 7"/>
          <p:cNvSpPr/>
          <p:nvPr/>
        </p:nvSpPr>
        <p:spPr>
          <a:xfrm>
            <a:off x="9241949" y="1714500"/>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Cloud Run</a:t>
            </a:r>
            <a:endParaRPr lang="en-US" sz="1800" dirty="0"/>
          </a:p>
        </p:txBody>
      </p:sp>
      <p:sp>
        <p:nvSpPr>
          <p:cNvPr id="10" name="Text 8"/>
          <p:cNvSpPr/>
          <p:nvPr/>
        </p:nvSpPr>
        <p:spPr>
          <a:xfrm>
            <a:off x="11642249" y="1714500"/>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API REST de ingesta, escala de 0 a 10 instancias por demanda.</a:t>
            </a:r>
            <a:endParaRPr lang="en-US" sz="1650" dirty="0"/>
          </a:p>
        </p:txBody>
      </p:sp>
      <p:sp>
        <p:nvSpPr>
          <p:cNvPr id="11" name="Shape 9"/>
          <p:cNvSpPr/>
          <p:nvPr/>
        </p:nvSpPr>
        <p:spPr>
          <a:xfrm>
            <a:off x="9241949" y="3606165"/>
            <a:ext cx="7903051" cy="9525"/>
          </a:xfrm>
          <a:prstGeom prst="rect">
            <a:avLst/>
          </a:prstGeom>
          <a:solidFill>
            <a:srgbClr val="EEEEEE"/>
          </a:solidFill>
          <a:ln/>
        </p:spPr>
      </p:sp>
      <p:sp>
        <p:nvSpPr>
          <p:cNvPr id="12" name="Text 10"/>
          <p:cNvSpPr/>
          <p:nvPr/>
        </p:nvSpPr>
        <p:spPr>
          <a:xfrm>
            <a:off x="9241949" y="2806065"/>
            <a:ext cx="2171700" cy="6477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Pub/Sub (raw-ingest)</a:t>
            </a:r>
            <a:endParaRPr lang="en-US" sz="1800" dirty="0"/>
          </a:p>
        </p:txBody>
      </p:sp>
      <p:sp>
        <p:nvSpPr>
          <p:cNvPr id="13" name="Text 11"/>
          <p:cNvSpPr/>
          <p:nvPr/>
        </p:nvSpPr>
        <p:spPr>
          <a:xfrm>
            <a:off x="11642249" y="2806065"/>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Bus principal con 31 días de retención y entrega at-least-once.</a:t>
            </a:r>
            <a:endParaRPr lang="en-US" sz="1650" dirty="0"/>
          </a:p>
        </p:txBody>
      </p:sp>
      <p:sp>
        <p:nvSpPr>
          <p:cNvPr id="14" name="Shape 12"/>
          <p:cNvSpPr/>
          <p:nvPr/>
        </p:nvSpPr>
        <p:spPr>
          <a:xfrm>
            <a:off x="9241949" y="4697730"/>
            <a:ext cx="7903051" cy="9525"/>
          </a:xfrm>
          <a:prstGeom prst="rect">
            <a:avLst/>
          </a:prstGeom>
          <a:solidFill>
            <a:srgbClr val="EEEEEE"/>
          </a:solidFill>
          <a:ln/>
        </p:spPr>
      </p:sp>
      <p:sp>
        <p:nvSpPr>
          <p:cNvPr id="15" name="Text 13"/>
          <p:cNvSpPr/>
          <p:nvPr/>
        </p:nvSpPr>
        <p:spPr>
          <a:xfrm>
            <a:off x="9241949" y="3920490"/>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Dead Letter Topic</a:t>
            </a:r>
            <a:endParaRPr lang="en-US" sz="1800" dirty="0"/>
          </a:p>
        </p:txBody>
      </p:sp>
      <p:sp>
        <p:nvSpPr>
          <p:cNvPr id="16" name="Text 14"/>
          <p:cNvSpPr/>
          <p:nvPr/>
        </p:nvSpPr>
        <p:spPr>
          <a:xfrm>
            <a:off x="11642249" y="3920490"/>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Captura mensajes que fallan tras 5 intentos; auditables.</a:t>
            </a:r>
            <a:endParaRPr lang="en-US" sz="1650" dirty="0"/>
          </a:p>
        </p:txBody>
      </p:sp>
      <p:sp>
        <p:nvSpPr>
          <p:cNvPr id="17" name="Shape 15"/>
          <p:cNvSpPr/>
          <p:nvPr/>
        </p:nvSpPr>
        <p:spPr>
          <a:xfrm>
            <a:off x="9241949" y="5507355"/>
            <a:ext cx="7903051" cy="9525"/>
          </a:xfrm>
          <a:prstGeom prst="rect">
            <a:avLst/>
          </a:prstGeom>
          <a:solidFill>
            <a:srgbClr val="EEEEEE"/>
          </a:solidFill>
          <a:ln/>
        </p:spPr>
      </p:sp>
      <p:sp>
        <p:nvSpPr>
          <p:cNvPr id="18" name="Text 16"/>
          <p:cNvSpPr/>
          <p:nvPr/>
        </p:nvSpPr>
        <p:spPr>
          <a:xfrm>
            <a:off x="9241949" y="5012055"/>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Schema Registry</a:t>
            </a:r>
            <a:endParaRPr lang="en-US" sz="1800" dirty="0"/>
          </a:p>
        </p:txBody>
      </p:sp>
      <p:sp>
        <p:nvSpPr>
          <p:cNvPr id="19" name="Text 17"/>
          <p:cNvSpPr/>
          <p:nvPr/>
        </p:nvSpPr>
        <p:spPr>
          <a:xfrm>
            <a:off x="11642249" y="5012055"/>
            <a:ext cx="5667834" cy="33147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Validación de contratos JSON por versión de banco.</a:t>
            </a:r>
            <a:endParaRPr lang="en-US" sz="1650" dirty="0"/>
          </a:p>
        </p:txBody>
      </p:sp>
      <p:sp>
        <p:nvSpPr>
          <p:cNvPr id="20" name="Shape 18"/>
          <p:cNvSpPr/>
          <p:nvPr/>
        </p:nvSpPr>
        <p:spPr>
          <a:xfrm>
            <a:off x="9241949" y="5935980"/>
            <a:ext cx="7903051" cy="1085850"/>
          </a:xfrm>
          <a:prstGeom prst="rect">
            <a:avLst/>
          </a:prstGeom>
          <a:solidFill>
            <a:srgbClr val="E0FBFF"/>
          </a:solidFill>
          <a:ln/>
        </p:spPr>
      </p:sp>
      <p:sp>
        <p:nvSpPr>
          <p:cNvPr id="21" name="Text 19"/>
          <p:cNvSpPr/>
          <p:nvPr/>
        </p:nvSpPr>
        <p:spPr>
          <a:xfrm>
            <a:off x="9508649" y="6164580"/>
            <a:ext cx="7606743"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4D4B4C"/>
                </a:solidFill>
                <a:latin typeface="Space Grotesk" pitchFamily="34" charset="0"/>
                <a:ea typeface="Space Grotesk" pitchFamily="34" charset="-122"/>
                <a:cs typeface="Space Grotesk" pitchFamily="34" charset="-120"/>
              </a:rPr>
              <a:t>Dato clave · </a:t>
            </a:r>
            <a:pPr algn="l" indent="0" marL="0">
              <a:lnSpc>
                <a:spcPct val="150000"/>
              </a:lnSpc>
              <a:buNone/>
            </a:pPr>
            <a:r>
              <a:rPr lang="en-US" sz="1650" dirty="0">
                <a:solidFill>
                  <a:srgbClr val="4D4B4C"/>
                </a:solidFill>
                <a:highlight>
                  <a:srgbClr val="E0FBFF"/>
                </a:highlight>
                <a:latin typeface="Space Grotesk" pitchFamily="34" charset="0"/>
                <a:ea typeface="Space Grotesk" pitchFamily="34" charset="-122"/>
                <a:cs typeface="Space Grotesk" pitchFamily="34" charset="-120"/>
              </a:rPr>
              <a:t>Picos de quincena absorbidos sin intervención manual. Pub/Sub no tiene límite práctico de TPS.</a:t>
            </a:r>
            <a:endParaRPr lang="en-US" sz="1650" dirty="0"/>
          </a:p>
        </p:txBody>
      </p:sp>
      <p:pic>
        <p:nvPicPr>
          <p:cNvPr id="22"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23" name="Text 20"/>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7400085"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FASE 2 DE 4</a:t>
            </a:r>
            <a:endParaRPr lang="en-US" sz="1500" dirty="0"/>
          </a:p>
        </p:txBody>
      </p:sp>
      <p:sp>
        <p:nvSpPr>
          <p:cNvPr id="3" name="Text 1"/>
          <p:cNvSpPr/>
          <p:nvPr/>
        </p:nvSpPr>
        <p:spPr>
          <a:xfrm>
            <a:off x="1143000" y="1562100"/>
            <a:ext cx="7400085" cy="582136"/>
          </a:xfrm>
          <a:prstGeom prst="rect">
            <a:avLst/>
          </a:prstGeom>
          <a:noFill/>
          <a:ln/>
        </p:spPr>
        <p:txBody>
          <a:bodyPr wrap="square" lIns="25400" tIns="25400" rIns="25400" bIns="25400" rtlCol="0" anchor="t">
            <a:normAutofit/>
          </a:bodyPr>
          <a:lstStyle/>
          <a:p>
            <a:pPr algn="l" indent="0" marL="0">
              <a:lnSpc>
                <a:spcPct val="101994"/>
              </a:lnSpc>
              <a:buNone/>
            </a:pPr>
            <a:r>
              <a:rPr lang="en-US" sz="4200" b="1" spc="-63" kern="0" dirty="0">
                <a:solidFill>
                  <a:srgbClr val="4D4B4C"/>
                </a:solidFill>
                <a:latin typeface="Space Grotesk" pitchFamily="34" charset="0"/>
                <a:ea typeface="Space Grotesk" pitchFamily="34" charset="-122"/>
                <a:cs typeface="Space Grotesk" pitchFamily="34" charset="-120"/>
              </a:rPr>
              <a:t>Procesamiento</a:t>
            </a:r>
            <a:endParaRPr lang="en-US" sz="4200" dirty="0"/>
          </a:p>
        </p:txBody>
      </p:sp>
      <p:sp>
        <p:nvSpPr>
          <p:cNvPr id="4" name="Text 2"/>
          <p:cNvSpPr/>
          <p:nvPr/>
        </p:nvSpPr>
        <p:spPr>
          <a:xfrm>
            <a:off x="1143000" y="2410936"/>
            <a:ext cx="6867525" cy="1158240"/>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6B6869"/>
                </a:solidFill>
                <a:latin typeface="Space Grotesk" pitchFamily="34" charset="0"/>
                <a:ea typeface="Space Grotesk" pitchFamily="34" charset="-122"/>
                <a:cs typeface="Space Grotesk" pitchFamily="34" charset="-120"/>
              </a:rPr>
              <a:t>Enriquecer cada transacción con contexto, scorearla contra el modelo de fraude y decidir en menos de 200 ms.</a:t>
            </a:r>
            <a:endParaRPr lang="en-US" sz="2100" dirty="0"/>
          </a:p>
        </p:txBody>
      </p:sp>
      <p:sp>
        <p:nvSpPr>
          <p:cNvPr id="5" name="Text 3"/>
          <p:cNvSpPr/>
          <p:nvPr/>
        </p:nvSpPr>
        <p:spPr>
          <a:xfrm>
            <a:off x="1143000" y="7620000"/>
            <a:ext cx="2327910" cy="1657350"/>
          </a:xfrm>
          <a:prstGeom prst="rect">
            <a:avLst/>
          </a:prstGeom>
          <a:noFill/>
          <a:ln/>
        </p:spPr>
        <p:txBody>
          <a:bodyPr wrap="square" lIns="25400" tIns="25400" rIns="25400" bIns="25400" rtlCol="0" anchor="t">
            <a:normAutofit/>
          </a:bodyPr>
          <a:lstStyle/>
          <a:p>
            <a:pPr algn="l" indent="0" marL="0">
              <a:lnSpc>
                <a:spcPct val="85000"/>
              </a:lnSpc>
              <a:buNone/>
            </a:pPr>
            <a:r>
              <a:rPr lang="en-US" sz="15000" b="1" spc="-450" kern="0" dirty="0">
                <a:solidFill>
                  <a:srgbClr val="00E1FF"/>
                </a:solidFill>
                <a:latin typeface="Space Grotesk" pitchFamily="34" charset="0"/>
                <a:ea typeface="Space Grotesk" pitchFamily="34" charset="-122"/>
                <a:cs typeface="Space Grotesk" pitchFamily="34" charset="-120"/>
              </a:rPr>
              <a:t>02</a:t>
            </a:r>
            <a:endParaRPr lang="en-US" sz="15000" dirty="0"/>
          </a:p>
        </p:txBody>
      </p:sp>
      <p:sp>
        <p:nvSpPr>
          <p:cNvPr id="6" name="Text 4"/>
          <p:cNvSpPr/>
          <p:nvPr/>
        </p:nvSpPr>
        <p:spPr>
          <a:xfrm>
            <a:off x="3487579" y="8114188"/>
            <a:ext cx="1375886" cy="668973"/>
          </a:xfrm>
          <a:prstGeom prst="rect">
            <a:avLst/>
          </a:prstGeom>
          <a:noFill/>
          <a:ln/>
        </p:spPr>
        <p:txBody>
          <a:bodyPr wrap="square" lIns="25400" tIns="25400" rIns="25400" bIns="25400" rtlCol="0" anchor="t">
            <a:normAutofit/>
          </a:bodyPr>
          <a:lstStyle/>
          <a:p>
            <a:pPr algn="l" indent="0" marL="0">
              <a:lnSpc>
                <a:spcPct val="91991"/>
              </a:lnSpc>
              <a:buNone/>
            </a:pPr>
            <a:r>
              <a:rPr lang="en-US" sz="2700" b="1" spc="54" kern="0" dirty="0">
                <a:solidFill>
                  <a:srgbClr val="00E1FF"/>
                </a:solidFill>
                <a:latin typeface="Space Grotesk" pitchFamily="34" charset="0"/>
                <a:ea typeface="Space Grotesk" pitchFamily="34" charset="-122"/>
                <a:cs typeface="Space Grotesk" pitchFamily="34" charset="-120"/>
              </a:rPr>
              <a:t>HANDS ON.</a:t>
            </a:r>
            <a:endParaRPr lang="en-US" sz="2700" dirty="0"/>
          </a:p>
        </p:txBody>
      </p:sp>
      <p:sp>
        <p:nvSpPr>
          <p:cNvPr id="7" name="Text 5"/>
          <p:cNvSpPr/>
          <p:nvPr/>
        </p:nvSpPr>
        <p:spPr>
          <a:xfrm>
            <a:off x="9241949" y="1047750"/>
            <a:ext cx="8140143" cy="285750"/>
          </a:xfrm>
          <a:prstGeom prst="rect">
            <a:avLst/>
          </a:prstGeom>
          <a:noFill/>
          <a:ln/>
        </p:spPr>
        <p:txBody>
          <a:bodyPr wrap="square" lIns="25400" tIns="25400" rIns="25400" bIns="25400" rtlCol="0" anchor="t">
            <a:normAutofit/>
          </a:bodyPr>
          <a:lstStyle/>
          <a:p>
            <a:pPr algn="l" indent="0" marL="0">
              <a:buNone/>
            </a:pPr>
            <a:r>
              <a:rPr lang="en-US" sz="1500" spc="240" kern="0" dirty="0">
                <a:solidFill>
                  <a:srgbClr val="A1A0A0"/>
                </a:solidFill>
                <a:latin typeface="Space Grotesk" pitchFamily="34" charset="0"/>
                <a:ea typeface="Space Grotesk" pitchFamily="34" charset="-122"/>
                <a:cs typeface="Space Grotesk" pitchFamily="34" charset="-120"/>
              </a:rPr>
              <a:t>COMPONENTES PRINCIPALES</a:t>
            </a:r>
            <a:endParaRPr lang="en-US" sz="1500" dirty="0"/>
          </a:p>
        </p:txBody>
      </p:sp>
      <p:sp>
        <p:nvSpPr>
          <p:cNvPr id="8" name="Shape 6"/>
          <p:cNvSpPr/>
          <p:nvPr/>
        </p:nvSpPr>
        <p:spPr>
          <a:xfrm>
            <a:off x="9241949" y="2491740"/>
            <a:ext cx="7903051" cy="9525"/>
          </a:xfrm>
          <a:prstGeom prst="rect">
            <a:avLst/>
          </a:prstGeom>
          <a:solidFill>
            <a:srgbClr val="EEEEEE"/>
          </a:solidFill>
          <a:ln/>
        </p:spPr>
      </p:sp>
      <p:sp>
        <p:nvSpPr>
          <p:cNvPr id="9" name="Text 7"/>
          <p:cNvSpPr/>
          <p:nvPr/>
        </p:nvSpPr>
        <p:spPr>
          <a:xfrm>
            <a:off x="9241949" y="1714500"/>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Dataflow</a:t>
            </a:r>
            <a:endParaRPr lang="en-US" sz="1800" dirty="0"/>
          </a:p>
        </p:txBody>
      </p:sp>
      <p:sp>
        <p:nvSpPr>
          <p:cNvPr id="10" name="Text 8"/>
          <p:cNvSpPr/>
          <p:nvPr/>
        </p:nvSpPr>
        <p:spPr>
          <a:xfrm>
            <a:off x="11642249" y="1714500"/>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Pipeline streaming en Apache Beam 2.56, autoescalado 5–20 workers.</a:t>
            </a:r>
            <a:endParaRPr lang="en-US" sz="1650" dirty="0"/>
          </a:p>
        </p:txBody>
      </p:sp>
      <p:sp>
        <p:nvSpPr>
          <p:cNvPr id="11" name="Shape 9"/>
          <p:cNvSpPr/>
          <p:nvPr/>
        </p:nvSpPr>
        <p:spPr>
          <a:xfrm>
            <a:off x="9241949" y="3583305"/>
            <a:ext cx="7903051" cy="9525"/>
          </a:xfrm>
          <a:prstGeom prst="rect">
            <a:avLst/>
          </a:prstGeom>
          <a:solidFill>
            <a:srgbClr val="EEEEEE"/>
          </a:solidFill>
          <a:ln/>
        </p:spPr>
      </p:sp>
      <p:sp>
        <p:nvSpPr>
          <p:cNvPr id="12" name="Text 10"/>
          <p:cNvSpPr/>
          <p:nvPr/>
        </p:nvSpPr>
        <p:spPr>
          <a:xfrm>
            <a:off x="9241949" y="2806065"/>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Vertex AI</a:t>
            </a:r>
            <a:endParaRPr lang="en-US" sz="1800" dirty="0"/>
          </a:p>
        </p:txBody>
      </p:sp>
      <p:sp>
        <p:nvSpPr>
          <p:cNvPr id="13" name="Text 11"/>
          <p:cNvSpPr/>
          <p:nvPr/>
        </p:nvSpPr>
        <p:spPr>
          <a:xfrm>
            <a:off x="11642249" y="2806065"/>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Endpoint del modelo GBT, 2–10 réplicas, scoring por transacción.</a:t>
            </a:r>
            <a:endParaRPr lang="en-US" sz="1650" dirty="0"/>
          </a:p>
        </p:txBody>
      </p:sp>
      <p:sp>
        <p:nvSpPr>
          <p:cNvPr id="14" name="Shape 12"/>
          <p:cNvSpPr/>
          <p:nvPr/>
        </p:nvSpPr>
        <p:spPr>
          <a:xfrm>
            <a:off x="9241949" y="4697730"/>
            <a:ext cx="7903051" cy="9525"/>
          </a:xfrm>
          <a:prstGeom prst="rect">
            <a:avLst/>
          </a:prstGeom>
          <a:solidFill>
            <a:srgbClr val="EEEEEE"/>
          </a:solidFill>
          <a:ln/>
        </p:spPr>
      </p:sp>
      <p:sp>
        <p:nvSpPr>
          <p:cNvPr id="15" name="Text 13"/>
          <p:cNvSpPr/>
          <p:nvPr/>
        </p:nvSpPr>
        <p:spPr>
          <a:xfrm>
            <a:off x="9241949" y="3897630"/>
            <a:ext cx="2171700" cy="6477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Memorystore Redis</a:t>
            </a:r>
            <a:endParaRPr lang="en-US" sz="1800" dirty="0"/>
          </a:p>
        </p:txBody>
      </p:sp>
      <p:sp>
        <p:nvSpPr>
          <p:cNvPr id="16" name="Text 14"/>
          <p:cNvSpPr/>
          <p:nvPr/>
        </p:nvSpPr>
        <p:spPr>
          <a:xfrm>
            <a:off x="11642249" y="3897630"/>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Reglas anti-fraude y features calientes con latencia sub-milisegundo.</a:t>
            </a:r>
            <a:endParaRPr lang="en-US" sz="1650" dirty="0"/>
          </a:p>
        </p:txBody>
      </p:sp>
      <p:sp>
        <p:nvSpPr>
          <p:cNvPr id="17" name="Shape 15"/>
          <p:cNvSpPr/>
          <p:nvPr/>
        </p:nvSpPr>
        <p:spPr>
          <a:xfrm>
            <a:off x="9241949" y="5789295"/>
            <a:ext cx="7903051" cy="9525"/>
          </a:xfrm>
          <a:prstGeom prst="rect">
            <a:avLst/>
          </a:prstGeom>
          <a:solidFill>
            <a:srgbClr val="EEEEEE"/>
          </a:solidFill>
          <a:ln/>
        </p:spPr>
      </p:sp>
      <p:sp>
        <p:nvSpPr>
          <p:cNvPr id="18" name="Text 16"/>
          <p:cNvSpPr/>
          <p:nvPr/>
        </p:nvSpPr>
        <p:spPr>
          <a:xfrm>
            <a:off x="9241949" y="5012055"/>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Dataproc</a:t>
            </a:r>
            <a:endParaRPr lang="en-US" sz="1800" dirty="0"/>
          </a:p>
        </p:txBody>
      </p:sp>
      <p:sp>
        <p:nvSpPr>
          <p:cNvPr id="19" name="Text 17"/>
          <p:cNvSpPr/>
          <p:nvPr/>
        </p:nvSpPr>
        <p:spPr>
          <a:xfrm>
            <a:off x="11642249" y="5012055"/>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Clústers efímeros para jobs batch nocturnos (liquidez, cierres).</a:t>
            </a:r>
            <a:endParaRPr lang="en-US" sz="1650" dirty="0"/>
          </a:p>
        </p:txBody>
      </p:sp>
      <p:sp>
        <p:nvSpPr>
          <p:cNvPr id="20" name="Shape 18"/>
          <p:cNvSpPr/>
          <p:nvPr/>
        </p:nvSpPr>
        <p:spPr>
          <a:xfrm>
            <a:off x="9241949" y="6217920"/>
            <a:ext cx="7903051" cy="1085850"/>
          </a:xfrm>
          <a:prstGeom prst="rect">
            <a:avLst/>
          </a:prstGeom>
          <a:solidFill>
            <a:srgbClr val="E0FBFF"/>
          </a:solidFill>
          <a:ln/>
        </p:spPr>
      </p:sp>
      <p:sp>
        <p:nvSpPr>
          <p:cNvPr id="21" name="Text 19"/>
          <p:cNvSpPr/>
          <p:nvPr/>
        </p:nvSpPr>
        <p:spPr>
          <a:xfrm>
            <a:off x="9508649" y="6446520"/>
            <a:ext cx="7606743"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4D4B4C"/>
                </a:solidFill>
                <a:latin typeface="Space Grotesk" pitchFamily="34" charset="0"/>
                <a:ea typeface="Space Grotesk" pitchFamily="34" charset="-122"/>
                <a:cs typeface="Space Grotesk" pitchFamily="34" charset="-120"/>
              </a:rPr>
              <a:t>Dato clave · </a:t>
            </a:r>
            <a:pPr algn="l" indent="0" marL="0">
              <a:lnSpc>
                <a:spcPct val="150000"/>
              </a:lnSpc>
              <a:buNone/>
            </a:pPr>
            <a:r>
              <a:rPr lang="en-US" sz="1650" dirty="0">
                <a:solidFill>
                  <a:srgbClr val="4D4B4C"/>
                </a:solidFill>
                <a:highlight>
                  <a:srgbClr val="E0FBFF"/>
                </a:highlight>
                <a:latin typeface="Space Grotesk" pitchFamily="34" charset="0"/>
                <a:ea typeface="Space Grotesk" pitchFamily="34" charset="-122"/>
                <a:cs typeface="Space Grotesk" pitchFamily="34" charset="-120"/>
              </a:rPr>
              <a:t>Fraude resuelto en menos de 200 ms con visibilidad interbancaria — imposible en el modelo fragmentado.</a:t>
            </a:r>
            <a:endParaRPr lang="en-US" sz="1650" dirty="0"/>
          </a:p>
        </p:txBody>
      </p:sp>
      <p:pic>
        <p:nvPicPr>
          <p:cNvPr id="22"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23" name="Text 20"/>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7400085"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FASE 3 DE 4</a:t>
            </a:r>
            <a:endParaRPr lang="en-US" sz="1500" dirty="0"/>
          </a:p>
        </p:txBody>
      </p:sp>
      <p:sp>
        <p:nvSpPr>
          <p:cNvPr id="3" name="Text 1"/>
          <p:cNvSpPr/>
          <p:nvPr/>
        </p:nvSpPr>
        <p:spPr>
          <a:xfrm>
            <a:off x="1143000" y="1562100"/>
            <a:ext cx="7400085" cy="582136"/>
          </a:xfrm>
          <a:prstGeom prst="rect">
            <a:avLst/>
          </a:prstGeom>
          <a:noFill/>
          <a:ln/>
        </p:spPr>
        <p:txBody>
          <a:bodyPr wrap="square" lIns="25400" tIns="25400" rIns="25400" bIns="25400" rtlCol="0" anchor="t">
            <a:normAutofit/>
          </a:bodyPr>
          <a:lstStyle/>
          <a:p>
            <a:pPr algn="l" indent="0" marL="0">
              <a:lnSpc>
                <a:spcPct val="101994"/>
              </a:lnSpc>
              <a:buNone/>
            </a:pPr>
            <a:r>
              <a:rPr lang="en-US" sz="4200" b="1" spc="-63" kern="0" dirty="0">
                <a:solidFill>
                  <a:srgbClr val="4D4B4C"/>
                </a:solidFill>
                <a:latin typeface="Space Grotesk" pitchFamily="34" charset="0"/>
                <a:ea typeface="Space Grotesk" pitchFamily="34" charset="-122"/>
                <a:cs typeface="Space Grotesk" pitchFamily="34" charset="-120"/>
              </a:rPr>
              <a:t>Almacenamiento polilítico</a:t>
            </a:r>
            <a:endParaRPr lang="en-US" sz="4200" dirty="0"/>
          </a:p>
        </p:txBody>
      </p:sp>
      <p:sp>
        <p:nvSpPr>
          <p:cNvPr id="4" name="Text 2"/>
          <p:cNvSpPr/>
          <p:nvPr/>
        </p:nvSpPr>
        <p:spPr>
          <a:xfrm>
            <a:off x="1143000" y="2410936"/>
            <a:ext cx="6867525" cy="1158240"/>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6B6869"/>
                </a:solidFill>
                <a:latin typeface="Space Grotesk" pitchFamily="34" charset="0"/>
                <a:ea typeface="Space Grotesk" pitchFamily="34" charset="-122"/>
                <a:cs typeface="Space Grotesk" pitchFamily="34" charset="-120"/>
              </a:rPr>
              <a:t>Cada tecnología opera dentro de su sweet spot de latencia y costo. Una sola base de datos no sirve para todo.</a:t>
            </a:r>
            <a:endParaRPr lang="en-US" sz="2100" dirty="0"/>
          </a:p>
        </p:txBody>
      </p:sp>
      <p:sp>
        <p:nvSpPr>
          <p:cNvPr id="5" name="Text 3"/>
          <p:cNvSpPr/>
          <p:nvPr/>
        </p:nvSpPr>
        <p:spPr>
          <a:xfrm>
            <a:off x="1143000" y="7620000"/>
            <a:ext cx="2354580" cy="1657350"/>
          </a:xfrm>
          <a:prstGeom prst="rect">
            <a:avLst/>
          </a:prstGeom>
          <a:noFill/>
          <a:ln/>
        </p:spPr>
        <p:txBody>
          <a:bodyPr wrap="square" lIns="25400" tIns="25400" rIns="25400" bIns="25400" rtlCol="0" anchor="t">
            <a:normAutofit/>
          </a:bodyPr>
          <a:lstStyle/>
          <a:p>
            <a:pPr algn="l" indent="0" marL="0">
              <a:lnSpc>
                <a:spcPct val="85000"/>
              </a:lnSpc>
              <a:buNone/>
            </a:pPr>
            <a:r>
              <a:rPr lang="en-US" sz="15000" b="1" spc="-450" kern="0" dirty="0">
                <a:solidFill>
                  <a:srgbClr val="00E1FF"/>
                </a:solidFill>
                <a:latin typeface="Space Grotesk" pitchFamily="34" charset="0"/>
                <a:ea typeface="Space Grotesk" pitchFamily="34" charset="-122"/>
                <a:cs typeface="Space Grotesk" pitchFamily="34" charset="-120"/>
              </a:rPr>
              <a:t>03</a:t>
            </a:r>
            <a:endParaRPr lang="en-US" sz="15000" dirty="0"/>
          </a:p>
        </p:txBody>
      </p:sp>
      <p:sp>
        <p:nvSpPr>
          <p:cNvPr id="6" name="Text 4"/>
          <p:cNvSpPr/>
          <p:nvPr/>
        </p:nvSpPr>
        <p:spPr>
          <a:xfrm>
            <a:off x="3514249" y="8114188"/>
            <a:ext cx="1375886" cy="668973"/>
          </a:xfrm>
          <a:prstGeom prst="rect">
            <a:avLst/>
          </a:prstGeom>
          <a:noFill/>
          <a:ln/>
        </p:spPr>
        <p:txBody>
          <a:bodyPr wrap="square" lIns="25400" tIns="25400" rIns="25400" bIns="25400" rtlCol="0" anchor="t">
            <a:normAutofit/>
          </a:bodyPr>
          <a:lstStyle/>
          <a:p>
            <a:pPr algn="l" indent="0" marL="0">
              <a:lnSpc>
                <a:spcPct val="91991"/>
              </a:lnSpc>
              <a:buNone/>
            </a:pPr>
            <a:r>
              <a:rPr lang="en-US" sz="2700" b="1" spc="54" kern="0" dirty="0">
                <a:solidFill>
                  <a:srgbClr val="00E1FF"/>
                </a:solidFill>
                <a:latin typeface="Space Grotesk" pitchFamily="34" charset="0"/>
                <a:ea typeface="Space Grotesk" pitchFamily="34" charset="-122"/>
                <a:cs typeface="Space Grotesk" pitchFamily="34" charset="-120"/>
              </a:rPr>
              <a:t>HANDS ON.</a:t>
            </a:r>
            <a:endParaRPr lang="en-US" sz="2700" dirty="0"/>
          </a:p>
        </p:txBody>
      </p:sp>
      <p:sp>
        <p:nvSpPr>
          <p:cNvPr id="7" name="Text 5"/>
          <p:cNvSpPr/>
          <p:nvPr/>
        </p:nvSpPr>
        <p:spPr>
          <a:xfrm>
            <a:off x="9241949" y="1047750"/>
            <a:ext cx="8140143" cy="285750"/>
          </a:xfrm>
          <a:prstGeom prst="rect">
            <a:avLst/>
          </a:prstGeom>
          <a:noFill/>
          <a:ln/>
        </p:spPr>
        <p:txBody>
          <a:bodyPr wrap="square" lIns="25400" tIns="25400" rIns="25400" bIns="25400" rtlCol="0" anchor="t">
            <a:normAutofit/>
          </a:bodyPr>
          <a:lstStyle/>
          <a:p>
            <a:pPr algn="l" indent="0" marL="0">
              <a:buNone/>
            </a:pPr>
            <a:r>
              <a:rPr lang="en-US" sz="1500" spc="240" kern="0" dirty="0">
                <a:solidFill>
                  <a:srgbClr val="A1A0A0"/>
                </a:solidFill>
                <a:latin typeface="Space Grotesk" pitchFamily="34" charset="0"/>
                <a:ea typeface="Space Grotesk" pitchFamily="34" charset="-122"/>
                <a:cs typeface="Space Grotesk" pitchFamily="34" charset="-120"/>
              </a:rPr>
              <a:t>COMPONENTES PRINCIPALES</a:t>
            </a:r>
            <a:endParaRPr lang="en-US" sz="1500" dirty="0"/>
          </a:p>
        </p:txBody>
      </p:sp>
      <p:sp>
        <p:nvSpPr>
          <p:cNvPr id="8" name="Shape 6"/>
          <p:cNvSpPr/>
          <p:nvPr/>
        </p:nvSpPr>
        <p:spPr>
          <a:xfrm>
            <a:off x="9241949" y="2491740"/>
            <a:ext cx="7903051" cy="9525"/>
          </a:xfrm>
          <a:prstGeom prst="rect">
            <a:avLst/>
          </a:prstGeom>
          <a:solidFill>
            <a:srgbClr val="EEEEEE"/>
          </a:solidFill>
          <a:ln/>
        </p:spPr>
      </p:sp>
      <p:sp>
        <p:nvSpPr>
          <p:cNvPr id="9" name="Text 7"/>
          <p:cNvSpPr/>
          <p:nvPr/>
        </p:nvSpPr>
        <p:spPr>
          <a:xfrm>
            <a:off x="9241949" y="1714500"/>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Redis</a:t>
            </a:r>
            <a:endParaRPr lang="en-US" sz="1800" dirty="0"/>
          </a:p>
        </p:txBody>
      </p:sp>
      <p:sp>
        <p:nvSpPr>
          <p:cNvPr id="10" name="Text 8"/>
          <p:cNvSpPr/>
          <p:nvPr/>
        </p:nvSpPr>
        <p:spPr>
          <a:xfrm>
            <a:off x="11642249" y="1714500"/>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Cache sub-ms para decisiones en línea y estado de sesión.</a:t>
            </a:r>
            <a:endParaRPr lang="en-US" sz="1650" dirty="0"/>
          </a:p>
        </p:txBody>
      </p:sp>
      <p:sp>
        <p:nvSpPr>
          <p:cNvPr id="11" name="Shape 9"/>
          <p:cNvSpPr/>
          <p:nvPr/>
        </p:nvSpPr>
        <p:spPr>
          <a:xfrm>
            <a:off x="9241949" y="3583305"/>
            <a:ext cx="7903051" cy="9525"/>
          </a:xfrm>
          <a:prstGeom prst="rect">
            <a:avLst/>
          </a:prstGeom>
          <a:solidFill>
            <a:srgbClr val="EEEEEE"/>
          </a:solidFill>
          <a:ln/>
        </p:spPr>
      </p:sp>
      <p:sp>
        <p:nvSpPr>
          <p:cNvPr id="12" name="Text 10"/>
          <p:cNvSpPr/>
          <p:nvPr/>
        </p:nvSpPr>
        <p:spPr>
          <a:xfrm>
            <a:off x="9241949" y="2806065"/>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Bigtable</a:t>
            </a:r>
            <a:endParaRPr lang="en-US" sz="1800" dirty="0"/>
          </a:p>
        </p:txBody>
      </p:sp>
      <p:sp>
        <p:nvSpPr>
          <p:cNvPr id="13" name="Text 11"/>
          <p:cNvSpPr/>
          <p:nvPr/>
        </p:nvSpPr>
        <p:spPr>
          <a:xfrm>
            <a:off x="11642249" y="2806065"/>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Lookup caliente por transaction_id, ~10K ops/s por nodo.</a:t>
            </a:r>
            <a:endParaRPr lang="en-US" sz="1650" dirty="0"/>
          </a:p>
        </p:txBody>
      </p:sp>
      <p:sp>
        <p:nvSpPr>
          <p:cNvPr id="14" name="Shape 12"/>
          <p:cNvSpPr/>
          <p:nvPr/>
        </p:nvSpPr>
        <p:spPr>
          <a:xfrm>
            <a:off x="9241949" y="4674870"/>
            <a:ext cx="7903051" cy="9525"/>
          </a:xfrm>
          <a:prstGeom prst="rect">
            <a:avLst/>
          </a:prstGeom>
          <a:solidFill>
            <a:srgbClr val="EEEEEE"/>
          </a:solidFill>
          <a:ln/>
        </p:spPr>
      </p:sp>
      <p:sp>
        <p:nvSpPr>
          <p:cNvPr id="15" name="Text 13"/>
          <p:cNvSpPr/>
          <p:nvPr/>
        </p:nvSpPr>
        <p:spPr>
          <a:xfrm>
            <a:off x="9241949" y="3897630"/>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BigQuery</a:t>
            </a:r>
            <a:endParaRPr lang="en-US" sz="1800" dirty="0"/>
          </a:p>
        </p:txBody>
      </p:sp>
      <p:sp>
        <p:nvSpPr>
          <p:cNvPr id="16" name="Text 14"/>
          <p:cNvSpPr/>
          <p:nvPr/>
        </p:nvSpPr>
        <p:spPr>
          <a:xfrm>
            <a:off x="11642249" y="3897630"/>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Data warehouse con particionado por fecha y clustering por banco.</a:t>
            </a:r>
            <a:endParaRPr lang="en-US" sz="1650" dirty="0"/>
          </a:p>
        </p:txBody>
      </p:sp>
      <p:sp>
        <p:nvSpPr>
          <p:cNvPr id="17" name="Shape 15"/>
          <p:cNvSpPr/>
          <p:nvPr/>
        </p:nvSpPr>
        <p:spPr>
          <a:xfrm>
            <a:off x="9241949" y="5766435"/>
            <a:ext cx="7903051" cy="9525"/>
          </a:xfrm>
          <a:prstGeom prst="rect">
            <a:avLst/>
          </a:prstGeom>
          <a:solidFill>
            <a:srgbClr val="EEEEEE"/>
          </a:solidFill>
          <a:ln/>
        </p:spPr>
      </p:sp>
      <p:sp>
        <p:nvSpPr>
          <p:cNvPr id="18" name="Text 16"/>
          <p:cNvSpPr/>
          <p:nvPr/>
        </p:nvSpPr>
        <p:spPr>
          <a:xfrm>
            <a:off x="9241949" y="4989195"/>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Cloud Storage</a:t>
            </a:r>
            <a:endParaRPr lang="en-US" sz="1800" dirty="0"/>
          </a:p>
        </p:txBody>
      </p:sp>
      <p:sp>
        <p:nvSpPr>
          <p:cNvPr id="19" name="Text 17"/>
          <p:cNvSpPr/>
          <p:nvPr/>
        </p:nvSpPr>
        <p:spPr>
          <a:xfrm>
            <a:off x="11642249" y="4989195"/>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Data Lake en capas bronze, silver y gold con lifecycle a Nearline y Coldline.</a:t>
            </a:r>
            <a:endParaRPr lang="en-US" sz="1650" dirty="0"/>
          </a:p>
        </p:txBody>
      </p:sp>
      <p:sp>
        <p:nvSpPr>
          <p:cNvPr id="20" name="Shape 18"/>
          <p:cNvSpPr/>
          <p:nvPr/>
        </p:nvSpPr>
        <p:spPr>
          <a:xfrm>
            <a:off x="9241949" y="6195060"/>
            <a:ext cx="7903051" cy="1085850"/>
          </a:xfrm>
          <a:prstGeom prst="rect">
            <a:avLst/>
          </a:prstGeom>
          <a:solidFill>
            <a:srgbClr val="E0FBFF"/>
          </a:solidFill>
          <a:ln/>
        </p:spPr>
      </p:sp>
      <p:sp>
        <p:nvSpPr>
          <p:cNvPr id="21" name="Text 19"/>
          <p:cNvSpPr/>
          <p:nvPr/>
        </p:nvSpPr>
        <p:spPr>
          <a:xfrm>
            <a:off x="9508649" y="6423660"/>
            <a:ext cx="7606743"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4D4B4C"/>
                </a:solidFill>
                <a:latin typeface="Space Grotesk" pitchFamily="34" charset="0"/>
                <a:ea typeface="Space Grotesk" pitchFamily="34" charset="-122"/>
                <a:cs typeface="Space Grotesk" pitchFamily="34" charset="-120"/>
              </a:rPr>
              <a:t>Dato clave · </a:t>
            </a:r>
            <a:pPr algn="l" indent="0" marL="0">
              <a:lnSpc>
                <a:spcPct val="150000"/>
              </a:lnSpc>
              <a:buNone/>
            </a:pPr>
            <a:r>
              <a:rPr lang="en-US" sz="1650" dirty="0">
                <a:solidFill>
                  <a:srgbClr val="4D4B4C"/>
                </a:solidFill>
                <a:highlight>
                  <a:srgbClr val="E0FBFF"/>
                </a:highlight>
                <a:latin typeface="Space Grotesk" pitchFamily="34" charset="0"/>
                <a:ea typeface="Space Grotesk" pitchFamily="34" charset="-122"/>
                <a:cs typeface="Space Grotesk" pitchFamily="34" charset="-120"/>
              </a:rPr>
              <a:t>Lifecycle automático: bronze a Nearline a los 30 días, Coldline al año. Ahorro 50–80% a largo plazo.</a:t>
            </a:r>
            <a:endParaRPr lang="en-US" sz="1650" dirty="0"/>
          </a:p>
        </p:txBody>
      </p:sp>
      <p:pic>
        <p:nvPicPr>
          <p:cNvPr id="22"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23" name="Text 20"/>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7400085"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FASE 4 DE 4</a:t>
            </a:r>
            <a:endParaRPr lang="en-US" sz="1500" dirty="0"/>
          </a:p>
        </p:txBody>
      </p:sp>
      <p:sp>
        <p:nvSpPr>
          <p:cNvPr id="3" name="Text 1"/>
          <p:cNvSpPr/>
          <p:nvPr/>
        </p:nvSpPr>
        <p:spPr>
          <a:xfrm>
            <a:off x="1143000" y="1562100"/>
            <a:ext cx="7400085" cy="582136"/>
          </a:xfrm>
          <a:prstGeom prst="rect">
            <a:avLst/>
          </a:prstGeom>
          <a:noFill/>
          <a:ln/>
        </p:spPr>
        <p:txBody>
          <a:bodyPr wrap="square" lIns="25400" tIns="25400" rIns="25400" bIns="25400" rtlCol="0" anchor="t">
            <a:normAutofit/>
          </a:bodyPr>
          <a:lstStyle/>
          <a:p>
            <a:pPr algn="l" indent="0" marL="0">
              <a:lnSpc>
                <a:spcPct val="101994"/>
              </a:lnSpc>
              <a:buNone/>
            </a:pPr>
            <a:r>
              <a:rPr lang="en-US" sz="4200" b="1" spc="-63" kern="0" dirty="0">
                <a:solidFill>
                  <a:srgbClr val="4D4B4C"/>
                </a:solidFill>
                <a:latin typeface="Space Grotesk" pitchFamily="34" charset="0"/>
                <a:ea typeface="Space Grotesk" pitchFamily="34" charset="-122"/>
                <a:cs typeface="Space Grotesk" pitchFamily="34" charset="-120"/>
              </a:rPr>
              <a:t>Servicio y consumo</a:t>
            </a:r>
            <a:endParaRPr lang="en-US" sz="4200" dirty="0"/>
          </a:p>
        </p:txBody>
      </p:sp>
      <p:sp>
        <p:nvSpPr>
          <p:cNvPr id="4" name="Text 2"/>
          <p:cNvSpPr/>
          <p:nvPr/>
        </p:nvSpPr>
        <p:spPr>
          <a:xfrm>
            <a:off x="1143000" y="2410936"/>
            <a:ext cx="6867525" cy="1158240"/>
          </a:xfrm>
          <a:prstGeom prst="rect">
            <a:avLst/>
          </a:prstGeom>
          <a:noFill/>
          <a:ln/>
        </p:spPr>
        <p:txBody>
          <a:bodyPr wrap="square" lIns="25400" tIns="25400" rIns="25400" bIns="25400" rtlCol="0" anchor="t">
            <a:normAutofit/>
          </a:bodyPr>
          <a:lstStyle/>
          <a:p>
            <a:pPr algn="l" indent="0" marL="0">
              <a:lnSpc>
                <a:spcPct val="140000"/>
              </a:lnSpc>
              <a:buNone/>
            </a:pPr>
            <a:r>
              <a:rPr lang="en-US" sz="2100" dirty="0">
                <a:solidFill>
                  <a:srgbClr val="6B6869"/>
                </a:solidFill>
                <a:latin typeface="Space Grotesk" pitchFamily="34" charset="0"/>
                <a:ea typeface="Space Grotesk" pitchFamily="34" charset="-122"/>
                <a:cs typeface="Space Grotesk" pitchFamily="34" charset="-120"/>
              </a:rPr>
              <a:t>Entregar los datos al banco correcto, al regulador y al cliente final — cada uno con su propia latencia y ritmo.</a:t>
            </a:r>
            <a:endParaRPr lang="en-US" sz="2100" dirty="0"/>
          </a:p>
        </p:txBody>
      </p:sp>
      <p:sp>
        <p:nvSpPr>
          <p:cNvPr id="5" name="Text 3"/>
          <p:cNvSpPr/>
          <p:nvPr/>
        </p:nvSpPr>
        <p:spPr>
          <a:xfrm>
            <a:off x="1143000" y="7620000"/>
            <a:ext cx="2407920" cy="1657350"/>
          </a:xfrm>
          <a:prstGeom prst="rect">
            <a:avLst/>
          </a:prstGeom>
          <a:noFill/>
          <a:ln/>
        </p:spPr>
        <p:txBody>
          <a:bodyPr wrap="square" lIns="25400" tIns="25400" rIns="25400" bIns="25400" rtlCol="0" anchor="t">
            <a:normAutofit/>
          </a:bodyPr>
          <a:lstStyle/>
          <a:p>
            <a:pPr algn="l" indent="0" marL="0">
              <a:lnSpc>
                <a:spcPct val="85000"/>
              </a:lnSpc>
              <a:buNone/>
            </a:pPr>
            <a:r>
              <a:rPr lang="en-US" sz="15000" b="1" spc="-450" kern="0" dirty="0">
                <a:solidFill>
                  <a:srgbClr val="00E1FF"/>
                </a:solidFill>
                <a:latin typeface="Space Grotesk" pitchFamily="34" charset="0"/>
                <a:ea typeface="Space Grotesk" pitchFamily="34" charset="-122"/>
                <a:cs typeface="Space Grotesk" pitchFamily="34" charset="-120"/>
              </a:rPr>
              <a:t>04</a:t>
            </a:r>
            <a:endParaRPr lang="en-US" sz="15000" dirty="0"/>
          </a:p>
        </p:txBody>
      </p:sp>
      <p:sp>
        <p:nvSpPr>
          <p:cNvPr id="6" name="Text 4"/>
          <p:cNvSpPr/>
          <p:nvPr/>
        </p:nvSpPr>
        <p:spPr>
          <a:xfrm>
            <a:off x="3567589" y="8114188"/>
            <a:ext cx="1375886" cy="668973"/>
          </a:xfrm>
          <a:prstGeom prst="rect">
            <a:avLst/>
          </a:prstGeom>
          <a:noFill/>
          <a:ln/>
        </p:spPr>
        <p:txBody>
          <a:bodyPr wrap="square" lIns="25400" tIns="25400" rIns="25400" bIns="25400" rtlCol="0" anchor="t">
            <a:normAutofit/>
          </a:bodyPr>
          <a:lstStyle/>
          <a:p>
            <a:pPr algn="l" indent="0" marL="0">
              <a:lnSpc>
                <a:spcPct val="91991"/>
              </a:lnSpc>
              <a:buNone/>
            </a:pPr>
            <a:r>
              <a:rPr lang="en-US" sz="2700" b="1" spc="54" kern="0" dirty="0">
                <a:solidFill>
                  <a:srgbClr val="00E1FF"/>
                </a:solidFill>
                <a:latin typeface="Space Grotesk" pitchFamily="34" charset="0"/>
                <a:ea typeface="Space Grotesk" pitchFamily="34" charset="-122"/>
                <a:cs typeface="Space Grotesk" pitchFamily="34" charset="-120"/>
              </a:rPr>
              <a:t>HANDS ON.</a:t>
            </a:r>
            <a:endParaRPr lang="en-US" sz="2700" dirty="0"/>
          </a:p>
        </p:txBody>
      </p:sp>
      <p:sp>
        <p:nvSpPr>
          <p:cNvPr id="7" name="Text 5"/>
          <p:cNvSpPr/>
          <p:nvPr/>
        </p:nvSpPr>
        <p:spPr>
          <a:xfrm>
            <a:off x="9241949" y="1047750"/>
            <a:ext cx="8140143" cy="285750"/>
          </a:xfrm>
          <a:prstGeom prst="rect">
            <a:avLst/>
          </a:prstGeom>
          <a:noFill/>
          <a:ln/>
        </p:spPr>
        <p:txBody>
          <a:bodyPr wrap="square" lIns="25400" tIns="25400" rIns="25400" bIns="25400" rtlCol="0" anchor="t">
            <a:normAutofit/>
          </a:bodyPr>
          <a:lstStyle/>
          <a:p>
            <a:pPr algn="l" indent="0" marL="0">
              <a:buNone/>
            </a:pPr>
            <a:r>
              <a:rPr lang="en-US" sz="1500" spc="240" kern="0" dirty="0">
                <a:solidFill>
                  <a:srgbClr val="A1A0A0"/>
                </a:solidFill>
                <a:latin typeface="Space Grotesk" pitchFamily="34" charset="0"/>
                <a:ea typeface="Space Grotesk" pitchFamily="34" charset="-122"/>
                <a:cs typeface="Space Grotesk" pitchFamily="34" charset="-120"/>
              </a:rPr>
              <a:t>COMPONENTES PRINCIPALES</a:t>
            </a:r>
            <a:endParaRPr lang="en-US" sz="1500" dirty="0"/>
          </a:p>
        </p:txBody>
      </p:sp>
      <p:sp>
        <p:nvSpPr>
          <p:cNvPr id="8" name="Shape 6"/>
          <p:cNvSpPr/>
          <p:nvPr/>
        </p:nvSpPr>
        <p:spPr>
          <a:xfrm>
            <a:off x="9241949" y="2491740"/>
            <a:ext cx="7903051" cy="9525"/>
          </a:xfrm>
          <a:prstGeom prst="rect">
            <a:avLst/>
          </a:prstGeom>
          <a:solidFill>
            <a:srgbClr val="EEEEEE"/>
          </a:solidFill>
          <a:ln/>
        </p:spPr>
      </p:sp>
      <p:sp>
        <p:nvSpPr>
          <p:cNvPr id="9" name="Text 7"/>
          <p:cNvSpPr/>
          <p:nvPr/>
        </p:nvSpPr>
        <p:spPr>
          <a:xfrm>
            <a:off x="9241949" y="1714500"/>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Fan-out Pub/Sub</a:t>
            </a:r>
            <a:endParaRPr lang="en-US" sz="1800" dirty="0"/>
          </a:p>
        </p:txBody>
      </p:sp>
      <p:sp>
        <p:nvSpPr>
          <p:cNvPr id="10" name="Text 8"/>
          <p:cNvSpPr/>
          <p:nvPr/>
        </p:nvSpPr>
        <p:spPr>
          <a:xfrm>
            <a:off x="11642249" y="1714500"/>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12 suscripciones filtradas por bank_entity; cada banco consume a su ritmo.</a:t>
            </a:r>
            <a:endParaRPr lang="en-US" sz="1650" dirty="0"/>
          </a:p>
        </p:txBody>
      </p:sp>
      <p:sp>
        <p:nvSpPr>
          <p:cNvPr id="11" name="Shape 9"/>
          <p:cNvSpPr/>
          <p:nvPr/>
        </p:nvSpPr>
        <p:spPr>
          <a:xfrm>
            <a:off x="9241949" y="3583305"/>
            <a:ext cx="7903051" cy="9525"/>
          </a:xfrm>
          <a:prstGeom prst="rect">
            <a:avLst/>
          </a:prstGeom>
          <a:solidFill>
            <a:srgbClr val="EEEEEE"/>
          </a:solidFill>
          <a:ln/>
        </p:spPr>
      </p:sp>
      <p:sp>
        <p:nvSpPr>
          <p:cNvPr id="12" name="Text 10"/>
          <p:cNvSpPr/>
          <p:nvPr/>
        </p:nvSpPr>
        <p:spPr>
          <a:xfrm>
            <a:off x="9241949" y="2806065"/>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BFF Cloud Run</a:t>
            </a:r>
            <a:endParaRPr lang="en-US" sz="1800" dirty="0"/>
          </a:p>
        </p:txBody>
      </p:sp>
      <p:sp>
        <p:nvSpPr>
          <p:cNvPr id="13" name="Text 11"/>
          <p:cNvSpPr/>
          <p:nvPr/>
        </p:nvSpPr>
        <p:spPr>
          <a:xfrm>
            <a:off x="11642249" y="2806065"/>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APIs de consulta, score y pronóstico. Scale-to-zero fuera de horario pico.</a:t>
            </a:r>
            <a:endParaRPr lang="en-US" sz="1650" dirty="0"/>
          </a:p>
        </p:txBody>
      </p:sp>
      <p:sp>
        <p:nvSpPr>
          <p:cNvPr id="14" name="Shape 12"/>
          <p:cNvSpPr/>
          <p:nvPr/>
        </p:nvSpPr>
        <p:spPr>
          <a:xfrm>
            <a:off x="9241949" y="4674870"/>
            <a:ext cx="7903051" cy="9525"/>
          </a:xfrm>
          <a:prstGeom prst="rect">
            <a:avLst/>
          </a:prstGeom>
          <a:solidFill>
            <a:srgbClr val="EEEEEE"/>
          </a:solidFill>
          <a:ln/>
        </p:spPr>
      </p:sp>
      <p:sp>
        <p:nvSpPr>
          <p:cNvPr id="15" name="Text 13"/>
          <p:cNvSpPr/>
          <p:nvPr/>
        </p:nvSpPr>
        <p:spPr>
          <a:xfrm>
            <a:off x="9241949" y="3897630"/>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Looker Studio</a:t>
            </a:r>
            <a:endParaRPr lang="en-US" sz="1800" dirty="0"/>
          </a:p>
        </p:txBody>
      </p:sp>
      <p:sp>
        <p:nvSpPr>
          <p:cNvPr id="16" name="Text 14"/>
          <p:cNvSpPr/>
          <p:nvPr/>
        </p:nvSpPr>
        <p:spPr>
          <a:xfrm>
            <a:off x="11642249" y="3897630"/>
            <a:ext cx="5667834" cy="62484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Dashboards analíticos nativos sobre BigQuery, sin ETL intermedio.</a:t>
            </a:r>
            <a:endParaRPr lang="en-US" sz="1650" dirty="0"/>
          </a:p>
        </p:txBody>
      </p:sp>
      <p:sp>
        <p:nvSpPr>
          <p:cNvPr id="17" name="Shape 15"/>
          <p:cNvSpPr/>
          <p:nvPr/>
        </p:nvSpPr>
        <p:spPr>
          <a:xfrm>
            <a:off x="9241949" y="5484495"/>
            <a:ext cx="7903051" cy="9525"/>
          </a:xfrm>
          <a:prstGeom prst="rect">
            <a:avLst/>
          </a:prstGeom>
          <a:solidFill>
            <a:srgbClr val="EEEEEE"/>
          </a:solidFill>
          <a:ln/>
        </p:spPr>
      </p:sp>
      <p:sp>
        <p:nvSpPr>
          <p:cNvPr id="18" name="Text 16"/>
          <p:cNvSpPr/>
          <p:nvPr/>
        </p:nvSpPr>
        <p:spPr>
          <a:xfrm>
            <a:off x="9241949" y="4989195"/>
            <a:ext cx="2171700" cy="342900"/>
          </a:xfrm>
          <a:prstGeom prst="rect">
            <a:avLst/>
          </a:prstGeom>
          <a:noFill/>
          <a:ln/>
        </p:spPr>
        <p:txBody>
          <a:bodyPr wrap="square" lIns="25400" tIns="25400" rIns="25400" bIns="25400" rtlCol="0" anchor="t">
            <a:normAutofit/>
          </a:bodyPr>
          <a:lstStyle/>
          <a:p>
            <a:pPr algn="l" indent="0" marL="0">
              <a:buNone/>
            </a:pPr>
            <a:r>
              <a:rPr lang="en-US" sz="1800" b="1" spc="-18" kern="0" dirty="0">
                <a:solidFill>
                  <a:srgbClr val="00B8D4"/>
                </a:solidFill>
                <a:latin typeface="Space Grotesk" pitchFamily="34" charset="0"/>
                <a:ea typeface="Space Grotesk" pitchFamily="34" charset="-122"/>
                <a:cs typeface="Space Grotesk" pitchFamily="34" charset="-120"/>
              </a:rPr>
              <a:t>Consola regulador</a:t>
            </a:r>
            <a:endParaRPr lang="en-US" sz="1800" dirty="0"/>
          </a:p>
        </p:txBody>
      </p:sp>
      <p:sp>
        <p:nvSpPr>
          <p:cNvPr id="19" name="Text 17"/>
          <p:cNvSpPr/>
          <p:nvPr/>
        </p:nvSpPr>
        <p:spPr>
          <a:xfrm>
            <a:off x="11642249" y="4989195"/>
            <a:ext cx="5667834" cy="331470"/>
          </a:xfrm>
          <a:prstGeom prst="rect">
            <a:avLst/>
          </a:prstGeom>
          <a:noFill/>
          <a:ln/>
        </p:spPr>
        <p:txBody>
          <a:bodyPr wrap="square" lIns="25400" tIns="25400" rIns="25400" bIns="25400" rtlCol="0" anchor="t">
            <a:normAutofit/>
          </a:bodyPr>
          <a:lstStyle/>
          <a:p>
            <a:pPr algn="l" indent="0" marL="0">
              <a:lnSpc>
                <a:spcPct val="140000"/>
              </a:lnSpc>
              <a:buNone/>
            </a:pPr>
            <a:r>
              <a:rPr lang="en-US" sz="1650" dirty="0">
                <a:solidFill>
                  <a:srgbClr val="4D4B4C"/>
                </a:solidFill>
                <a:latin typeface="Space Grotesk" pitchFamily="34" charset="0"/>
                <a:ea typeface="Space Grotesk" pitchFamily="34" charset="-122"/>
                <a:cs typeface="Space Grotesk" pitchFamily="34" charset="-120"/>
              </a:rPr>
              <a:t>Vistas consolidadas con linaje y acceso auditado.</a:t>
            </a:r>
            <a:endParaRPr lang="en-US" sz="1650" dirty="0"/>
          </a:p>
        </p:txBody>
      </p:sp>
      <p:sp>
        <p:nvSpPr>
          <p:cNvPr id="20" name="Shape 18"/>
          <p:cNvSpPr/>
          <p:nvPr/>
        </p:nvSpPr>
        <p:spPr>
          <a:xfrm>
            <a:off x="9241949" y="5913120"/>
            <a:ext cx="7903051" cy="1085850"/>
          </a:xfrm>
          <a:prstGeom prst="rect">
            <a:avLst/>
          </a:prstGeom>
          <a:solidFill>
            <a:srgbClr val="E0FBFF"/>
          </a:solidFill>
          <a:ln/>
        </p:spPr>
      </p:sp>
      <p:sp>
        <p:nvSpPr>
          <p:cNvPr id="21" name="Text 19"/>
          <p:cNvSpPr/>
          <p:nvPr/>
        </p:nvSpPr>
        <p:spPr>
          <a:xfrm>
            <a:off x="9508649" y="6141720"/>
            <a:ext cx="7606743" cy="666750"/>
          </a:xfrm>
          <a:prstGeom prst="rect">
            <a:avLst/>
          </a:prstGeom>
          <a:noFill/>
          <a:ln/>
        </p:spPr>
        <p:txBody>
          <a:bodyPr wrap="square" lIns="25400" tIns="25400" rIns="25400" bIns="25400" rtlCol="0" anchor="t">
            <a:normAutofit/>
          </a:bodyPr>
          <a:lstStyle/>
          <a:p>
            <a:pPr algn="l" indent="0" marL="0">
              <a:lnSpc>
                <a:spcPct val="150000"/>
              </a:lnSpc>
              <a:buNone/>
            </a:pPr>
            <a:r>
              <a:rPr lang="en-US" sz="1650" b="1" dirty="0">
                <a:solidFill>
                  <a:srgbClr val="4D4B4C"/>
                </a:solidFill>
                <a:latin typeface="Space Grotesk" pitchFamily="34" charset="0"/>
                <a:ea typeface="Space Grotesk" pitchFamily="34" charset="-122"/>
                <a:cs typeface="Space Grotesk" pitchFamily="34" charset="-120"/>
              </a:rPr>
              <a:t>Dato clave · </a:t>
            </a:r>
            <a:pPr algn="l" indent="0" marL="0">
              <a:lnSpc>
                <a:spcPct val="150000"/>
              </a:lnSpc>
              <a:buNone/>
            </a:pPr>
            <a:r>
              <a:rPr lang="en-US" sz="1650" dirty="0">
                <a:solidFill>
                  <a:srgbClr val="4D4B4C"/>
                </a:solidFill>
                <a:highlight>
                  <a:srgbClr val="E0FBFF"/>
                </a:highlight>
                <a:latin typeface="Space Grotesk" pitchFamily="34" charset="0"/>
                <a:ea typeface="Space Grotesk" pitchFamily="34" charset="-122"/>
                <a:cs typeface="Space Grotesk" pitchFamily="34" charset="-120"/>
              </a:rPr>
              <a:t>Frescura típica en BigQuery de 2 a 5 segundos desde el evento; KPI exigía menos de 10 s.</a:t>
            </a:r>
            <a:endParaRPr lang="en-US" sz="1650" dirty="0"/>
          </a:p>
        </p:txBody>
      </p:sp>
      <p:pic>
        <p:nvPicPr>
          <p:cNvPr id="22"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23" name="Text 20"/>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229600" cy="10287000"/>
          </a:xfrm>
          <a:prstGeom prst="rect">
            <a:avLst/>
          </a:prstGeom>
          <a:solidFill>
            <a:srgbClr val="00E1FF"/>
          </a:solidFill>
          <a:ln/>
        </p:spPr>
      </p:sp>
      <p:sp>
        <p:nvSpPr>
          <p:cNvPr id="3" name="Text 1"/>
          <p:cNvSpPr/>
          <p:nvPr/>
        </p:nvSpPr>
        <p:spPr>
          <a:xfrm>
            <a:off x="685800" y="1047750"/>
            <a:ext cx="706374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CAPÍTULO II · PRESENTA SEBASTIÁN</a:t>
            </a:r>
            <a:endParaRPr lang="en-US" sz="1500" dirty="0"/>
          </a:p>
        </p:txBody>
      </p:sp>
      <p:sp>
        <p:nvSpPr>
          <p:cNvPr id="4" name="Text 2"/>
          <p:cNvSpPr/>
          <p:nvPr/>
        </p:nvSpPr>
        <p:spPr>
          <a:xfrm>
            <a:off x="685800" y="1714500"/>
            <a:ext cx="7063740" cy="2136458"/>
          </a:xfrm>
          <a:prstGeom prst="rect">
            <a:avLst/>
          </a:prstGeom>
          <a:noFill/>
          <a:ln/>
        </p:spPr>
        <p:txBody>
          <a:bodyPr wrap="square" lIns="25400" tIns="25400" rIns="25400" bIns="25400" rtlCol="0" anchor="t">
            <a:normAutofit/>
          </a:bodyPr>
          <a:lstStyle/>
          <a:p>
            <a:pPr algn="l" indent="0" marL="0">
              <a:lnSpc>
                <a:spcPct val="101991"/>
              </a:lnSpc>
              <a:buNone/>
            </a:pPr>
            <a:r>
              <a:rPr lang="en-US" sz="5400" b="1" spc="-108" kern="0" dirty="0">
                <a:solidFill>
                  <a:srgbClr val="4D4B4C"/>
                </a:solidFill>
                <a:latin typeface="Space Grotesk" pitchFamily="34" charset="0"/>
                <a:ea typeface="Space Grotesk" pitchFamily="34" charset="-122"/>
                <a:cs typeface="Space Grotesk" pitchFamily="34" charset="-120"/>
              </a:rPr>
              <a:t>Implementación detallada de la </a:t>
            </a:r>
            <a:pPr algn="l" indent="0" marL="0">
              <a:lnSpc>
                <a:spcPct val="101991"/>
              </a:lnSpc>
              <a:buNone/>
            </a:pPr>
            <a:r>
              <a:rPr lang="en-US" sz="5400" spc="-108" kern="0" dirty="0">
                <a:solidFill>
                  <a:srgbClr val="4D4B4C"/>
                </a:solidFill>
                <a:latin typeface="Space Grotesk" pitchFamily="34" charset="0"/>
                <a:ea typeface="Space Grotesk" pitchFamily="34" charset="-122"/>
                <a:cs typeface="Space Grotesk" pitchFamily="34" charset="-120"/>
              </a:rPr>
              <a:t>arquitectura</a:t>
            </a:r>
            <a:endParaRPr lang="en-US" sz="5400" dirty="0"/>
          </a:p>
        </p:txBody>
      </p:sp>
      <p:sp>
        <p:nvSpPr>
          <p:cNvPr id="5" name="Text 3"/>
          <p:cNvSpPr/>
          <p:nvPr/>
        </p:nvSpPr>
        <p:spPr>
          <a:xfrm>
            <a:off x="589597" y="8468042"/>
            <a:ext cx="7261754" cy="809307"/>
          </a:xfrm>
          <a:prstGeom prst="rect">
            <a:avLst/>
          </a:prstGeom>
          <a:noFill/>
          <a:ln/>
        </p:spPr>
        <p:txBody>
          <a:bodyPr wrap="square" lIns="25400" tIns="25400" rIns="25400" bIns="25400" rtlCol="0" anchor="t">
            <a:normAutofit/>
          </a:bodyPr>
          <a:lstStyle/>
          <a:p>
            <a:pPr algn="l" indent="0" marL="0">
              <a:lnSpc>
                <a:spcPct val="92008"/>
              </a:lnSpc>
              <a:buNone/>
            </a:pPr>
            <a:r>
              <a:rPr lang="en-US" sz="3300" b="1" spc="66" kern="0" dirty="0">
                <a:solidFill>
                  <a:srgbClr val="4D4B4C"/>
                </a:solidFill>
                <a:latin typeface="Space Grotesk" pitchFamily="34" charset="0"/>
                <a:ea typeface="Space Grotesk" pitchFamily="34" charset="-122"/>
                <a:cs typeface="Space Grotesk" pitchFamily="34" charset="-120"/>
              </a:rPr>
              <a:t>HANDS ON.</a:t>
            </a:r>
            <a:endParaRPr lang="en-US" sz="3300" dirty="0"/>
          </a:p>
        </p:txBody>
      </p:sp>
      <p:sp>
        <p:nvSpPr>
          <p:cNvPr id="6" name="Text 4"/>
          <p:cNvSpPr/>
          <p:nvPr/>
        </p:nvSpPr>
        <p:spPr>
          <a:xfrm>
            <a:off x="11173197" y="8010525"/>
            <a:ext cx="5971804" cy="314325"/>
          </a:xfrm>
          <a:prstGeom prst="rect">
            <a:avLst/>
          </a:prstGeom>
          <a:noFill/>
          <a:ln/>
        </p:spPr>
        <p:txBody>
          <a:bodyPr wrap="square" lIns="25400" tIns="25400" rIns="25400" bIns="25400" rtlCol="0" anchor="t">
            <a:normAutofit/>
          </a:bodyPr>
          <a:lstStyle/>
          <a:p>
            <a:pPr algn="r" indent="0" marL="0">
              <a:buNone/>
            </a:pPr>
            <a:r>
              <a:rPr lang="en-US" sz="1650" spc="264" kern="0" dirty="0">
                <a:solidFill>
                  <a:srgbClr val="A1A0A0"/>
                </a:solidFill>
                <a:latin typeface="Space Grotesk" pitchFamily="34" charset="0"/>
                <a:ea typeface="Space Grotesk" pitchFamily="34" charset="-122"/>
                <a:cs typeface="Space Grotesk" pitchFamily="34" charset="-120"/>
              </a:rPr>
              <a:t>STACK GCP · IAC · ML</a:t>
            </a:r>
            <a:endParaRPr lang="en-US" sz="1650" dirty="0"/>
          </a:p>
        </p:txBody>
      </p:sp>
      <p:sp>
        <p:nvSpPr>
          <p:cNvPr id="7" name="Text 5"/>
          <p:cNvSpPr/>
          <p:nvPr/>
        </p:nvSpPr>
        <p:spPr>
          <a:xfrm>
            <a:off x="11173197" y="8477250"/>
            <a:ext cx="5971804" cy="514350"/>
          </a:xfrm>
          <a:prstGeom prst="rect">
            <a:avLst/>
          </a:prstGeom>
          <a:noFill/>
          <a:ln/>
        </p:spPr>
        <p:txBody>
          <a:bodyPr wrap="square" lIns="25400" tIns="25400" rIns="25400" bIns="25400" rtlCol="0" anchor="t">
            <a:normAutofit/>
          </a:bodyPr>
          <a:lstStyle/>
          <a:p>
            <a:pPr algn="r" indent="0" marL="0">
              <a:lnSpc>
                <a:spcPct val="125000"/>
              </a:lnSpc>
              <a:buNone/>
            </a:pPr>
            <a:r>
              <a:rPr lang="en-US" sz="3000" dirty="0">
                <a:solidFill>
                  <a:srgbClr val="4D4B4C"/>
                </a:solidFill>
                <a:latin typeface="Space Grotesk" pitchFamily="34" charset="0"/>
                <a:ea typeface="Space Grotesk" pitchFamily="34" charset="-122"/>
                <a:cs typeface="Space Grotesk" pitchFamily="34" charset="-120"/>
              </a:rPr>
              <a:t>Del diagrama a </a:t>
            </a:r>
            <a:pPr algn="r" indent="0" marL="0">
              <a:lnSpc>
                <a:spcPct val="125000"/>
              </a:lnSpc>
              <a:buNone/>
            </a:pPr>
            <a:r>
              <a:rPr lang="en-US" sz="3000" b="1" dirty="0">
                <a:solidFill>
                  <a:srgbClr val="4D4B4C"/>
                </a:solidFill>
                <a:latin typeface="Space Grotesk" pitchFamily="34" charset="0"/>
                <a:ea typeface="Space Grotesk" pitchFamily="34" charset="-122"/>
                <a:cs typeface="Space Grotesk" pitchFamily="34" charset="-120"/>
              </a:rPr>
              <a:t>terraform apply</a:t>
            </a:r>
            <a:pPr algn="r" indent="0" marL="0">
              <a:lnSpc>
                <a:spcPct val="125000"/>
              </a:lnSpc>
              <a:buNone/>
            </a:pPr>
            <a:r>
              <a:rPr lang="en-US" sz="3000" dirty="0">
                <a:solidFill>
                  <a:srgbClr val="4D4B4C"/>
                </a:solidFill>
                <a:latin typeface="Space Grotesk" pitchFamily="34" charset="0"/>
                <a:ea typeface="Space Grotesk" pitchFamily="34" charset="-122"/>
                <a:cs typeface="Space Grotesk" pitchFamily="34" charset="-120"/>
              </a:rPr>
              <a:t>.</a:t>
            </a:r>
            <a:endParaRPr lang="en-US" sz="3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6824848"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INFRAESTRUCTURA COMO CÓDIGO</a:t>
            </a:r>
            <a:endParaRPr lang="en-US" sz="1500" dirty="0"/>
          </a:p>
        </p:txBody>
      </p:sp>
      <p:sp>
        <p:nvSpPr>
          <p:cNvPr id="3" name="Text 1"/>
          <p:cNvSpPr/>
          <p:nvPr/>
        </p:nvSpPr>
        <p:spPr>
          <a:xfrm>
            <a:off x="1143000" y="1562100"/>
            <a:ext cx="6824848" cy="2020253"/>
          </a:xfrm>
          <a:prstGeom prst="rect">
            <a:avLst/>
          </a:prstGeom>
          <a:noFill/>
          <a:ln/>
        </p:spPr>
        <p:txBody>
          <a:bodyPr wrap="square" lIns="25400" tIns="25400" rIns="25400" bIns="25400" rtlCol="0" anchor="t">
            <a:normAutofit/>
          </a:bodyPr>
          <a:lstStyle/>
          <a:p>
            <a:pPr algn="l" indent="0" marL="0">
              <a:lnSpc>
                <a:spcPct val="102010"/>
              </a:lnSpc>
              <a:buNone/>
            </a:pPr>
            <a:r>
              <a:rPr lang="en-US" sz="5100" b="1" spc="-76" kern="0" dirty="0">
                <a:solidFill>
                  <a:srgbClr val="4D4B4C"/>
                </a:solidFill>
                <a:latin typeface="Space Grotesk" pitchFamily="34" charset="0"/>
                <a:ea typeface="Space Grotesk" pitchFamily="34" charset="-122"/>
                <a:cs typeface="Space Grotesk" pitchFamily="34" charset="-120"/>
              </a:rPr>
              <a:t>Seis módulos Terraform reproducibles</a:t>
            </a:r>
            <a:endParaRPr lang="en-US" sz="5100" dirty="0"/>
          </a:p>
        </p:txBody>
      </p:sp>
      <p:sp>
        <p:nvSpPr>
          <p:cNvPr id="4" name="Text 2"/>
          <p:cNvSpPr/>
          <p:nvPr/>
        </p:nvSpPr>
        <p:spPr>
          <a:xfrm>
            <a:off x="1143000" y="3963353"/>
            <a:ext cx="6824848" cy="756285"/>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6B6869"/>
                </a:solidFill>
                <a:latin typeface="Space Grotesk" pitchFamily="34" charset="0"/>
                <a:ea typeface="Space Grotesk" pitchFamily="34" charset="-122"/>
                <a:cs typeface="Space Grotesk" pitchFamily="34" charset="-120"/>
              </a:rPr>
              <a:t>Un despliegue completo corre en 12 a 15 minutos. Las aplicaciones incrementales, en menos de 5.</a:t>
            </a:r>
            <a:endParaRPr lang="en-US" sz="1950" dirty="0"/>
          </a:p>
        </p:txBody>
      </p:sp>
      <p:sp>
        <p:nvSpPr>
          <p:cNvPr id="5" name="Shape 3"/>
          <p:cNvSpPr/>
          <p:nvPr/>
        </p:nvSpPr>
        <p:spPr>
          <a:xfrm>
            <a:off x="1143000" y="5291138"/>
            <a:ext cx="2056289" cy="28575"/>
          </a:xfrm>
          <a:prstGeom prst="rect">
            <a:avLst/>
          </a:prstGeom>
          <a:solidFill>
            <a:srgbClr val="00E1FF"/>
          </a:solidFill>
          <a:ln/>
        </p:spPr>
      </p:sp>
      <p:sp>
        <p:nvSpPr>
          <p:cNvPr id="6" name="Text 4"/>
          <p:cNvSpPr/>
          <p:nvPr/>
        </p:nvSpPr>
        <p:spPr>
          <a:xfrm>
            <a:off x="1143000" y="5491163"/>
            <a:ext cx="2132489" cy="533400"/>
          </a:xfrm>
          <a:prstGeom prst="rect">
            <a:avLst/>
          </a:prstGeom>
          <a:noFill/>
          <a:ln/>
        </p:spPr>
        <p:txBody>
          <a:bodyPr wrap="square" lIns="25400" tIns="25400" rIns="25400" bIns="25400" rtlCol="0" anchor="t">
            <a:normAutofit/>
          </a:bodyPr>
          <a:lstStyle/>
          <a:p>
            <a:pPr algn="l" indent="0" marL="0">
              <a:buNone/>
            </a:pPr>
            <a:r>
              <a:rPr lang="en-US" sz="3000" b="1" spc="-60" kern="0" dirty="0">
                <a:solidFill>
                  <a:srgbClr val="00B8D4"/>
                </a:solidFill>
                <a:latin typeface="Space Grotesk" pitchFamily="34" charset="0"/>
                <a:ea typeface="Space Grotesk" pitchFamily="34" charset="-122"/>
                <a:cs typeface="Space Grotesk" pitchFamily="34" charset="-120"/>
              </a:rPr>
              <a:t>12-15 min</a:t>
            </a:r>
            <a:endParaRPr lang="en-US" sz="3000" dirty="0"/>
          </a:p>
        </p:txBody>
      </p:sp>
      <p:sp>
        <p:nvSpPr>
          <p:cNvPr id="7" name="Text 5"/>
          <p:cNvSpPr/>
          <p:nvPr/>
        </p:nvSpPr>
        <p:spPr>
          <a:xfrm>
            <a:off x="1143000" y="6043613"/>
            <a:ext cx="2132489"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A1A0A0"/>
                </a:solidFill>
                <a:latin typeface="Space Grotesk" pitchFamily="34" charset="0"/>
                <a:ea typeface="Space Grotesk" pitchFamily="34" charset="-122"/>
                <a:cs typeface="Space Grotesk" pitchFamily="34" charset="-120"/>
              </a:rPr>
              <a:t>PRIMER DEPLOY</a:t>
            </a:r>
            <a:endParaRPr lang="en-US" sz="1350" dirty="0"/>
          </a:p>
        </p:txBody>
      </p:sp>
      <p:sp>
        <p:nvSpPr>
          <p:cNvPr id="8" name="Shape 6"/>
          <p:cNvSpPr/>
          <p:nvPr/>
        </p:nvSpPr>
        <p:spPr>
          <a:xfrm>
            <a:off x="3427889" y="5291138"/>
            <a:ext cx="2056289" cy="28575"/>
          </a:xfrm>
          <a:prstGeom prst="rect">
            <a:avLst/>
          </a:prstGeom>
          <a:solidFill>
            <a:srgbClr val="00E1FF"/>
          </a:solidFill>
          <a:ln/>
        </p:spPr>
      </p:sp>
      <p:sp>
        <p:nvSpPr>
          <p:cNvPr id="9" name="Text 7"/>
          <p:cNvSpPr/>
          <p:nvPr/>
        </p:nvSpPr>
        <p:spPr>
          <a:xfrm>
            <a:off x="3427889" y="5491163"/>
            <a:ext cx="2132489" cy="533400"/>
          </a:xfrm>
          <a:prstGeom prst="rect">
            <a:avLst/>
          </a:prstGeom>
          <a:noFill/>
          <a:ln/>
        </p:spPr>
        <p:txBody>
          <a:bodyPr wrap="square" lIns="25400" tIns="25400" rIns="25400" bIns="25400" rtlCol="0" anchor="t">
            <a:normAutofit/>
          </a:bodyPr>
          <a:lstStyle/>
          <a:p>
            <a:pPr algn="l" indent="0" marL="0">
              <a:buNone/>
            </a:pPr>
            <a:r>
              <a:rPr lang="en-US" sz="3000" b="1" spc="-60" kern="0" dirty="0">
                <a:solidFill>
                  <a:srgbClr val="00B8D4"/>
                </a:solidFill>
                <a:latin typeface="Space Grotesk" pitchFamily="34" charset="0"/>
                <a:ea typeface="Space Grotesk" pitchFamily="34" charset="-122"/>
                <a:cs typeface="Space Grotesk" pitchFamily="34" charset="-120"/>
              </a:rPr>
              <a:t>&lt; 5 min</a:t>
            </a:r>
            <a:endParaRPr lang="en-US" sz="3000" dirty="0"/>
          </a:p>
        </p:txBody>
      </p:sp>
      <p:sp>
        <p:nvSpPr>
          <p:cNvPr id="10" name="Text 8"/>
          <p:cNvSpPr/>
          <p:nvPr/>
        </p:nvSpPr>
        <p:spPr>
          <a:xfrm>
            <a:off x="3427889" y="6043613"/>
            <a:ext cx="2132489" cy="4953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A1A0A0"/>
                </a:solidFill>
                <a:latin typeface="Space Grotesk" pitchFamily="34" charset="0"/>
                <a:ea typeface="Space Grotesk" pitchFamily="34" charset="-122"/>
                <a:cs typeface="Space Grotesk" pitchFamily="34" charset="-120"/>
              </a:rPr>
              <a:t>DEPLOY INCREMENTAL</a:t>
            </a:r>
            <a:endParaRPr lang="en-US" sz="1350" dirty="0"/>
          </a:p>
        </p:txBody>
      </p:sp>
      <p:sp>
        <p:nvSpPr>
          <p:cNvPr id="11" name="Shape 9"/>
          <p:cNvSpPr/>
          <p:nvPr/>
        </p:nvSpPr>
        <p:spPr>
          <a:xfrm>
            <a:off x="5712777" y="5291138"/>
            <a:ext cx="2056289" cy="28575"/>
          </a:xfrm>
          <a:prstGeom prst="rect">
            <a:avLst/>
          </a:prstGeom>
          <a:solidFill>
            <a:srgbClr val="00E1FF"/>
          </a:solidFill>
          <a:ln/>
        </p:spPr>
      </p:sp>
      <p:sp>
        <p:nvSpPr>
          <p:cNvPr id="12" name="Text 10"/>
          <p:cNvSpPr/>
          <p:nvPr/>
        </p:nvSpPr>
        <p:spPr>
          <a:xfrm>
            <a:off x="5712777" y="5491163"/>
            <a:ext cx="2132489" cy="533400"/>
          </a:xfrm>
          <a:prstGeom prst="rect">
            <a:avLst/>
          </a:prstGeom>
          <a:noFill/>
          <a:ln/>
        </p:spPr>
        <p:txBody>
          <a:bodyPr wrap="square" lIns="25400" tIns="25400" rIns="25400" bIns="25400" rtlCol="0" anchor="t">
            <a:normAutofit/>
          </a:bodyPr>
          <a:lstStyle/>
          <a:p>
            <a:pPr algn="l" indent="0" marL="0">
              <a:buNone/>
            </a:pPr>
            <a:r>
              <a:rPr lang="en-US" sz="3000" b="1" spc="-60" kern="0" dirty="0">
                <a:solidFill>
                  <a:srgbClr val="00B8D4"/>
                </a:solidFill>
                <a:latin typeface="Space Grotesk" pitchFamily="34" charset="0"/>
                <a:ea typeface="Space Grotesk" pitchFamily="34" charset="-122"/>
                <a:cs typeface="Space Grotesk" pitchFamily="34" charset="-120"/>
              </a:rPr>
              <a:t>&lt; 20 min</a:t>
            </a:r>
            <a:endParaRPr lang="en-US" sz="3000" dirty="0"/>
          </a:p>
        </p:txBody>
      </p:sp>
      <p:sp>
        <p:nvSpPr>
          <p:cNvPr id="13" name="Text 11"/>
          <p:cNvSpPr/>
          <p:nvPr/>
        </p:nvSpPr>
        <p:spPr>
          <a:xfrm>
            <a:off x="5712777" y="6043613"/>
            <a:ext cx="2132489" cy="266700"/>
          </a:xfrm>
          <a:prstGeom prst="rect">
            <a:avLst/>
          </a:prstGeom>
          <a:noFill/>
          <a:ln/>
        </p:spPr>
        <p:txBody>
          <a:bodyPr wrap="square" lIns="25400" tIns="25400" rIns="25400" bIns="25400" rtlCol="0" anchor="t">
            <a:normAutofit/>
          </a:bodyPr>
          <a:lstStyle/>
          <a:p>
            <a:pPr algn="l" indent="0" marL="0">
              <a:buNone/>
            </a:pPr>
            <a:r>
              <a:rPr lang="en-US" sz="1350" spc="135" kern="0" dirty="0">
                <a:solidFill>
                  <a:srgbClr val="A1A0A0"/>
                </a:solidFill>
                <a:latin typeface="Space Grotesk" pitchFamily="34" charset="0"/>
                <a:ea typeface="Space Grotesk" pitchFamily="34" charset="-122"/>
                <a:cs typeface="Space Grotesk" pitchFamily="34" charset="-120"/>
              </a:rPr>
              <a:t>DESTROY &amp; RECREATE</a:t>
            </a:r>
            <a:endParaRPr lang="en-US" sz="1350" dirty="0"/>
          </a:p>
        </p:txBody>
      </p:sp>
      <p:sp>
        <p:nvSpPr>
          <p:cNvPr id="14" name="Shape 12"/>
          <p:cNvSpPr/>
          <p:nvPr/>
        </p:nvSpPr>
        <p:spPr>
          <a:xfrm>
            <a:off x="8531066" y="2340292"/>
            <a:ext cx="4192746" cy="1716405"/>
          </a:xfrm>
          <a:prstGeom prst="rect">
            <a:avLst/>
          </a:prstGeom>
          <a:solidFill>
            <a:srgbClr val="FFFFFF"/>
          </a:solidFill>
          <a:ln w="9525">
            <a:solidFill>
              <a:srgbClr val="4D4B4C"/>
            </a:solidFill>
            <a:prstDash val="solid"/>
          </a:ln>
        </p:spPr>
      </p:sp>
      <p:sp>
        <p:nvSpPr>
          <p:cNvPr id="15" name="Text 13"/>
          <p:cNvSpPr/>
          <p:nvPr/>
        </p:nvSpPr>
        <p:spPr>
          <a:xfrm>
            <a:off x="8807291" y="2578418"/>
            <a:ext cx="3749505" cy="26670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00E1FF"/>
                </a:solidFill>
                <a:latin typeface="Space Grotesk" pitchFamily="34" charset="0"/>
                <a:ea typeface="Space Grotesk" pitchFamily="34" charset="-122"/>
                <a:cs typeface="Space Grotesk" pitchFamily="34" charset="-120"/>
              </a:rPr>
              <a:t>MÓDULO 01</a:t>
            </a:r>
            <a:endParaRPr lang="en-US" sz="1350" dirty="0"/>
          </a:p>
        </p:txBody>
      </p:sp>
      <p:sp>
        <p:nvSpPr>
          <p:cNvPr id="16" name="Text 14"/>
          <p:cNvSpPr/>
          <p:nvPr/>
        </p:nvSpPr>
        <p:spPr>
          <a:xfrm>
            <a:off x="8807291" y="2902268"/>
            <a:ext cx="3749505" cy="352425"/>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4D4B4C"/>
                </a:solidFill>
                <a:latin typeface="ui-monospace" pitchFamily="34" charset="0"/>
                <a:ea typeface="ui-monospace" pitchFamily="34" charset="-122"/>
                <a:cs typeface="ui-monospace" pitchFamily="34" charset="-120"/>
              </a:rPr>
              <a:t>network</a:t>
            </a:r>
            <a:endParaRPr lang="en-US" sz="2100" dirty="0"/>
          </a:p>
        </p:txBody>
      </p:sp>
      <p:sp>
        <p:nvSpPr>
          <p:cNvPr id="17" name="Text 15"/>
          <p:cNvSpPr/>
          <p:nvPr/>
        </p:nvSpPr>
        <p:spPr>
          <a:xfrm>
            <a:off x="8807291" y="3311843"/>
            <a:ext cx="3749505" cy="544830"/>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6B6869"/>
                </a:solidFill>
                <a:latin typeface="Space Grotesk" pitchFamily="34" charset="0"/>
                <a:ea typeface="Space Grotesk" pitchFamily="34" charset="-122"/>
                <a:cs typeface="Space Grotesk" pitchFamily="34" charset="-120"/>
              </a:rPr>
              <a:t>VPC, subredes, VPC Connector, Private Service Access, Cloud NAT.</a:t>
            </a:r>
            <a:endParaRPr lang="en-US" sz="1425" dirty="0"/>
          </a:p>
        </p:txBody>
      </p:sp>
      <p:sp>
        <p:nvSpPr>
          <p:cNvPr id="18" name="Shape 16"/>
          <p:cNvSpPr/>
          <p:nvPr/>
        </p:nvSpPr>
        <p:spPr>
          <a:xfrm>
            <a:off x="12952413" y="2340292"/>
            <a:ext cx="4192746" cy="1716405"/>
          </a:xfrm>
          <a:prstGeom prst="rect">
            <a:avLst/>
          </a:prstGeom>
          <a:solidFill>
            <a:srgbClr val="F7F7F7"/>
          </a:solidFill>
          <a:ln w="9525">
            <a:solidFill>
              <a:srgbClr val="4D4B4C"/>
            </a:solidFill>
            <a:prstDash val="solid"/>
          </a:ln>
        </p:spPr>
      </p:sp>
      <p:sp>
        <p:nvSpPr>
          <p:cNvPr id="19" name="Text 17"/>
          <p:cNvSpPr/>
          <p:nvPr/>
        </p:nvSpPr>
        <p:spPr>
          <a:xfrm>
            <a:off x="13228638" y="2578418"/>
            <a:ext cx="3749505" cy="26670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00E1FF"/>
                </a:solidFill>
                <a:latin typeface="Space Grotesk" pitchFamily="34" charset="0"/>
                <a:ea typeface="Space Grotesk" pitchFamily="34" charset="-122"/>
                <a:cs typeface="Space Grotesk" pitchFamily="34" charset="-120"/>
              </a:rPr>
              <a:t>MÓDULO 02</a:t>
            </a:r>
            <a:endParaRPr lang="en-US" sz="1350" dirty="0"/>
          </a:p>
        </p:txBody>
      </p:sp>
      <p:sp>
        <p:nvSpPr>
          <p:cNvPr id="20" name="Text 18"/>
          <p:cNvSpPr/>
          <p:nvPr/>
        </p:nvSpPr>
        <p:spPr>
          <a:xfrm>
            <a:off x="13228638" y="2902268"/>
            <a:ext cx="3749505" cy="352425"/>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4D4B4C"/>
                </a:solidFill>
                <a:latin typeface="ui-monospace" pitchFamily="34" charset="0"/>
                <a:ea typeface="ui-monospace" pitchFamily="34" charset="-122"/>
                <a:cs typeface="ui-monospace" pitchFamily="34" charset="-120"/>
              </a:rPr>
              <a:t>ingesta</a:t>
            </a:r>
            <a:endParaRPr lang="en-US" sz="2100" dirty="0"/>
          </a:p>
        </p:txBody>
      </p:sp>
      <p:sp>
        <p:nvSpPr>
          <p:cNvPr id="21" name="Text 19"/>
          <p:cNvSpPr/>
          <p:nvPr/>
        </p:nvSpPr>
        <p:spPr>
          <a:xfrm>
            <a:off x="13228638" y="3311843"/>
            <a:ext cx="3749505" cy="544830"/>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6B6869"/>
                </a:solidFill>
                <a:latin typeface="Space Grotesk" pitchFamily="34" charset="0"/>
                <a:ea typeface="Space Grotesk" pitchFamily="34" charset="-122"/>
                <a:cs typeface="Space Grotesk" pitchFamily="34" charset="-120"/>
              </a:rPr>
              <a:t>Pub/Sub raw-ingest, Cloud Run ingesta, DLT y suscripciones.</a:t>
            </a:r>
            <a:endParaRPr lang="en-US" sz="1425" dirty="0"/>
          </a:p>
        </p:txBody>
      </p:sp>
      <p:sp>
        <p:nvSpPr>
          <p:cNvPr id="22" name="Shape 20"/>
          <p:cNvSpPr/>
          <p:nvPr/>
        </p:nvSpPr>
        <p:spPr>
          <a:xfrm>
            <a:off x="8531066" y="4285297"/>
            <a:ext cx="4192746" cy="1716405"/>
          </a:xfrm>
          <a:prstGeom prst="rect">
            <a:avLst/>
          </a:prstGeom>
          <a:solidFill>
            <a:srgbClr val="FFFFFF"/>
          </a:solidFill>
          <a:ln w="9525">
            <a:solidFill>
              <a:srgbClr val="4D4B4C"/>
            </a:solidFill>
            <a:prstDash val="solid"/>
          </a:ln>
        </p:spPr>
      </p:sp>
      <p:sp>
        <p:nvSpPr>
          <p:cNvPr id="23" name="Text 21"/>
          <p:cNvSpPr/>
          <p:nvPr/>
        </p:nvSpPr>
        <p:spPr>
          <a:xfrm>
            <a:off x="8807291" y="4523422"/>
            <a:ext cx="3749505" cy="26670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00E1FF"/>
                </a:solidFill>
                <a:latin typeface="Space Grotesk" pitchFamily="34" charset="0"/>
                <a:ea typeface="Space Grotesk" pitchFamily="34" charset="-122"/>
                <a:cs typeface="Space Grotesk" pitchFamily="34" charset="-120"/>
              </a:rPr>
              <a:t>MÓDULO 03</a:t>
            </a:r>
            <a:endParaRPr lang="en-US" sz="1350" dirty="0"/>
          </a:p>
        </p:txBody>
      </p:sp>
      <p:sp>
        <p:nvSpPr>
          <p:cNvPr id="24" name="Text 22"/>
          <p:cNvSpPr/>
          <p:nvPr/>
        </p:nvSpPr>
        <p:spPr>
          <a:xfrm>
            <a:off x="8807291" y="4847272"/>
            <a:ext cx="3749505" cy="352425"/>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4D4B4C"/>
                </a:solidFill>
                <a:latin typeface="ui-monospace" pitchFamily="34" charset="0"/>
                <a:ea typeface="ui-monospace" pitchFamily="34" charset="-122"/>
                <a:cs typeface="ui-monospace" pitchFamily="34" charset="-120"/>
              </a:rPr>
              <a:t>streaming</a:t>
            </a:r>
            <a:endParaRPr lang="en-US" sz="2100" dirty="0"/>
          </a:p>
        </p:txBody>
      </p:sp>
      <p:sp>
        <p:nvSpPr>
          <p:cNvPr id="25" name="Text 23"/>
          <p:cNvSpPr/>
          <p:nvPr/>
        </p:nvSpPr>
        <p:spPr>
          <a:xfrm>
            <a:off x="8807291" y="5256848"/>
            <a:ext cx="3749505" cy="544830"/>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6B6869"/>
                </a:solidFill>
                <a:latin typeface="Space Grotesk" pitchFamily="34" charset="0"/>
                <a:ea typeface="Space Grotesk" pitchFamily="34" charset="-122"/>
                <a:cs typeface="Space Grotesk" pitchFamily="34" charset="-120"/>
              </a:rPr>
              <a:t>Dataflow, Vertex AI Endpoint, Memorystore Redis, Bigtable.</a:t>
            </a:r>
            <a:endParaRPr lang="en-US" sz="1425" dirty="0"/>
          </a:p>
        </p:txBody>
      </p:sp>
      <p:sp>
        <p:nvSpPr>
          <p:cNvPr id="26" name="Shape 24"/>
          <p:cNvSpPr/>
          <p:nvPr/>
        </p:nvSpPr>
        <p:spPr>
          <a:xfrm>
            <a:off x="12952413" y="4285297"/>
            <a:ext cx="4192746" cy="1716405"/>
          </a:xfrm>
          <a:prstGeom prst="rect">
            <a:avLst/>
          </a:prstGeom>
          <a:solidFill>
            <a:srgbClr val="F7F7F7"/>
          </a:solidFill>
          <a:ln w="9525">
            <a:solidFill>
              <a:srgbClr val="4D4B4C"/>
            </a:solidFill>
            <a:prstDash val="solid"/>
          </a:ln>
        </p:spPr>
      </p:sp>
      <p:sp>
        <p:nvSpPr>
          <p:cNvPr id="27" name="Text 25"/>
          <p:cNvSpPr/>
          <p:nvPr/>
        </p:nvSpPr>
        <p:spPr>
          <a:xfrm>
            <a:off x="13228638" y="4523422"/>
            <a:ext cx="3749505" cy="26670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00E1FF"/>
                </a:solidFill>
                <a:latin typeface="Space Grotesk" pitchFamily="34" charset="0"/>
                <a:ea typeface="Space Grotesk" pitchFamily="34" charset="-122"/>
                <a:cs typeface="Space Grotesk" pitchFamily="34" charset="-120"/>
              </a:rPr>
              <a:t>MÓDULO 04</a:t>
            </a:r>
            <a:endParaRPr lang="en-US" sz="1350" dirty="0"/>
          </a:p>
        </p:txBody>
      </p:sp>
      <p:sp>
        <p:nvSpPr>
          <p:cNvPr id="28" name="Text 26"/>
          <p:cNvSpPr/>
          <p:nvPr/>
        </p:nvSpPr>
        <p:spPr>
          <a:xfrm>
            <a:off x="13228638" y="4847272"/>
            <a:ext cx="3749505" cy="352425"/>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4D4B4C"/>
                </a:solidFill>
                <a:latin typeface="ui-monospace" pitchFamily="34" charset="0"/>
                <a:ea typeface="ui-monospace" pitchFamily="34" charset="-122"/>
                <a:cs typeface="ui-monospace" pitchFamily="34" charset="-120"/>
              </a:rPr>
              <a:t>batch</a:t>
            </a:r>
            <a:endParaRPr lang="en-US" sz="2100" dirty="0"/>
          </a:p>
        </p:txBody>
      </p:sp>
      <p:sp>
        <p:nvSpPr>
          <p:cNvPr id="29" name="Text 27"/>
          <p:cNvSpPr/>
          <p:nvPr/>
        </p:nvSpPr>
        <p:spPr>
          <a:xfrm>
            <a:off x="13228638" y="5256848"/>
            <a:ext cx="3749505" cy="544830"/>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6B6869"/>
                </a:solidFill>
                <a:latin typeface="Space Grotesk" pitchFamily="34" charset="0"/>
                <a:ea typeface="Space Grotesk" pitchFamily="34" charset="-122"/>
                <a:cs typeface="Space Grotesk" pitchFamily="34" charset="-120"/>
              </a:rPr>
              <a:t>Dataproc efímero, jobs Spark MLlib, buckets temporales.</a:t>
            </a:r>
            <a:endParaRPr lang="en-US" sz="1425" dirty="0"/>
          </a:p>
        </p:txBody>
      </p:sp>
      <p:sp>
        <p:nvSpPr>
          <p:cNvPr id="30" name="Shape 28"/>
          <p:cNvSpPr/>
          <p:nvPr/>
        </p:nvSpPr>
        <p:spPr>
          <a:xfrm>
            <a:off x="8531066" y="6230302"/>
            <a:ext cx="4192746" cy="1716405"/>
          </a:xfrm>
          <a:prstGeom prst="rect">
            <a:avLst/>
          </a:prstGeom>
          <a:solidFill>
            <a:srgbClr val="FFFFFF"/>
          </a:solidFill>
          <a:ln w="9525">
            <a:solidFill>
              <a:srgbClr val="4D4B4C"/>
            </a:solidFill>
            <a:prstDash val="solid"/>
          </a:ln>
        </p:spPr>
      </p:sp>
      <p:sp>
        <p:nvSpPr>
          <p:cNvPr id="31" name="Text 29"/>
          <p:cNvSpPr/>
          <p:nvPr/>
        </p:nvSpPr>
        <p:spPr>
          <a:xfrm>
            <a:off x="8807291" y="6468427"/>
            <a:ext cx="3749505" cy="26670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00E1FF"/>
                </a:solidFill>
                <a:latin typeface="Space Grotesk" pitchFamily="34" charset="0"/>
                <a:ea typeface="Space Grotesk" pitchFamily="34" charset="-122"/>
                <a:cs typeface="Space Grotesk" pitchFamily="34" charset="-120"/>
              </a:rPr>
              <a:t>MÓDULO 05</a:t>
            </a:r>
            <a:endParaRPr lang="en-US" sz="1350" dirty="0"/>
          </a:p>
        </p:txBody>
      </p:sp>
      <p:sp>
        <p:nvSpPr>
          <p:cNvPr id="32" name="Text 30"/>
          <p:cNvSpPr/>
          <p:nvPr/>
        </p:nvSpPr>
        <p:spPr>
          <a:xfrm>
            <a:off x="8807291" y="6792277"/>
            <a:ext cx="3749505" cy="352425"/>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4D4B4C"/>
                </a:solidFill>
                <a:latin typeface="ui-monospace" pitchFamily="34" charset="0"/>
                <a:ea typeface="ui-monospace" pitchFamily="34" charset="-122"/>
                <a:cs typeface="ui-monospace" pitchFamily="34" charset="-120"/>
              </a:rPr>
              <a:t>serving</a:t>
            </a:r>
            <a:endParaRPr lang="en-US" sz="2100" dirty="0"/>
          </a:p>
        </p:txBody>
      </p:sp>
      <p:sp>
        <p:nvSpPr>
          <p:cNvPr id="33" name="Text 31"/>
          <p:cNvSpPr/>
          <p:nvPr/>
        </p:nvSpPr>
        <p:spPr>
          <a:xfrm>
            <a:off x="8807291" y="7201852"/>
            <a:ext cx="3749505" cy="544830"/>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6B6869"/>
                </a:solidFill>
                <a:latin typeface="Space Grotesk" pitchFamily="34" charset="0"/>
                <a:ea typeface="Space Grotesk" pitchFamily="34" charset="-122"/>
                <a:cs typeface="Space Grotesk" pitchFamily="34" charset="-120"/>
              </a:rPr>
              <a:t>BFF Cloud Run, APIs de consulta, fan-out a 12 suscripciones.</a:t>
            </a:r>
            <a:endParaRPr lang="en-US" sz="1425" dirty="0"/>
          </a:p>
        </p:txBody>
      </p:sp>
      <p:sp>
        <p:nvSpPr>
          <p:cNvPr id="34" name="Shape 32"/>
          <p:cNvSpPr/>
          <p:nvPr/>
        </p:nvSpPr>
        <p:spPr>
          <a:xfrm>
            <a:off x="12952413" y="6230302"/>
            <a:ext cx="4192746" cy="1716405"/>
          </a:xfrm>
          <a:prstGeom prst="rect">
            <a:avLst/>
          </a:prstGeom>
          <a:solidFill>
            <a:srgbClr val="F7F7F7"/>
          </a:solidFill>
          <a:ln w="9525">
            <a:solidFill>
              <a:srgbClr val="4D4B4C"/>
            </a:solidFill>
            <a:prstDash val="solid"/>
          </a:ln>
        </p:spPr>
      </p:sp>
      <p:sp>
        <p:nvSpPr>
          <p:cNvPr id="35" name="Text 33"/>
          <p:cNvSpPr/>
          <p:nvPr/>
        </p:nvSpPr>
        <p:spPr>
          <a:xfrm>
            <a:off x="13228638" y="6468427"/>
            <a:ext cx="3749505" cy="26670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00E1FF"/>
                </a:solidFill>
                <a:latin typeface="Space Grotesk" pitchFamily="34" charset="0"/>
                <a:ea typeface="Space Grotesk" pitchFamily="34" charset="-122"/>
                <a:cs typeface="Space Grotesk" pitchFamily="34" charset="-120"/>
              </a:rPr>
              <a:t>MÓDULO 06</a:t>
            </a:r>
            <a:endParaRPr lang="en-US" sz="1350" dirty="0"/>
          </a:p>
        </p:txBody>
      </p:sp>
      <p:sp>
        <p:nvSpPr>
          <p:cNvPr id="36" name="Text 34"/>
          <p:cNvSpPr/>
          <p:nvPr/>
        </p:nvSpPr>
        <p:spPr>
          <a:xfrm>
            <a:off x="13228638" y="6792277"/>
            <a:ext cx="3749505" cy="352425"/>
          </a:xfrm>
          <a:prstGeom prst="rect">
            <a:avLst/>
          </a:prstGeom>
          <a:noFill/>
          <a:ln/>
        </p:spPr>
        <p:txBody>
          <a:bodyPr wrap="square" lIns="25400" tIns="25400" rIns="25400" bIns="25400" rtlCol="0" anchor="t">
            <a:normAutofit/>
          </a:bodyPr>
          <a:lstStyle/>
          <a:p>
            <a:pPr algn="l" indent="0" marL="0">
              <a:buNone/>
            </a:pPr>
            <a:r>
              <a:rPr lang="en-US" sz="2100" b="1" spc="-21" kern="0" dirty="0">
                <a:solidFill>
                  <a:srgbClr val="4D4B4C"/>
                </a:solidFill>
                <a:latin typeface="ui-monospace" pitchFamily="34" charset="0"/>
                <a:ea typeface="ui-monospace" pitchFamily="34" charset="-122"/>
                <a:cs typeface="ui-monospace" pitchFamily="34" charset="-120"/>
              </a:rPr>
              <a:t>warehouse</a:t>
            </a:r>
            <a:endParaRPr lang="en-US" sz="2100" dirty="0"/>
          </a:p>
        </p:txBody>
      </p:sp>
      <p:sp>
        <p:nvSpPr>
          <p:cNvPr id="37" name="Text 35"/>
          <p:cNvSpPr/>
          <p:nvPr/>
        </p:nvSpPr>
        <p:spPr>
          <a:xfrm>
            <a:off x="13228638" y="7201852"/>
            <a:ext cx="3749505" cy="544830"/>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6B6869"/>
                </a:solidFill>
                <a:latin typeface="Space Grotesk" pitchFamily="34" charset="0"/>
                <a:ea typeface="Space Grotesk" pitchFamily="34" charset="-122"/>
                <a:cs typeface="Space Grotesk" pitchFamily="34" charset="-120"/>
              </a:rPr>
              <a:t>BigQuery particionado, Cloud Storage bronze/silver/gold.</a:t>
            </a:r>
            <a:endParaRPr lang="en-US" sz="1425" dirty="0"/>
          </a:p>
        </p:txBody>
      </p:sp>
      <p:pic>
        <p:nvPicPr>
          <p:cNvPr id="38"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39" name="Text 36"/>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1648206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PIPELINE STREAMING · DATAFLOW + BEAM 2.56</a:t>
            </a:r>
            <a:endParaRPr lang="en-US" sz="1500" dirty="0"/>
          </a:p>
        </p:txBody>
      </p:sp>
      <p:sp>
        <p:nvSpPr>
          <p:cNvPr id="3" name="Text 1"/>
          <p:cNvSpPr/>
          <p:nvPr/>
        </p:nvSpPr>
        <p:spPr>
          <a:xfrm>
            <a:off x="1143000" y="1524000"/>
            <a:ext cx="16482060" cy="866775"/>
          </a:xfrm>
          <a:prstGeom prst="rect">
            <a:avLst/>
          </a:prstGeom>
          <a:noFill/>
          <a:ln/>
        </p:spPr>
        <p:txBody>
          <a:bodyPr wrap="square" lIns="25400" tIns="25400" rIns="25400" bIns="25400" rtlCol="0" anchor="t">
            <a:normAutofit/>
          </a:bodyPr>
          <a:lstStyle/>
          <a:p>
            <a:pPr algn="l" indent="0" marL="0">
              <a:buNone/>
            </a:pPr>
            <a:r>
              <a:rPr lang="en-US" sz="5100" b="1" spc="-76" kern="0" dirty="0">
                <a:solidFill>
                  <a:srgbClr val="4D4B4C"/>
                </a:solidFill>
                <a:latin typeface="Space Grotesk" pitchFamily="34" charset="0"/>
                <a:ea typeface="Space Grotesk" pitchFamily="34" charset="-122"/>
                <a:cs typeface="Space Grotesk" pitchFamily="34" charset="-120"/>
              </a:rPr>
              <a:t>De la transacción a la decisión en &lt; 200 ms</a:t>
            </a:r>
            <a:endParaRPr lang="en-US" sz="5100" dirty="0"/>
          </a:p>
        </p:txBody>
      </p:sp>
      <p:sp>
        <p:nvSpPr>
          <p:cNvPr id="4" name="Shape 2"/>
          <p:cNvSpPr/>
          <p:nvPr/>
        </p:nvSpPr>
        <p:spPr>
          <a:xfrm>
            <a:off x="1143000" y="3114675"/>
            <a:ext cx="2153285" cy="1665922"/>
          </a:xfrm>
          <a:prstGeom prst="rect">
            <a:avLst/>
          </a:prstGeom>
          <a:solidFill>
            <a:srgbClr val="FFFFFF"/>
          </a:solidFill>
          <a:ln w="19050">
            <a:solidFill>
              <a:srgbClr val="4D4B4C"/>
            </a:solidFill>
            <a:prstDash val="solid"/>
          </a:ln>
        </p:spPr>
      </p:sp>
      <p:sp>
        <p:nvSpPr>
          <p:cNvPr id="5" name="Text 3"/>
          <p:cNvSpPr/>
          <p:nvPr/>
        </p:nvSpPr>
        <p:spPr>
          <a:xfrm>
            <a:off x="1390650" y="3400425"/>
            <a:ext cx="1734185" cy="26670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00B8D4"/>
                </a:solidFill>
                <a:latin typeface="Space Grotesk" pitchFamily="34" charset="0"/>
                <a:ea typeface="Space Grotesk" pitchFamily="34" charset="-122"/>
                <a:cs typeface="Space Grotesk" pitchFamily="34" charset="-120"/>
              </a:rPr>
              <a:t>PASO 01</a:t>
            </a:r>
            <a:endParaRPr lang="en-US" sz="1350" dirty="0"/>
          </a:p>
        </p:txBody>
      </p:sp>
      <p:sp>
        <p:nvSpPr>
          <p:cNvPr id="6" name="Text 4"/>
          <p:cNvSpPr/>
          <p:nvPr/>
        </p:nvSpPr>
        <p:spPr>
          <a:xfrm>
            <a:off x="1390650" y="3724275"/>
            <a:ext cx="1734185" cy="276225"/>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ui-monospace" pitchFamily="34" charset="0"/>
                <a:ea typeface="ui-monospace" pitchFamily="34" charset="-122"/>
                <a:cs typeface="ui-monospace" pitchFamily="34" charset="-120"/>
              </a:rPr>
              <a:t>ReadFromPubSub</a:t>
            </a:r>
            <a:endParaRPr lang="en-US" sz="1575" dirty="0"/>
          </a:p>
        </p:txBody>
      </p:sp>
      <p:sp>
        <p:nvSpPr>
          <p:cNvPr id="7" name="Text 5"/>
          <p:cNvSpPr/>
          <p:nvPr/>
        </p:nvSpPr>
        <p:spPr>
          <a:xfrm>
            <a:off x="1390650" y="4057650"/>
            <a:ext cx="1734185" cy="256699"/>
          </a:xfrm>
          <a:prstGeom prst="rect">
            <a:avLst/>
          </a:prstGeom>
          <a:noFill/>
          <a:ln/>
        </p:spPr>
        <p:txBody>
          <a:bodyPr wrap="square" lIns="25400" tIns="25400" rIns="25400" bIns="25400" rtlCol="0" anchor="t">
            <a:normAutofit/>
          </a:bodyPr>
          <a:lstStyle/>
          <a:p>
            <a:pPr algn="l" indent="0" marL="0">
              <a:lnSpc>
                <a:spcPct val="135000"/>
              </a:lnSpc>
              <a:buNone/>
            </a:pPr>
            <a:r>
              <a:rPr lang="en-US" sz="1275" dirty="0">
                <a:solidFill>
                  <a:srgbClr val="6B6869"/>
                </a:solidFill>
                <a:latin typeface="Space Grotesk" pitchFamily="34" charset="0"/>
                <a:ea typeface="Space Grotesk" pitchFamily="34" charset="-122"/>
                <a:cs typeface="Space Grotesk" pitchFamily="34" charset="-120"/>
              </a:rPr>
              <a:t>raw-ingest topic</a:t>
            </a:r>
            <a:endParaRPr lang="en-US" sz="1275" dirty="0"/>
          </a:p>
        </p:txBody>
      </p:sp>
      <p:pic>
        <p:nvPicPr>
          <p:cNvPr id="8" name="Image 0" descr="preencoded.png">    </p:cNvPr>
          <p:cNvPicPr>
            <a:picLocks noChangeAspect="1"/>
          </p:cNvPicPr>
          <p:nvPr/>
        </p:nvPicPr>
        <p:blipFill>
          <a:blip r:embed="rId1"/>
          <a:stretch>
            <a:fillRect/>
          </a:stretch>
        </p:blipFill>
        <p:spPr>
          <a:xfrm>
            <a:off x="3448685" y="3833336"/>
            <a:ext cx="266700" cy="228600"/>
          </a:xfrm>
          <a:prstGeom prst="rect">
            <a:avLst/>
          </a:prstGeom>
        </p:spPr>
      </p:pic>
      <p:sp>
        <p:nvSpPr>
          <p:cNvPr id="9" name="Shape 6"/>
          <p:cNvSpPr/>
          <p:nvPr/>
        </p:nvSpPr>
        <p:spPr>
          <a:xfrm>
            <a:off x="3867785" y="3114675"/>
            <a:ext cx="2390140" cy="1665922"/>
          </a:xfrm>
          <a:prstGeom prst="rect">
            <a:avLst/>
          </a:prstGeom>
          <a:solidFill>
            <a:srgbClr val="FFFFFF"/>
          </a:solidFill>
          <a:ln w="19050">
            <a:solidFill>
              <a:srgbClr val="4D4B4C"/>
            </a:solidFill>
            <a:prstDash val="solid"/>
          </a:ln>
        </p:spPr>
      </p:sp>
      <p:sp>
        <p:nvSpPr>
          <p:cNvPr id="10" name="Text 7"/>
          <p:cNvSpPr/>
          <p:nvPr/>
        </p:nvSpPr>
        <p:spPr>
          <a:xfrm>
            <a:off x="4115435" y="3400425"/>
            <a:ext cx="1971040" cy="26670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00B8D4"/>
                </a:solidFill>
                <a:latin typeface="Space Grotesk" pitchFamily="34" charset="0"/>
                <a:ea typeface="Space Grotesk" pitchFamily="34" charset="-122"/>
                <a:cs typeface="Space Grotesk" pitchFamily="34" charset="-120"/>
              </a:rPr>
              <a:t>PASO 02</a:t>
            </a:r>
            <a:endParaRPr lang="en-US" sz="1350" dirty="0"/>
          </a:p>
        </p:txBody>
      </p:sp>
      <p:sp>
        <p:nvSpPr>
          <p:cNvPr id="11" name="Text 8"/>
          <p:cNvSpPr/>
          <p:nvPr/>
        </p:nvSpPr>
        <p:spPr>
          <a:xfrm>
            <a:off x="4115435" y="3724275"/>
            <a:ext cx="1971040" cy="276225"/>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ui-monospace" pitchFamily="34" charset="0"/>
                <a:ea typeface="ui-monospace" pitchFamily="34" charset="-122"/>
                <a:cs typeface="ui-monospace" pitchFamily="34" charset="-120"/>
              </a:rPr>
              <a:t>ParseTransaction</a:t>
            </a:r>
            <a:endParaRPr lang="en-US" sz="1575" dirty="0"/>
          </a:p>
        </p:txBody>
      </p:sp>
      <p:sp>
        <p:nvSpPr>
          <p:cNvPr id="12" name="Text 9"/>
          <p:cNvSpPr/>
          <p:nvPr/>
        </p:nvSpPr>
        <p:spPr>
          <a:xfrm>
            <a:off x="4115435" y="4057650"/>
            <a:ext cx="1971040" cy="256699"/>
          </a:xfrm>
          <a:prstGeom prst="rect">
            <a:avLst/>
          </a:prstGeom>
          <a:noFill/>
          <a:ln/>
        </p:spPr>
        <p:txBody>
          <a:bodyPr wrap="square" lIns="25400" tIns="25400" rIns="25400" bIns="25400" rtlCol="0" anchor="t">
            <a:normAutofit/>
          </a:bodyPr>
          <a:lstStyle/>
          <a:p>
            <a:pPr algn="l" indent="0" marL="0">
              <a:lnSpc>
                <a:spcPct val="135000"/>
              </a:lnSpc>
              <a:buNone/>
            </a:pPr>
            <a:r>
              <a:rPr lang="en-US" sz="1275" dirty="0">
                <a:solidFill>
                  <a:srgbClr val="6B6869"/>
                </a:solidFill>
                <a:latin typeface="Space Grotesk" pitchFamily="34" charset="0"/>
                <a:ea typeface="Space Grotesk" pitchFamily="34" charset="-122"/>
                <a:cs typeface="Space Grotesk" pitchFamily="34" charset="-120"/>
              </a:rPr>
              <a:t>JSON → schema tipado</a:t>
            </a:r>
            <a:endParaRPr lang="en-US" sz="1275" dirty="0"/>
          </a:p>
        </p:txBody>
      </p:sp>
      <p:pic>
        <p:nvPicPr>
          <p:cNvPr id="13" name="Image 1" descr="preencoded.png">    </p:cNvPr>
          <p:cNvPicPr>
            <a:picLocks noChangeAspect="1"/>
          </p:cNvPicPr>
          <p:nvPr/>
        </p:nvPicPr>
        <p:blipFill>
          <a:blip r:embed="rId2"/>
          <a:stretch>
            <a:fillRect/>
          </a:stretch>
        </p:blipFill>
        <p:spPr>
          <a:xfrm>
            <a:off x="6410325" y="3833336"/>
            <a:ext cx="266700" cy="228600"/>
          </a:xfrm>
          <a:prstGeom prst="rect">
            <a:avLst/>
          </a:prstGeom>
        </p:spPr>
      </p:pic>
      <p:sp>
        <p:nvSpPr>
          <p:cNvPr id="14" name="Shape 10"/>
          <p:cNvSpPr/>
          <p:nvPr/>
        </p:nvSpPr>
        <p:spPr>
          <a:xfrm>
            <a:off x="6829425" y="3114675"/>
            <a:ext cx="2271713" cy="1665922"/>
          </a:xfrm>
          <a:prstGeom prst="rect">
            <a:avLst/>
          </a:prstGeom>
          <a:solidFill>
            <a:srgbClr val="FFFFFF"/>
          </a:solidFill>
          <a:ln w="19050">
            <a:solidFill>
              <a:srgbClr val="4D4B4C"/>
            </a:solidFill>
            <a:prstDash val="solid"/>
          </a:ln>
        </p:spPr>
      </p:sp>
      <p:sp>
        <p:nvSpPr>
          <p:cNvPr id="15" name="Text 11"/>
          <p:cNvSpPr/>
          <p:nvPr/>
        </p:nvSpPr>
        <p:spPr>
          <a:xfrm>
            <a:off x="7077075" y="3400425"/>
            <a:ext cx="1852612" cy="26670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00B8D4"/>
                </a:solidFill>
                <a:latin typeface="Space Grotesk" pitchFamily="34" charset="0"/>
                <a:ea typeface="Space Grotesk" pitchFamily="34" charset="-122"/>
                <a:cs typeface="Space Grotesk" pitchFamily="34" charset="-120"/>
              </a:rPr>
              <a:t>PASO 03</a:t>
            </a:r>
            <a:endParaRPr lang="en-US" sz="1350" dirty="0"/>
          </a:p>
        </p:txBody>
      </p:sp>
      <p:sp>
        <p:nvSpPr>
          <p:cNvPr id="16" name="Text 12"/>
          <p:cNvSpPr/>
          <p:nvPr/>
        </p:nvSpPr>
        <p:spPr>
          <a:xfrm>
            <a:off x="7077075" y="3724275"/>
            <a:ext cx="1852612" cy="276225"/>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ui-monospace" pitchFamily="34" charset="0"/>
                <a:ea typeface="ui-monospace" pitchFamily="34" charset="-122"/>
                <a:cs typeface="ui-monospace" pitchFamily="34" charset="-120"/>
              </a:rPr>
              <a:t>EnrichFromRedis</a:t>
            </a:r>
            <a:endParaRPr lang="en-US" sz="1575" dirty="0"/>
          </a:p>
        </p:txBody>
      </p:sp>
      <p:sp>
        <p:nvSpPr>
          <p:cNvPr id="17" name="Text 13"/>
          <p:cNvSpPr/>
          <p:nvPr/>
        </p:nvSpPr>
        <p:spPr>
          <a:xfrm>
            <a:off x="7077075" y="4057650"/>
            <a:ext cx="1852612" cy="256699"/>
          </a:xfrm>
          <a:prstGeom prst="rect">
            <a:avLst/>
          </a:prstGeom>
          <a:noFill/>
          <a:ln/>
        </p:spPr>
        <p:txBody>
          <a:bodyPr wrap="square" lIns="25400" tIns="25400" rIns="25400" bIns="25400" rtlCol="0" anchor="t">
            <a:normAutofit/>
          </a:bodyPr>
          <a:lstStyle/>
          <a:p>
            <a:pPr algn="l" indent="0" marL="0">
              <a:lnSpc>
                <a:spcPct val="135000"/>
              </a:lnSpc>
              <a:buNone/>
            </a:pPr>
            <a:r>
              <a:rPr lang="en-US" sz="1275" dirty="0">
                <a:solidFill>
                  <a:srgbClr val="6B6869"/>
                </a:solidFill>
                <a:latin typeface="Space Grotesk" pitchFamily="34" charset="0"/>
                <a:ea typeface="Space Grotesk" pitchFamily="34" charset="-122"/>
                <a:cs typeface="Space Grotesk" pitchFamily="34" charset="-120"/>
              </a:rPr>
              <a:t>features + reglas</a:t>
            </a:r>
            <a:endParaRPr lang="en-US" sz="1275" dirty="0"/>
          </a:p>
        </p:txBody>
      </p:sp>
      <p:pic>
        <p:nvPicPr>
          <p:cNvPr id="18" name="Image 2" descr="preencoded.png">    </p:cNvPr>
          <p:cNvPicPr>
            <a:picLocks noChangeAspect="1"/>
          </p:cNvPicPr>
          <p:nvPr/>
        </p:nvPicPr>
        <p:blipFill>
          <a:blip r:embed="rId3"/>
          <a:stretch>
            <a:fillRect/>
          </a:stretch>
        </p:blipFill>
        <p:spPr>
          <a:xfrm>
            <a:off x="9253538" y="3833336"/>
            <a:ext cx="266700" cy="228600"/>
          </a:xfrm>
          <a:prstGeom prst="rect">
            <a:avLst/>
          </a:prstGeom>
        </p:spPr>
      </p:pic>
      <p:sp>
        <p:nvSpPr>
          <p:cNvPr id="19" name="Shape 14"/>
          <p:cNvSpPr/>
          <p:nvPr/>
        </p:nvSpPr>
        <p:spPr>
          <a:xfrm>
            <a:off x="9672638" y="3114675"/>
            <a:ext cx="2109788" cy="1665922"/>
          </a:xfrm>
          <a:prstGeom prst="rect">
            <a:avLst/>
          </a:prstGeom>
          <a:solidFill>
            <a:srgbClr val="00E1FF"/>
          </a:solidFill>
          <a:ln w="19050">
            <a:solidFill>
              <a:srgbClr val="4D4B4C"/>
            </a:solidFill>
            <a:prstDash val="solid"/>
          </a:ln>
        </p:spPr>
      </p:sp>
      <p:sp>
        <p:nvSpPr>
          <p:cNvPr id="20" name="Text 15"/>
          <p:cNvSpPr/>
          <p:nvPr/>
        </p:nvSpPr>
        <p:spPr>
          <a:xfrm>
            <a:off x="9920288" y="3400425"/>
            <a:ext cx="1690688" cy="26670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4D4B4C"/>
                </a:solidFill>
                <a:latin typeface="Space Grotesk" pitchFamily="34" charset="0"/>
                <a:ea typeface="Space Grotesk" pitchFamily="34" charset="-122"/>
                <a:cs typeface="Space Grotesk" pitchFamily="34" charset="-120"/>
              </a:rPr>
              <a:t>PASO 04</a:t>
            </a:r>
            <a:endParaRPr lang="en-US" sz="1350" dirty="0"/>
          </a:p>
        </p:txBody>
      </p:sp>
      <p:sp>
        <p:nvSpPr>
          <p:cNvPr id="21" name="Text 16"/>
          <p:cNvSpPr/>
          <p:nvPr/>
        </p:nvSpPr>
        <p:spPr>
          <a:xfrm>
            <a:off x="9920288" y="3724275"/>
            <a:ext cx="1690688" cy="276225"/>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ui-monospace" pitchFamily="34" charset="0"/>
                <a:ea typeface="ui-monospace" pitchFamily="34" charset="-122"/>
                <a:cs typeface="ui-monospace" pitchFamily="34" charset="-120"/>
              </a:rPr>
              <a:t>ScoreVertexAI</a:t>
            </a:r>
            <a:endParaRPr lang="en-US" sz="1575" dirty="0"/>
          </a:p>
        </p:txBody>
      </p:sp>
      <p:sp>
        <p:nvSpPr>
          <p:cNvPr id="22" name="Text 17"/>
          <p:cNvSpPr/>
          <p:nvPr/>
        </p:nvSpPr>
        <p:spPr>
          <a:xfrm>
            <a:off x="9920288" y="4057650"/>
            <a:ext cx="1690688" cy="256699"/>
          </a:xfrm>
          <a:prstGeom prst="rect">
            <a:avLst/>
          </a:prstGeom>
          <a:noFill/>
          <a:ln/>
        </p:spPr>
        <p:txBody>
          <a:bodyPr wrap="square" lIns="25400" tIns="25400" rIns="25400" bIns="25400" rtlCol="0" anchor="t">
            <a:normAutofit/>
          </a:bodyPr>
          <a:lstStyle/>
          <a:p>
            <a:pPr algn="l" indent="0" marL="0">
              <a:lnSpc>
                <a:spcPct val="135000"/>
              </a:lnSpc>
              <a:buNone/>
            </a:pPr>
            <a:r>
              <a:rPr lang="en-US" sz="1275" dirty="0">
                <a:solidFill>
                  <a:srgbClr val="4D4B4C"/>
                </a:solidFill>
                <a:latin typeface="Space Grotesk" pitchFamily="34" charset="0"/>
                <a:ea typeface="Space Grotesk" pitchFamily="34" charset="-122"/>
                <a:cs typeface="Space Grotesk" pitchFamily="34" charset="-120"/>
              </a:rPr>
              <a:t>GBT fraude · 90 días</a:t>
            </a:r>
            <a:endParaRPr lang="en-US" sz="1275" dirty="0"/>
          </a:p>
        </p:txBody>
      </p:sp>
      <p:pic>
        <p:nvPicPr>
          <p:cNvPr id="23" name="Image 3" descr="preencoded.png">    </p:cNvPr>
          <p:cNvPicPr>
            <a:picLocks noChangeAspect="1"/>
          </p:cNvPicPr>
          <p:nvPr/>
        </p:nvPicPr>
        <p:blipFill>
          <a:blip r:embed="rId4"/>
          <a:stretch>
            <a:fillRect/>
          </a:stretch>
        </p:blipFill>
        <p:spPr>
          <a:xfrm>
            <a:off x="11934825" y="3833336"/>
            <a:ext cx="266700" cy="228600"/>
          </a:xfrm>
          <a:prstGeom prst="rect">
            <a:avLst/>
          </a:prstGeom>
        </p:spPr>
      </p:pic>
      <p:sp>
        <p:nvSpPr>
          <p:cNvPr id="24" name="Shape 18"/>
          <p:cNvSpPr/>
          <p:nvPr/>
        </p:nvSpPr>
        <p:spPr>
          <a:xfrm>
            <a:off x="12353925" y="3114675"/>
            <a:ext cx="2109788" cy="1665922"/>
          </a:xfrm>
          <a:prstGeom prst="rect">
            <a:avLst/>
          </a:prstGeom>
          <a:solidFill>
            <a:srgbClr val="FFFFFF"/>
          </a:solidFill>
          <a:ln w="19050">
            <a:solidFill>
              <a:srgbClr val="4D4B4C"/>
            </a:solidFill>
            <a:prstDash val="solid"/>
          </a:ln>
        </p:spPr>
      </p:sp>
      <p:sp>
        <p:nvSpPr>
          <p:cNvPr id="25" name="Text 19"/>
          <p:cNvSpPr/>
          <p:nvPr/>
        </p:nvSpPr>
        <p:spPr>
          <a:xfrm>
            <a:off x="12601575" y="3400425"/>
            <a:ext cx="1690688" cy="26670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00B8D4"/>
                </a:solidFill>
                <a:latin typeface="Space Grotesk" pitchFamily="34" charset="0"/>
                <a:ea typeface="Space Grotesk" pitchFamily="34" charset="-122"/>
                <a:cs typeface="Space Grotesk" pitchFamily="34" charset="-120"/>
              </a:rPr>
              <a:t>PASO 05</a:t>
            </a:r>
            <a:endParaRPr lang="en-US" sz="1350" dirty="0"/>
          </a:p>
        </p:txBody>
      </p:sp>
      <p:sp>
        <p:nvSpPr>
          <p:cNvPr id="26" name="Text 20"/>
          <p:cNvSpPr/>
          <p:nvPr/>
        </p:nvSpPr>
        <p:spPr>
          <a:xfrm>
            <a:off x="12601575" y="3724275"/>
            <a:ext cx="1690688" cy="276225"/>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ui-monospace" pitchFamily="34" charset="0"/>
                <a:ea typeface="ui-monospace" pitchFamily="34" charset="-122"/>
                <a:cs typeface="ui-monospace" pitchFamily="34" charset="-120"/>
              </a:rPr>
              <a:t>RouteDecision</a:t>
            </a:r>
            <a:endParaRPr lang="en-US" sz="1575" dirty="0"/>
          </a:p>
        </p:txBody>
      </p:sp>
      <p:sp>
        <p:nvSpPr>
          <p:cNvPr id="27" name="Text 21"/>
          <p:cNvSpPr/>
          <p:nvPr/>
        </p:nvSpPr>
        <p:spPr>
          <a:xfrm>
            <a:off x="12601575" y="4057650"/>
            <a:ext cx="1690688" cy="256699"/>
          </a:xfrm>
          <a:prstGeom prst="rect">
            <a:avLst/>
          </a:prstGeom>
          <a:noFill/>
          <a:ln/>
        </p:spPr>
        <p:txBody>
          <a:bodyPr wrap="square" lIns="25400" tIns="25400" rIns="25400" bIns="25400" rtlCol="0" anchor="t">
            <a:normAutofit/>
          </a:bodyPr>
          <a:lstStyle/>
          <a:p>
            <a:pPr algn="l" indent="0" marL="0">
              <a:lnSpc>
                <a:spcPct val="135000"/>
              </a:lnSpc>
              <a:buNone/>
            </a:pPr>
            <a:r>
              <a:rPr lang="en-US" sz="1275" dirty="0">
                <a:solidFill>
                  <a:srgbClr val="6B6869"/>
                </a:solidFill>
                <a:latin typeface="Space Grotesk" pitchFamily="34" charset="0"/>
                <a:ea typeface="Space Grotesk" pitchFamily="34" charset="-122"/>
                <a:cs typeface="Space Grotesk" pitchFamily="34" charset="-120"/>
              </a:rPr>
              <a:t>aprobar / bloquear</a:t>
            </a:r>
            <a:endParaRPr lang="en-US" sz="1275" dirty="0"/>
          </a:p>
        </p:txBody>
      </p:sp>
      <p:pic>
        <p:nvPicPr>
          <p:cNvPr id="28" name="Image 4" descr="preencoded.png">    </p:cNvPr>
          <p:cNvPicPr>
            <a:picLocks noChangeAspect="1"/>
          </p:cNvPicPr>
          <p:nvPr/>
        </p:nvPicPr>
        <p:blipFill>
          <a:blip r:embed="rId5"/>
          <a:stretch>
            <a:fillRect/>
          </a:stretch>
        </p:blipFill>
        <p:spPr>
          <a:xfrm>
            <a:off x="14616113" y="3833336"/>
            <a:ext cx="266700" cy="228600"/>
          </a:xfrm>
          <a:prstGeom prst="rect">
            <a:avLst/>
          </a:prstGeom>
        </p:spPr>
      </p:pic>
      <p:sp>
        <p:nvSpPr>
          <p:cNvPr id="29" name="Shape 22"/>
          <p:cNvSpPr/>
          <p:nvPr/>
        </p:nvSpPr>
        <p:spPr>
          <a:xfrm>
            <a:off x="15035212" y="3114675"/>
            <a:ext cx="2109788" cy="1665922"/>
          </a:xfrm>
          <a:prstGeom prst="rect">
            <a:avLst/>
          </a:prstGeom>
          <a:solidFill>
            <a:srgbClr val="FFFFFF"/>
          </a:solidFill>
          <a:ln w="19050">
            <a:solidFill>
              <a:srgbClr val="4D4B4C"/>
            </a:solidFill>
            <a:prstDash val="solid"/>
          </a:ln>
        </p:spPr>
      </p:sp>
      <p:sp>
        <p:nvSpPr>
          <p:cNvPr id="30" name="Text 23"/>
          <p:cNvSpPr/>
          <p:nvPr/>
        </p:nvSpPr>
        <p:spPr>
          <a:xfrm>
            <a:off x="15282863" y="3400425"/>
            <a:ext cx="1690688" cy="266700"/>
          </a:xfrm>
          <a:prstGeom prst="rect">
            <a:avLst/>
          </a:prstGeom>
          <a:noFill/>
          <a:ln/>
        </p:spPr>
        <p:txBody>
          <a:bodyPr wrap="square" lIns="25400" tIns="25400" rIns="25400" bIns="25400" rtlCol="0" anchor="t">
            <a:normAutofit/>
          </a:bodyPr>
          <a:lstStyle/>
          <a:p>
            <a:pPr algn="l" indent="0" marL="0">
              <a:buNone/>
            </a:pPr>
            <a:r>
              <a:rPr lang="en-US" sz="1350" b="1" spc="108" kern="0" dirty="0">
                <a:solidFill>
                  <a:srgbClr val="00B8D4"/>
                </a:solidFill>
                <a:latin typeface="Space Grotesk" pitchFamily="34" charset="0"/>
                <a:ea typeface="Space Grotesk" pitchFamily="34" charset="-122"/>
                <a:cs typeface="Space Grotesk" pitchFamily="34" charset="-120"/>
              </a:rPr>
              <a:t>PASO 06</a:t>
            </a:r>
            <a:endParaRPr lang="en-US" sz="1350" dirty="0"/>
          </a:p>
        </p:txBody>
      </p:sp>
      <p:sp>
        <p:nvSpPr>
          <p:cNvPr id="31" name="Text 24"/>
          <p:cNvSpPr/>
          <p:nvPr/>
        </p:nvSpPr>
        <p:spPr>
          <a:xfrm>
            <a:off x="15282863" y="3724275"/>
            <a:ext cx="1690688" cy="276225"/>
          </a:xfrm>
          <a:prstGeom prst="rect">
            <a:avLst/>
          </a:prstGeom>
          <a:noFill/>
          <a:ln/>
        </p:spPr>
        <p:txBody>
          <a:bodyPr wrap="square" lIns="25400" tIns="25400" rIns="25400" bIns="25400" rtlCol="0" anchor="t">
            <a:normAutofit/>
          </a:bodyPr>
          <a:lstStyle/>
          <a:p>
            <a:pPr algn="l" indent="0" marL="0">
              <a:buNone/>
            </a:pPr>
            <a:r>
              <a:rPr lang="en-US" sz="1575" b="1" spc="-16" kern="0" dirty="0">
                <a:solidFill>
                  <a:srgbClr val="4D4B4C"/>
                </a:solidFill>
                <a:latin typeface="ui-monospace" pitchFamily="34" charset="0"/>
                <a:ea typeface="ui-monospace" pitchFamily="34" charset="-122"/>
                <a:cs typeface="ui-monospace" pitchFamily="34" charset="-120"/>
              </a:rPr>
              <a:t>Sinks</a:t>
            </a:r>
            <a:endParaRPr lang="en-US" sz="1575" dirty="0"/>
          </a:p>
        </p:txBody>
      </p:sp>
      <p:sp>
        <p:nvSpPr>
          <p:cNvPr id="32" name="Text 25"/>
          <p:cNvSpPr/>
          <p:nvPr/>
        </p:nvSpPr>
        <p:spPr>
          <a:xfrm>
            <a:off x="15282863" y="4057650"/>
            <a:ext cx="1690688" cy="475297"/>
          </a:xfrm>
          <a:prstGeom prst="rect">
            <a:avLst/>
          </a:prstGeom>
          <a:noFill/>
          <a:ln/>
        </p:spPr>
        <p:txBody>
          <a:bodyPr wrap="square" lIns="25400" tIns="25400" rIns="25400" bIns="25400" rtlCol="0" anchor="t">
            <a:normAutofit/>
          </a:bodyPr>
          <a:lstStyle/>
          <a:p>
            <a:pPr algn="l" indent="0" marL="0">
              <a:lnSpc>
                <a:spcPct val="135000"/>
              </a:lnSpc>
              <a:buNone/>
            </a:pPr>
            <a:r>
              <a:rPr lang="en-US" sz="1275" dirty="0">
                <a:solidFill>
                  <a:srgbClr val="6B6869"/>
                </a:solidFill>
                <a:latin typeface="Space Grotesk" pitchFamily="34" charset="0"/>
                <a:ea typeface="Space Grotesk" pitchFamily="34" charset="-122"/>
                <a:cs typeface="Space Grotesk" pitchFamily="34" charset="-120"/>
              </a:rPr>
              <a:t>Bigtable + BigQuery + fan-out</a:t>
            </a:r>
            <a:endParaRPr lang="en-US" sz="1275" dirty="0"/>
          </a:p>
        </p:txBody>
      </p:sp>
      <p:sp>
        <p:nvSpPr>
          <p:cNvPr id="33" name="Shape 26"/>
          <p:cNvSpPr/>
          <p:nvPr/>
        </p:nvSpPr>
        <p:spPr>
          <a:xfrm>
            <a:off x="1143000" y="5542598"/>
            <a:ext cx="3771900" cy="28575"/>
          </a:xfrm>
          <a:prstGeom prst="rect">
            <a:avLst/>
          </a:prstGeom>
          <a:solidFill>
            <a:srgbClr val="00E1FF"/>
          </a:solidFill>
          <a:ln/>
        </p:spPr>
      </p:sp>
      <p:sp>
        <p:nvSpPr>
          <p:cNvPr id="34" name="Text 27"/>
          <p:cNvSpPr/>
          <p:nvPr/>
        </p:nvSpPr>
        <p:spPr>
          <a:xfrm>
            <a:off x="1143000" y="5742623"/>
            <a:ext cx="3885057" cy="581025"/>
          </a:xfrm>
          <a:prstGeom prst="rect">
            <a:avLst/>
          </a:prstGeom>
          <a:noFill/>
          <a:ln/>
        </p:spPr>
        <p:txBody>
          <a:bodyPr wrap="square" lIns="25400" tIns="25400" rIns="25400" bIns="25400" rtlCol="0" anchor="t">
            <a:normAutofit/>
          </a:bodyPr>
          <a:lstStyle/>
          <a:p>
            <a:pPr algn="l" indent="0" marL="0">
              <a:buNone/>
            </a:pPr>
            <a:r>
              <a:rPr lang="en-US" sz="3300" b="1" spc="-66" kern="0" dirty="0">
                <a:solidFill>
                  <a:srgbClr val="4D4B4C"/>
                </a:solidFill>
                <a:latin typeface="Space Grotesk" pitchFamily="34" charset="0"/>
                <a:ea typeface="Space Grotesk" pitchFamily="34" charset="-122"/>
                <a:cs typeface="Space Grotesk" pitchFamily="34" charset="-120"/>
              </a:rPr>
              <a:t>5K+ TPS</a:t>
            </a:r>
            <a:endParaRPr lang="en-US" sz="3300" dirty="0"/>
          </a:p>
        </p:txBody>
      </p:sp>
      <p:sp>
        <p:nvSpPr>
          <p:cNvPr id="35" name="Text 28"/>
          <p:cNvSpPr/>
          <p:nvPr/>
        </p:nvSpPr>
        <p:spPr>
          <a:xfrm>
            <a:off x="1143000" y="6342698"/>
            <a:ext cx="3885057" cy="285750"/>
          </a:xfrm>
          <a:prstGeom prst="rect">
            <a:avLst/>
          </a:prstGeom>
          <a:noFill/>
          <a:ln/>
        </p:spPr>
        <p:txBody>
          <a:bodyPr wrap="square" lIns="25400" tIns="25400" rIns="25400" bIns="25400" rtlCol="0" anchor="t">
            <a:normAutofit/>
          </a:bodyPr>
          <a:lstStyle/>
          <a:p>
            <a:pPr algn="l" indent="0" marL="0">
              <a:buNone/>
            </a:pPr>
            <a:r>
              <a:rPr lang="en-US" sz="1500" dirty="0">
                <a:solidFill>
                  <a:srgbClr val="6B6869"/>
                </a:solidFill>
                <a:latin typeface="Space Grotesk" pitchFamily="34" charset="0"/>
                <a:ea typeface="Space Grotesk" pitchFamily="34" charset="-122"/>
                <a:cs typeface="Space Grotesk" pitchFamily="34" charset="-120"/>
              </a:rPr>
              <a:t>Throughput sostenido en quincena</a:t>
            </a:r>
            <a:endParaRPr lang="en-US" sz="1500" dirty="0"/>
          </a:p>
        </p:txBody>
      </p:sp>
      <p:sp>
        <p:nvSpPr>
          <p:cNvPr id="36" name="Shape 29"/>
          <p:cNvSpPr/>
          <p:nvPr/>
        </p:nvSpPr>
        <p:spPr>
          <a:xfrm>
            <a:off x="5219700" y="5542598"/>
            <a:ext cx="3771900" cy="28575"/>
          </a:xfrm>
          <a:prstGeom prst="rect">
            <a:avLst/>
          </a:prstGeom>
          <a:solidFill>
            <a:srgbClr val="00E1FF"/>
          </a:solidFill>
          <a:ln/>
        </p:spPr>
      </p:sp>
      <p:sp>
        <p:nvSpPr>
          <p:cNvPr id="37" name="Text 30"/>
          <p:cNvSpPr/>
          <p:nvPr/>
        </p:nvSpPr>
        <p:spPr>
          <a:xfrm>
            <a:off x="5219700" y="5742623"/>
            <a:ext cx="3885057" cy="581025"/>
          </a:xfrm>
          <a:prstGeom prst="rect">
            <a:avLst/>
          </a:prstGeom>
          <a:noFill/>
          <a:ln/>
        </p:spPr>
        <p:txBody>
          <a:bodyPr wrap="square" lIns="25400" tIns="25400" rIns="25400" bIns="25400" rtlCol="0" anchor="t">
            <a:normAutofit/>
          </a:bodyPr>
          <a:lstStyle/>
          <a:p>
            <a:pPr algn="l" indent="0" marL="0">
              <a:buNone/>
            </a:pPr>
            <a:r>
              <a:rPr lang="en-US" sz="3300" b="1" spc="-66" kern="0" dirty="0">
                <a:solidFill>
                  <a:srgbClr val="4D4B4C"/>
                </a:solidFill>
                <a:latin typeface="Space Grotesk" pitchFamily="34" charset="0"/>
                <a:ea typeface="Space Grotesk" pitchFamily="34" charset="-122"/>
                <a:cs typeface="Space Grotesk" pitchFamily="34" charset="-120"/>
              </a:rPr>
              <a:t>exactly-once</a:t>
            </a:r>
            <a:endParaRPr lang="en-US" sz="3300" dirty="0"/>
          </a:p>
        </p:txBody>
      </p:sp>
      <p:sp>
        <p:nvSpPr>
          <p:cNvPr id="38" name="Text 31"/>
          <p:cNvSpPr/>
          <p:nvPr/>
        </p:nvSpPr>
        <p:spPr>
          <a:xfrm>
            <a:off x="5219700" y="6342698"/>
            <a:ext cx="3885057" cy="285750"/>
          </a:xfrm>
          <a:prstGeom prst="rect">
            <a:avLst/>
          </a:prstGeom>
          <a:noFill/>
          <a:ln/>
        </p:spPr>
        <p:txBody>
          <a:bodyPr wrap="square" lIns="25400" tIns="25400" rIns="25400" bIns="25400" rtlCol="0" anchor="t">
            <a:normAutofit/>
          </a:bodyPr>
          <a:lstStyle/>
          <a:p>
            <a:pPr algn="l" indent="0" marL="0">
              <a:buNone/>
            </a:pPr>
            <a:r>
              <a:rPr lang="en-US" sz="1500" dirty="0">
                <a:solidFill>
                  <a:srgbClr val="6B6869"/>
                </a:solidFill>
                <a:latin typeface="Space Grotesk" pitchFamily="34" charset="0"/>
                <a:ea typeface="Space Grotesk" pitchFamily="34" charset="-122"/>
                <a:cs typeface="Space Grotesk" pitchFamily="34" charset="-120"/>
              </a:rPr>
              <a:t>Entrega garantizada por Dataflow</a:t>
            </a:r>
            <a:endParaRPr lang="en-US" sz="1500" dirty="0"/>
          </a:p>
        </p:txBody>
      </p:sp>
      <p:sp>
        <p:nvSpPr>
          <p:cNvPr id="39" name="Shape 32"/>
          <p:cNvSpPr/>
          <p:nvPr/>
        </p:nvSpPr>
        <p:spPr>
          <a:xfrm>
            <a:off x="9296400" y="5542598"/>
            <a:ext cx="3771900" cy="28575"/>
          </a:xfrm>
          <a:prstGeom prst="rect">
            <a:avLst/>
          </a:prstGeom>
          <a:solidFill>
            <a:srgbClr val="00E1FF"/>
          </a:solidFill>
          <a:ln/>
        </p:spPr>
      </p:sp>
      <p:sp>
        <p:nvSpPr>
          <p:cNvPr id="40" name="Text 33"/>
          <p:cNvSpPr/>
          <p:nvPr/>
        </p:nvSpPr>
        <p:spPr>
          <a:xfrm>
            <a:off x="9296400" y="5742623"/>
            <a:ext cx="3885057" cy="581025"/>
          </a:xfrm>
          <a:prstGeom prst="rect">
            <a:avLst/>
          </a:prstGeom>
          <a:noFill/>
          <a:ln/>
        </p:spPr>
        <p:txBody>
          <a:bodyPr wrap="square" lIns="25400" tIns="25400" rIns="25400" bIns="25400" rtlCol="0" anchor="t">
            <a:normAutofit/>
          </a:bodyPr>
          <a:lstStyle/>
          <a:p>
            <a:pPr algn="l" indent="0" marL="0">
              <a:buNone/>
            </a:pPr>
            <a:r>
              <a:rPr lang="en-US" sz="3300" b="1" spc="-66" kern="0" dirty="0">
                <a:solidFill>
                  <a:srgbClr val="4D4B4C"/>
                </a:solidFill>
                <a:latin typeface="Space Grotesk" pitchFamily="34" charset="0"/>
                <a:ea typeface="Space Grotesk" pitchFamily="34" charset="-122"/>
                <a:cs typeface="Space Grotesk" pitchFamily="34" charset="-120"/>
              </a:rPr>
              <a:t>5–20</a:t>
            </a:r>
            <a:endParaRPr lang="en-US" sz="3300" dirty="0"/>
          </a:p>
        </p:txBody>
      </p:sp>
      <p:sp>
        <p:nvSpPr>
          <p:cNvPr id="41" name="Text 34"/>
          <p:cNvSpPr/>
          <p:nvPr/>
        </p:nvSpPr>
        <p:spPr>
          <a:xfrm>
            <a:off x="9296400" y="6342698"/>
            <a:ext cx="3885057" cy="285750"/>
          </a:xfrm>
          <a:prstGeom prst="rect">
            <a:avLst/>
          </a:prstGeom>
          <a:noFill/>
          <a:ln/>
        </p:spPr>
        <p:txBody>
          <a:bodyPr wrap="square" lIns="25400" tIns="25400" rIns="25400" bIns="25400" rtlCol="0" anchor="t">
            <a:normAutofit/>
          </a:bodyPr>
          <a:lstStyle/>
          <a:p>
            <a:pPr algn="l" indent="0" marL="0">
              <a:buNone/>
            </a:pPr>
            <a:r>
              <a:rPr lang="en-US" sz="1500" dirty="0">
                <a:solidFill>
                  <a:srgbClr val="6B6869"/>
                </a:solidFill>
                <a:latin typeface="Space Grotesk" pitchFamily="34" charset="0"/>
                <a:ea typeface="Space Grotesk" pitchFamily="34" charset="-122"/>
                <a:cs typeface="Space Grotesk" pitchFamily="34" charset="-120"/>
              </a:rPr>
              <a:t>Workers autoescalados</a:t>
            </a:r>
            <a:endParaRPr lang="en-US" sz="1500" dirty="0"/>
          </a:p>
        </p:txBody>
      </p:sp>
      <p:sp>
        <p:nvSpPr>
          <p:cNvPr id="42" name="Shape 35"/>
          <p:cNvSpPr/>
          <p:nvPr/>
        </p:nvSpPr>
        <p:spPr>
          <a:xfrm>
            <a:off x="13373100" y="5542598"/>
            <a:ext cx="3771900" cy="28575"/>
          </a:xfrm>
          <a:prstGeom prst="rect">
            <a:avLst/>
          </a:prstGeom>
          <a:solidFill>
            <a:srgbClr val="00E1FF"/>
          </a:solidFill>
          <a:ln/>
        </p:spPr>
      </p:sp>
      <p:sp>
        <p:nvSpPr>
          <p:cNvPr id="43" name="Text 36"/>
          <p:cNvSpPr/>
          <p:nvPr/>
        </p:nvSpPr>
        <p:spPr>
          <a:xfrm>
            <a:off x="13373100" y="5742623"/>
            <a:ext cx="3885057" cy="581025"/>
          </a:xfrm>
          <a:prstGeom prst="rect">
            <a:avLst/>
          </a:prstGeom>
          <a:noFill/>
          <a:ln/>
        </p:spPr>
        <p:txBody>
          <a:bodyPr wrap="square" lIns="25400" tIns="25400" rIns="25400" bIns="25400" rtlCol="0" anchor="t">
            <a:normAutofit/>
          </a:bodyPr>
          <a:lstStyle/>
          <a:p>
            <a:pPr algn="l" indent="0" marL="0">
              <a:buNone/>
            </a:pPr>
            <a:r>
              <a:rPr lang="en-US" sz="3300" b="1" spc="-66" kern="0" dirty="0">
                <a:solidFill>
                  <a:srgbClr val="4D4B4C"/>
                </a:solidFill>
                <a:latin typeface="Space Grotesk" pitchFamily="34" charset="0"/>
                <a:ea typeface="Space Grotesk" pitchFamily="34" charset="-122"/>
                <a:cs typeface="Space Grotesk" pitchFamily="34" charset="-120"/>
              </a:rPr>
              <a:t>31 días</a:t>
            </a:r>
            <a:endParaRPr lang="en-US" sz="3300" dirty="0"/>
          </a:p>
        </p:txBody>
      </p:sp>
      <p:sp>
        <p:nvSpPr>
          <p:cNvPr id="44" name="Text 37"/>
          <p:cNvSpPr/>
          <p:nvPr/>
        </p:nvSpPr>
        <p:spPr>
          <a:xfrm>
            <a:off x="13373100" y="6342698"/>
            <a:ext cx="3885057" cy="285750"/>
          </a:xfrm>
          <a:prstGeom prst="rect">
            <a:avLst/>
          </a:prstGeom>
          <a:noFill/>
          <a:ln/>
        </p:spPr>
        <p:txBody>
          <a:bodyPr wrap="square" lIns="25400" tIns="25400" rIns="25400" bIns="25400" rtlCol="0" anchor="t">
            <a:normAutofit/>
          </a:bodyPr>
          <a:lstStyle/>
          <a:p>
            <a:pPr algn="l" indent="0" marL="0">
              <a:buNone/>
            </a:pPr>
            <a:r>
              <a:rPr lang="en-US" sz="1500" dirty="0">
                <a:solidFill>
                  <a:srgbClr val="6B6869"/>
                </a:solidFill>
                <a:latin typeface="Space Grotesk" pitchFamily="34" charset="0"/>
                <a:ea typeface="Space Grotesk" pitchFamily="34" charset="-122"/>
                <a:cs typeface="Space Grotesk" pitchFamily="34" charset="-120"/>
              </a:rPr>
              <a:t>Retención Pub/Sub</a:t>
            </a:r>
            <a:endParaRPr lang="en-US" sz="1500" dirty="0"/>
          </a:p>
        </p:txBody>
      </p:sp>
      <p:pic>
        <p:nvPicPr>
          <p:cNvPr id="45" name="Image 5" descr="preencoded.png">    </p:cNvPr>
          <p:cNvPicPr>
            <a:picLocks noChangeAspect="1"/>
          </p:cNvPicPr>
          <p:nvPr/>
        </p:nvPicPr>
        <p:blipFill>
          <a:blip r:embed="rId6"/>
          <a:stretch>
            <a:fillRect/>
          </a:stretch>
        </p:blipFill>
        <p:spPr>
          <a:xfrm>
            <a:off x="533400" y="9563100"/>
            <a:ext cx="255270" cy="304800"/>
          </a:xfrm>
          <a:prstGeom prst="rect">
            <a:avLst/>
          </a:prstGeom>
        </p:spPr>
      </p:pic>
      <p:sp>
        <p:nvSpPr>
          <p:cNvPr id="46" name="Text 38"/>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7F7"/>
        </a:solidFill>
      </p:bgPr>
    </p:bg>
    <p:spTree>
      <p:nvGrpSpPr>
        <p:cNvPr id="1" name=""/>
        <p:cNvGrpSpPr/>
        <p:nvPr/>
      </p:nvGrpSpPr>
      <p:grpSpPr>
        <a:xfrm>
          <a:off x="0" y="0"/>
          <a:ext cx="0" cy="0"/>
          <a:chOff x="0" y="0"/>
          <a:chExt cx="0" cy="0"/>
        </a:xfrm>
      </p:grpSpPr>
      <p:sp>
        <p:nvSpPr>
          <p:cNvPr id="2" name="Text 0"/>
          <p:cNvSpPr/>
          <p:nvPr/>
        </p:nvSpPr>
        <p:spPr>
          <a:xfrm>
            <a:off x="1143000" y="1047750"/>
            <a:ext cx="7770114"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BATCH · DATAPROC EFÍMERO</a:t>
            </a:r>
            <a:endParaRPr lang="en-US" sz="1500" dirty="0"/>
          </a:p>
        </p:txBody>
      </p:sp>
      <p:sp>
        <p:nvSpPr>
          <p:cNvPr id="3" name="Text 1"/>
          <p:cNvSpPr/>
          <p:nvPr/>
        </p:nvSpPr>
        <p:spPr>
          <a:xfrm>
            <a:off x="1143000" y="1562100"/>
            <a:ext cx="7770114" cy="1359535"/>
          </a:xfrm>
          <a:prstGeom prst="rect">
            <a:avLst/>
          </a:prstGeom>
          <a:noFill/>
          <a:ln/>
        </p:spPr>
        <p:txBody>
          <a:bodyPr wrap="square" lIns="25400" tIns="25400" rIns="25400" bIns="25400" rtlCol="0" anchor="t">
            <a:normAutofit/>
          </a:bodyPr>
          <a:lstStyle/>
          <a:p>
            <a:pPr algn="l" indent="0" marL="0">
              <a:lnSpc>
                <a:spcPct val="102010"/>
              </a:lnSpc>
              <a:buNone/>
            </a:pPr>
            <a:r>
              <a:rPr lang="en-US" sz="5100" b="1" spc="-76" kern="0" dirty="0">
                <a:solidFill>
                  <a:srgbClr val="4D4B4C"/>
                </a:solidFill>
                <a:latin typeface="Space Grotesk" pitchFamily="34" charset="0"/>
                <a:ea typeface="Space Grotesk" pitchFamily="34" charset="-122"/>
                <a:cs typeface="Space Grotesk" pitchFamily="34" charset="-120"/>
              </a:rPr>
              <a:t>Clústers que viven 45 minutos al día</a:t>
            </a:r>
            <a:endParaRPr lang="en-US" sz="5100" dirty="0"/>
          </a:p>
        </p:txBody>
      </p:sp>
      <p:sp>
        <p:nvSpPr>
          <p:cNvPr id="4" name="Text 2"/>
          <p:cNvSpPr/>
          <p:nvPr/>
        </p:nvSpPr>
        <p:spPr>
          <a:xfrm>
            <a:off x="1143000" y="3264535"/>
            <a:ext cx="7770114" cy="1115377"/>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6B6869"/>
                </a:solidFill>
                <a:latin typeface="Space Grotesk" pitchFamily="34" charset="0"/>
                <a:ea typeface="Space Grotesk" pitchFamily="34" charset="-122"/>
                <a:cs typeface="Space Grotesk" pitchFamily="34" charset="-120"/>
              </a:rPr>
              <a:t>Se crean bajo demanda para cada job, corren en paralelo y se destruyen al terminar. Ahorro superior al 95% frente a un clúster 24/7.</a:t>
            </a:r>
            <a:endParaRPr lang="en-US" sz="1950" dirty="0"/>
          </a:p>
        </p:txBody>
      </p:sp>
      <p:sp>
        <p:nvSpPr>
          <p:cNvPr id="5" name="Text 3"/>
          <p:cNvSpPr/>
          <p:nvPr/>
        </p:nvSpPr>
        <p:spPr>
          <a:xfrm>
            <a:off x="1143000" y="4875212"/>
            <a:ext cx="1349216" cy="81915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0E1FF"/>
                </a:solidFill>
                <a:latin typeface="Space Grotesk" pitchFamily="34" charset="0"/>
                <a:ea typeface="Space Grotesk" pitchFamily="34" charset="-122"/>
                <a:cs typeface="Space Grotesk" pitchFamily="34" charset="-120"/>
              </a:rPr>
              <a:t>8</a:t>
            </a:r>
            <a:endParaRPr lang="en-US" sz="4800" dirty="0"/>
          </a:p>
        </p:txBody>
      </p:sp>
      <p:sp>
        <p:nvSpPr>
          <p:cNvPr id="6" name="Text 4"/>
          <p:cNvSpPr/>
          <p:nvPr/>
        </p:nvSpPr>
        <p:spPr>
          <a:xfrm>
            <a:off x="1143000" y="5713412"/>
            <a:ext cx="1349216" cy="285750"/>
          </a:xfrm>
          <a:prstGeom prst="rect">
            <a:avLst/>
          </a:prstGeom>
          <a:noFill/>
          <a:ln/>
        </p:spPr>
        <p:txBody>
          <a:bodyPr wrap="square" lIns="25400" tIns="25400" rIns="25400" bIns="25400" rtlCol="0" anchor="t">
            <a:normAutofit/>
          </a:bodyPr>
          <a:lstStyle/>
          <a:p>
            <a:pPr algn="l" indent="0" marL="0">
              <a:buNone/>
            </a:pPr>
            <a:r>
              <a:rPr lang="en-US" sz="1500" dirty="0">
                <a:solidFill>
                  <a:srgbClr val="6B6869"/>
                </a:solidFill>
                <a:latin typeface="Space Grotesk" pitchFamily="34" charset="0"/>
                <a:ea typeface="Space Grotesk" pitchFamily="34" charset="-122"/>
                <a:cs typeface="Space Grotesk" pitchFamily="34" charset="-120"/>
              </a:rPr>
              <a:t>nodos por job</a:t>
            </a:r>
            <a:endParaRPr lang="en-US" sz="1500" dirty="0"/>
          </a:p>
        </p:txBody>
      </p:sp>
      <p:sp>
        <p:nvSpPr>
          <p:cNvPr id="7" name="Text 5"/>
          <p:cNvSpPr/>
          <p:nvPr/>
        </p:nvSpPr>
        <p:spPr>
          <a:xfrm>
            <a:off x="2720816" y="4875212"/>
            <a:ext cx="1969135" cy="81915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0E1FF"/>
                </a:solidFill>
                <a:latin typeface="Space Grotesk" pitchFamily="34" charset="0"/>
                <a:ea typeface="Space Grotesk" pitchFamily="34" charset="-122"/>
                <a:cs typeface="Space Grotesk" pitchFamily="34" charset="-120"/>
              </a:rPr>
              <a:t>45 min</a:t>
            </a:r>
            <a:endParaRPr lang="en-US" sz="4800" dirty="0"/>
          </a:p>
        </p:txBody>
      </p:sp>
      <p:sp>
        <p:nvSpPr>
          <p:cNvPr id="8" name="Text 6"/>
          <p:cNvSpPr/>
          <p:nvPr/>
        </p:nvSpPr>
        <p:spPr>
          <a:xfrm>
            <a:off x="2720816" y="5713412"/>
            <a:ext cx="1969135" cy="285750"/>
          </a:xfrm>
          <a:prstGeom prst="rect">
            <a:avLst/>
          </a:prstGeom>
          <a:noFill/>
          <a:ln/>
        </p:spPr>
        <p:txBody>
          <a:bodyPr wrap="square" lIns="25400" tIns="25400" rIns="25400" bIns="25400" rtlCol="0" anchor="t">
            <a:normAutofit/>
          </a:bodyPr>
          <a:lstStyle/>
          <a:p>
            <a:pPr algn="l" indent="0" marL="0">
              <a:buNone/>
            </a:pPr>
            <a:r>
              <a:rPr lang="en-US" sz="1500" dirty="0">
                <a:solidFill>
                  <a:srgbClr val="6B6869"/>
                </a:solidFill>
                <a:latin typeface="Space Grotesk" pitchFamily="34" charset="0"/>
                <a:ea typeface="Space Grotesk" pitchFamily="34" charset="-122"/>
                <a:cs typeface="Space Grotesk" pitchFamily="34" charset="-120"/>
              </a:rPr>
              <a:t>duración media</a:t>
            </a:r>
            <a:endParaRPr lang="en-US" sz="1500" dirty="0"/>
          </a:p>
        </p:txBody>
      </p:sp>
      <p:sp>
        <p:nvSpPr>
          <p:cNvPr id="9" name="Text 7"/>
          <p:cNvSpPr/>
          <p:nvPr/>
        </p:nvSpPr>
        <p:spPr>
          <a:xfrm>
            <a:off x="4918551" y="4875212"/>
            <a:ext cx="1468438" cy="819150"/>
          </a:xfrm>
          <a:prstGeom prst="rect">
            <a:avLst/>
          </a:prstGeom>
          <a:noFill/>
          <a:ln/>
        </p:spPr>
        <p:txBody>
          <a:bodyPr wrap="square" lIns="25400" tIns="25400" rIns="25400" bIns="25400" rtlCol="0" anchor="t">
            <a:normAutofit/>
          </a:bodyPr>
          <a:lstStyle/>
          <a:p>
            <a:pPr algn="l" indent="0" marL="0">
              <a:buNone/>
            </a:pPr>
            <a:r>
              <a:rPr lang="en-US" sz="4800" b="1" spc="-96" kern="0" dirty="0">
                <a:solidFill>
                  <a:srgbClr val="00E1FF"/>
                </a:solidFill>
                <a:latin typeface="Space Grotesk" pitchFamily="34" charset="0"/>
                <a:ea typeface="Space Grotesk" pitchFamily="34" charset="-122"/>
                <a:cs typeface="Space Grotesk" pitchFamily="34" charset="-120"/>
              </a:rPr>
              <a:t>2 AM</a:t>
            </a:r>
            <a:endParaRPr lang="en-US" sz="4800" dirty="0"/>
          </a:p>
        </p:txBody>
      </p:sp>
      <p:sp>
        <p:nvSpPr>
          <p:cNvPr id="10" name="Text 8"/>
          <p:cNvSpPr/>
          <p:nvPr/>
        </p:nvSpPr>
        <p:spPr>
          <a:xfrm>
            <a:off x="4918551" y="5713412"/>
            <a:ext cx="1468438" cy="285750"/>
          </a:xfrm>
          <a:prstGeom prst="rect">
            <a:avLst/>
          </a:prstGeom>
          <a:noFill/>
          <a:ln/>
        </p:spPr>
        <p:txBody>
          <a:bodyPr wrap="square" lIns="25400" tIns="25400" rIns="25400" bIns="25400" rtlCol="0" anchor="t">
            <a:normAutofit/>
          </a:bodyPr>
          <a:lstStyle/>
          <a:p>
            <a:pPr algn="l" indent="0" marL="0">
              <a:buNone/>
            </a:pPr>
            <a:r>
              <a:rPr lang="en-US" sz="1500" dirty="0">
                <a:solidFill>
                  <a:srgbClr val="6B6869"/>
                </a:solidFill>
                <a:latin typeface="Space Grotesk" pitchFamily="34" charset="0"/>
                <a:ea typeface="Space Grotesk" pitchFamily="34" charset="-122"/>
                <a:cs typeface="Space Grotesk" pitchFamily="34" charset="-120"/>
              </a:rPr>
              <a:t>corrida diaria</a:t>
            </a:r>
            <a:endParaRPr lang="en-US" sz="1500" dirty="0"/>
          </a:p>
        </p:txBody>
      </p:sp>
      <p:sp>
        <p:nvSpPr>
          <p:cNvPr id="11" name="Text 9"/>
          <p:cNvSpPr/>
          <p:nvPr/>
        </p:nvSpPr>
        <p:spPr>
          <a:xfrm>
            <a:off x="9601200" y="1047750"/>
            <a:ext cx="7770114" cy="285750"/>
          </a:xfrm>
          <a:prstGeom prst="rect">
            <a:avLst/>
          </a:prstGeom>
          <a:noFill/>
          <a:ln/>
        </p:spPr>
        <p:txBody>
          <a:bodyPr wrap="square" lIns="25400" tIns="25400" rIns="25400" bIns="25400" rtlCol="0" anchor="t">
            <a:normAutofit/>
          </a:bodyPr>
          <a:lstStyle/>
          <a:p>
            <a:pPr algn="l" indent="0" marL="0">
              <a:buNone/>
            </a:pPr>
            <a:r>
              <a:rPr lang="en-US" sz="1500" spc="240" kern="0" dirty="0">
                <a:solidFill>
                  <a:srgbClr val="A1A0A0"/>
                </a:solidFill>
                <a:latin typeface="Space Grotesk" pitchFamily="34" charset="0"/>
                <a:ea typeface="Space Grotesk" pitchFamily="34" charset="-122"/>
                <a:cs typeface="Space Grotesk" pitchFamily="34" charset="-120"/>
              </a:rPr>
              <a:t>JOBS SPARK MLLIB</a:t>
            </a:r>
            <a:endParaRPr lang="en-US" sz="1500" dirty="0"/>
          </a:p>
        </p:txBody>
      </p:sp>
      <p:sp>
        <p:nvSpPr>
          <p:cNvPr id="12" name="Shape 10"/>
          <p:cNvSpPr/>
          <p:nvPr/>
        </p:nvSpPr>
        <p:spPr>
          <a:xfrm>
            <a:off x="9601200" y="1485900"/>
            <a:ext cx="7543800" cy="1085850"/>
          </a:xfrm>
          <a:prstGeom prst="rect">
            <a:avLst/>
          </a:prstGeom>
          <a:solidFill>
            <a:srgbClr val="FFFFFF"/>
          </a:solidFill>
          <a:ln w="9525">
            <a:solidFill>
              <a:srgbClr val="EEEEEE"/>
            </a:solidFill>
            <a:prstDash val="solid"/>
          </a:ln>
        </p:spPr>
      </p:sp>
      <p:sp>
        <p:nvSpPr>
          <p:cNvPr id="13" name="Text 11"/>
          <p:cNvSpPr/>
          <p:nvPr/>
        </p:nvSpPr>
        <p:spPr>
          <a:xfrm>
            <a:off x="9877425" y="1704975"/>
            <a:ext cx="7201091" cy="342900"/>
          </a:xfrm>
          <a:prstGeom prst="rect">
            <a:avLst/>
          </a:prstGeom>
          <a:noFill/>
          <a:ln/>
        </p:spPr>
        <p:txBody>
          <a:bodyPr wrap="square" lIns="25400" tIns="25400" rIns="25400" bIns="25400" rtlCol="0" anchor="t">
            <a:normAutofit/>
          </a:bodyPr>
          <a:lstStyle/>
          <a:p>
            <a:pPr algn="l" indent="0" marL="0">
              <a:buNone/>
            </a:pPr>
            <a:r>
              <a:rPr lang="en-US" sz="1950" b="1" spc="-19" kern="0" dirty="0">
                <a:solidFill>
                  <a:srgbClr val="4D4B4C"/>
                </a:solidFill>
                <a:latin typeface="ui-monospace" pitchFamily="34" charset="0"/>
                <a:ea typeface="ui-monospace" pitchFamily="34" charset="-122"/>
                <a:cs typeface="ui-monospace" pitchFamily="34" charset="-120"/>
              </a:rPr>
              <a:t>liquidity_forecast</a:t>
            </a:r>
            <a:endParaRPr lang="en-US" sz="1950" dirty="0"/>
          </a:p>
        </p:txBody>
      </p:sp>
      <p:sp>
        <p:nvSpPr>
          <p:cNvPr id="14" name="Text 12"/>
          <p:cNvSpPr/>
          <p:nvPr/>
        </p:nvSpPr>
        <p:spPr>
          <a:xfrm>
            <a:off x="9877425" y="2085975"/>
            <a:ext cx="7201091"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B6869"/>
                </a:solidFill>
                <a:latin typeface="Space Grotesk" pitchFamily="34" charset="0"/>
                <a:ea typeface="Space Grotesk" pitchFamily="34" charset="-122"/>
                <a:cs typeface="Space Grotesk" pitchFamily="34" charset="-120"/>
              </a:rPr>
              <a:t>Pronóstico diario de caja por bank_entity, horizonte 1–7 días.</a:t>
            </a:r>
            <a:endParaRPr lang="en-US" sz="1500" dirty="0"/>
          </a:p>
        </p:txBody>
      </p:sp>
      <p:sp>
        <p:nvSpPr>
          <p:cNvPr id="15" name="Shape 13"/>
          <p:cNvSpPr/>
          <p:nvPr/>
        </p:nvSpPr>
        <p:spPr>
          <a:xfrm>
            <a:off x="9601200" y="2762250"/>
            <a:ext cx="7543800" cy="1085850"/>
          </a:xfrm>
          <a:prstGeom prst="rect">
            <a:avLst/>
          </a:prstGeom>
          <a:solidFill>
            <a:srgbClr val="FFFFFF"/>
          </a:solidFill>
          <a:ln w="9525">
            <a:solidFill>
              <a:srgbClr val="EEEEEE"/>
            </a:solidFill>
            <a:prstDash val="solid"/>
          </a:ln>
        </p:spPr>
      </p:sp>
      <p:sp>
        <p:nvSpPr>
          <p:cNvPr id="16" name="Text 14"/>
          <p:cNvSpPr/>
          <p:nvPr/>
        </p:nvSpPr>
        <p:spPr>
          <a:xfrm>
            <a:off x="9877425" y="2981325"/>
            <a:ext cx="7201091" cy="342900"/>
          </a:xfrm>
          <a:prstGeom prst="rect">
            <a:avLst/>
          </a:prstGeom>
          <a:noFill/>
          <a:ln/>
        </p:spPr>
        <p:txBody>
          <a:bodyPr wrap="square" lIns="25400" tIns="25400" rIns="25400" bIns="25400" rtlCol="0" anchor="t">
            <a:normAutofit/>
          </a:bodyPr>
          <a:lstStyle/>
          <a:p>
            <a:pPr algn="l" indent="0" marL="0">
              <a:buNone/>
            </a:pPr>
            <a:r>
              <a:rPr lang="en-US" sz="1950" b="1" spc="-19" kern="0" dirty="0">
                <a:solidFill>
                  <a:srgbClr val="4D4B4C"/>
                </a:solidFill>
                <a:latin typeface="ui-monospace" pitchFamily="34" charset="0"/>
                <a:ea typeface="ui-monospace" pitchFamily="34" charset="-122"/>
                <a:cs typeface="ui-monospace" pitchFamily="34" charset="-120"/>
              </a:rPr>
              <a:t>network_utilization</a:t>
            </a:r>
            <a:endParaRPr lang="en-US" sz="1950" dirty="0"/>
          </a:p>
        </p:txBody>
      </p:sp>
      <p:sp>
        <p:nvSpPr>
          <p:cNvPr id="17" name="Text 15"/>
          <p:cNvSpPr/>
          <p:nvPr/>
        </p:nvSpPr>
        <p:spPr>
          <a:xfrm>
            <a:off x="9877425" y="3362325"/>
            <a:ext cx="7201091" cy="3048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B6869"/>
                </a:solidFill>
                <a:latin typeface="Space Grotesk" pitchFamily="34" charset="0"/>
                <a:ea typeface="Space Grotesk" pitchFamily="34" charset="-122"/>
                <a:cs typeface="Space Grotesk" pitchFamily="34" charset="-120"/>
              </a:rPr>
              <a:t>Densidad de cajeros y sucursales vs demanda observada, por distrito.</a:t>
            </a:r>
            <a:endParaRPr lang="en-US" sz="1500" dirty="0"/>
          </a:p>
        </p:txBody>
      </p:sp>
      <p:sp>
        <p:nvSpPr>
          <p:cNvPr id="18" name="Shape 16"/>
          <p:cNvSpPr/>
          <p:nvPr/>
        </p:nvSpPr>
        <p:spPr>
          <a:xfrm>
            <a:off x="9601200" y="4038600"/>
            <a:ext cx="7543800" cy="1352550"/>
          </a:xfrm>
          <a:prstGeom prst="rect">
            <a:avLst/>
          </a:prstGeom>
          <a:solidFill>
            <a:srgbClr val="FFFFFF"/>
          </a:solidFill>
          <a:ln w="9525">
            <a:solidFill>
              <a:srgbClr val="EEEEEE"/>
            </a:solidFill>
            <a:prstDash val="solid"/>
          </a:ln>
        </p:spPr>
      </p:sp>
      <p:sp>
        <p:nvSpPr>
          <p:cNvPr id="19" name="Text 17"/>
          <p:cNvSpPr/>
          <p:nvPr/>
        </p:nvSpPr>
        <p:spPr>
          <a:xfrm>
            <a:off x="9877425" y="4257675"/>
            <a:ext cx="7201091" cy="342900"/>
          </a:xfrm>
          <a:prstGeom prst="rect">
            <a:avLst/>
          </a:prstGeom>
          <a:noFill/>
          <a:ln/>
        </p:spPr>
        <p:txBody>
          <a:bodyPr wrap="square" lIns="25400" tIns="25400" rIns="25400" bIns="25400" rtlCol="0" anchor="t">
            <a:normAutofit/>
          </a:bodyPr>
          <a:lstStyle/>
          <a:p>
            <a:pPr algn="l" indent="0" marL="0">
              <a:buNone/>
            </a:pPr>
            <a:r>
              <a:rPr lang="en-US" sz="1950" b="1" spc="-19" kern="0" dirty="0">
                <a:solidFill>
                  <a:srgbClr val="4D4B4C"/>
                </a:solidFill>
                <a:latin typeface="ui-monospace" pitchFamily="34" charset="0"/>
                <a:ea typeface="ui-monospace" pitchFamily="34" charset="-122"/>
                <a:cs typeface="ui-monospace" pitchFamily="34" charset="-120"/>
              </a:rPr>
              <a:t>fraud_training</a:t>
            </a:r>
            <a:endParaRPr lang="en-US" sz="1950" dirty="0"/>
          </a:p>
        </p:txBody>
      </p:sp>
      <p:sp>
        <p:nvSpPr>
          <p:cNvPr id="20" name="Text 18"/>
          <p:cNvSpPr/>
          <p:nvPr/>
        </p:nvSpPr>
        <p:spPr>
          <a:xfrm>
            <a:off x="9877425" y="4638675"/>
            <a:ext cx="7201091"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B6869"/>
                </a:solidFill>
                <a:latin typeface="Space Grotesk" pitchFamily="34" charset="0"/>
                <a:ea typeface="Space Grotesk" pitchFamily="34" charset="-122"/>
                <a:cs typeface="Space Grotesk" pitchFamily="34" charset="-120"/>
              </a:rPr>
              <a:t>Re-entrenamiento semanal del modelo GBT con 90 días de historia consolidada.</a:t>
            </a:r>
            <a:endParaRPr lang="en-US" sz="1500" dirty="0"/>
          </a:p>
        </p:txBody>
      </p:sp>
      <p:sp>
        <p:nvSpPr>
          <p:cNvPr id="21" name="Shape 19"/>
          <p:cNvSpPr/>
          <p:nvPr/>
        </p:nvSpPr>
        <p:spPr>
          <a:xfrm>
            <a:off x="9601200" y="5581650"/>
            <a:ext cx="7543800" cy="1352550"/>
          </a:xfrm>
          <a:prstGeom prst="rect">
            <a:avLst/>
          </a:prstGeom>
          <a:solidFill>
            <a:srgbClr val="FFFFFF"/>
          </a:solidFill>
          <a:ln w="9525">
            <a:solidFill>
              <a:srgbClr val="EEEEEE"/>
            </a:solidFill>
            <a:prstDash val="solid"/>
          </a:ln>
        </p:spPr>
      </p:sp>
      <p:sp>
        <p:nvSpPr>
          <p:cNvPr id="22" name="Text 20"/>
          <p:cNvSpPr/>
          <p:nvPr/>
        </p:nvSpPr>
        <p:spPr>
          <a:xfrm>
            <a:off x="9877425" y="5800725"/>
            <a:ext cx="7201091" cy="342900"/>
          </a:xfrm>
          <a:prstGeom prst="rect">
            <a:avLst/>
          </a:prstGeom>
          <a:noFill/>
          <a:ln/>
        </p:spPr>
        <p:txBody>
          <a:bodyPr wrap="square" lIns="25400" tIns="25400" rIns="25400" bIns="25400" rtlCol="0" anchor="t">
            <a:normAutofit/>
          </a:bodyPr>
          <a:lstStyle/>
          <a:p>
            <a:pPr algn="l" indent="0" marL="0">
              <a:buNone/>
            </a:pPr>
            <a:r>
              <a:rPr lang="en-US" sz="1950" b="1" spc="-19" kern="0" dirty="0">
                <a:solidFill>
                  <a:srgbClr val="4D4B4C"/>
                </a:solidFill>
                <a:latin typeface="ui-monospace" pitchFamily="34" charset="0"/>
                <a:ea typeface="ui-monospace" pitchFamily="34" charset="-122"/>
                <a:cs typeface="ui-monospace" pitchFamily="34" charset="-120"/>
              </a:rPr>
              <a:t>daily_closes</a:t>
            </a:r>
            <a:endParaRPr lang="en-US" sz="1950" dirty="0"/>
          </a:p>
        </p:txBody>
      </p:sp>
      <p:sp>
        <p:nvSpPr>
          <p:cNvPr id="23" name="Text 21"/>
          <p:cNvSpPr/>
          <p:nvPr/>
        </p:nvSpPr>
        <p:spPr>
          <a:xfrm>
            <a:off x="9877425" y="6181725"/>
            <a:ext cx="7201091"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B6869"/>
                </a:solidFill>
                <a:latin typeface="Space Grotesk" pitchFamily="34" charset="0"/>
                <a:ea typeface="Space Grotesk" pitchFamily="34" charset="-122"/>
                <a:cs typeface="Space Grotesk" pitchFamily="34" charset="-120"/>
              </a:rPr>
              <a:t>Cierres contables por banco, agregados y escritos a BigQuery bajo schema gold.</a:t>
            </a:r>
            <a:endParaRPr lang="en-US" sz="1500" dirty="0"/>
          </a:p>
        </p:txBody>
      </p:sp>
      <p:pic>
        <p:nvPicPr>
          <p:cNvPr id="24"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25" name="Text 22"/>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1648206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MODELO DE DETECCIÓN DE FRAUDE</a:t>
            </a:r>
            <a:endParaRPr lang="en-US" sz="1500" dirty="0"/>
          </a:p>
        </p:txBody>
      </p:sp>
      <p:sp>
        <p:nvSpPr>
          <p:cNvPr id="3" name="Text 1"/>
          <p:cNvSpPr/>
          <p:nvPr/>
        </p:nvSpPr>
        <p:spPr>
          <a:xfrm>
            <a:off x="1143000" y="1524000"/>
            <a:ext cx="16482060" cy="866775"/>
          </a:xfrm>
          <a:prstGeom prst="rect">
            <a:avLst/>
          </a:prstGeom>
          <a:noFill/>
          <a:ln/>
        </p:spPr>
        <p:txBody>
          <a:bodyPr wrap="square" lIns="25400" tIns="25400" rIns="25400" bIns="25400" rtlCol="0" anchor="t">
            <a:normAutofit/>
          </a:bodyPr>
          <a:lstStyle/>
          <a:p>
            <a:pPr algn="l" indent="0" marL="0">
              <a:buNone/>
            </a:pPr>
            <a:r>
              <a:rPr lang="en-US" sz="5100" b="1" spc="-76" kern="0" dirty="0">
                <a:solidFill>
                  <a:srgbClr val="4D4B4C"/>
                </a:solidFill>
                <a:latin typeface="Space Grotesk" pitchFamily="34" charset="0"/>
                <a:ea typeface="Space Grotesk" pitchFamily="34" charset="-122"/>
                <a:cs typeface="Space Grotesk" pitchFamily="34" charset="-120"/>
              </a:rPr>
              <a:t>Gradient Boosted Trees sobre historia consolidada</a:t>
            </a:r>
            <a:endParaRPr lang="en-US" sz="5100" dirty="0"/>
          </a:p>
        </p:txBody>
      </p:sp>
      <p:sp>
        <p:nvSpPr>
          <p:cNvPr id="4" name="Text 2"/>
          <p:cNvSpPr/>
          <p:nvPr/>
        </p:nvSpPr>
        <p:spPr>
          <a:xfrm>
            <a:off x="1143000" y="2886075"/>
            <a:ext cx="7848600" cy="1115378"/>
          </a:xfrm>
          <a:prstGeom prst="rect">
            <a:avLst/>
          </a:prstGeom>
          <a:noFill/>
          <a:ln/>
        </p:spPr>
        <p:txBody>
          <a:bodyPr wrap="square" lIns="25400" tIns="25400" rIns="25400" bIns="25400" rtlCol="0" anchor="t">
            <a:normAutofit/>
          </a:bodyPr>
          <a:lstStyle/>
          <a:p>
            <a:pPr algn="l" indent="0" marL="0">
              <a:lnSpc>
                <a:spcPct val="145000"/>
              </a:lnSpc>
              <a:buNone/>
            </a:pPr>
            <a:r>
              <a:rPr lang="en-US" sz="1950" dirty="0">
                <a:solidFill>
                  <a:srgbClr val="6B6869"/>
                </a:solidFill>
                <a:latin typeface="Space Grotesk" pitchFamily="34" charset="0"/>
                <a:ea typeface="Space Grotesk" pitchFamily="34" charset="-122"/>
                <a:cs typeface="Space Grotesk" pitchFamily="34" charset="-120"/>
              </a:rPr>
              <a:t>El modelo GBT se entrena sobre el historial consolidado de los 12 bancos. Un cliente sospechoso en uno queda marcado automáticamente para todos.</a:t>
            </a:r>
            <a:endParaRPr lang="en-US" sz="1950" dirty="0"/>
          </a:p>
        </p:txBody>
      </p:sp>
      <p:sp>
        <p:nvSpPr>
          <p:cNvPr id="5" name="Shape 3"/>
          <p:cNvSpPr/>
          <p:nvPr/>
        </p:nvSpPr>
        <p:spPr>
          <a:xfrm>
            <a:off x="1143000" y="5115878"/>
            <a:ext cx="7982902" cy="9525"/>
          </a:xfrm>
          <a:prstGeom prst="rect">
            <a:avLst/>
          </a:prstGeom>
          <a:solidFill>
            <a:srgbClr val="EEEEEE"/>
          </a:solidFill>
          <a:ln/>
        </p:spPr>
      </p:sp>
      <p:sp>
        <p:nvSpPr>
          <p:cNvPr id="6" name="Text 4"/>
          <p:cNvSpPr/>
          <p:nvPr/>
        </p:nvSpPr>
        <p:spPr>
          <a:xfrm>
            <a:off x="1143000" y="4668203"/>
            <a:ext cx="2171700" cy="314325"/>
          </a:xfrm>
          <a:prstGeom prst="rect">
            <a:avLst/>
          </a:prstGeom>
          <a:noFill/>
          <a:ln/>
        </p:spPr>
        <p:txBody>
          <a:bodyPr wrap="square" lIns="25400" tIns="25400" rIns="25400" bIns="25400" rtlCol="0" anchor="t">
            <a:normAutofit/>
          </a:bodyPr>
          <a:lstStyle/>
          <a:p>
            <a:pPr algn="l" indent="0" marL="0">
              <a:buNone/>
            </a:pPr>
            <a:r>
              <a:rPr lang="en-US" sz="1350" spc="189" kern="0" dirty="0">
                <a:solidFill>
                  <a:srgbClr val="A1A0A0"/>
                </a:solidFill>
                <a:latin typeface="Space Grotesk" pitchFamily="34" charset="0"/>
                <a:ea typeface="Space Grotesk" pitchFamily="34" charset="-122"/>
                <a:cs typeface="Space Grotesk" pitchFamily="34" charset="-120"/>
              </a:rPr>
              <a:t>ENTRENAMIENTO</a:t>
            </a:r>
            <a:endParaRPr lang="en-US" sz="1350" dirty="0"/>
          </a:p>
        </p:txBody>
      </p:sp>
      <p:sp>
        <p:nvSpPr>
          <p:cNvPr id="7" name="Text 5"/>
          <p:cNvSpPr/>
          <p:nvPr/>
        </p:nvSpPr>
        <p:spPr>
          <a:xfrm>
            <a:off x="3543300" y="4668203"/>
            <a:ext cx="575008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4D4B4C"/>
                </a:solidFill>
                <a:latin typeface="Space Grotesk" pitchFamily="34" charset="0"/>
                <a:ea typeface="Space Grotesk" pitchFamily="34" charset="-122"/>
                <a:cs typeface="Space Grotesk" pitchFamily="34" charset="-120"/>
              </a:rPr>
              <a:t>Spark MLlib · Dataproc · semanal</a:t>
            </a:r>
            <a:endParaRPr lang="en-US" sz="1650" dirty="0"/>
          </a:p>
        </p:txBody>
      </p:sp>
      <p:sp>
        <p:nvSpPr>
          <p:cNvPr id="8" name="Shape 6"/>
          <p:cNvSpPr/>
          <p:nvPr/>
        </p:nvSpPr>
        <p:spPr>
          <a:xfrm>
            <a:off x="1143000" y="5954077"/>
            <a:ext cx="7982902" cy="9525"/>
          </a:xfrm>
          <a:prstGeom prst="rect">
            <a:avLst/>
          </a:prstGeom>
          <a:solidFill>
            <a:srgbClr val="EEEEEE"/>
          </a:solidFill>
          <a:ln/>
        </p:spPr>
      </p:sp>
      <p:sp>
        <p:nvSpPr>
          <p:cNvPr id="9" name="Text 7"/>
          <p:cNvSpPr/>
          <p:nvPr/>
        </p:nvSpPr>
        <p:spPr>
          <a:xfrm>
            <a:off x="1143000" y="5506402"/>
            <a:ext cx="2171700" cy="314325"/>
          </a:xfrm>
          <a:prstGeom prst="rect">
            <a:avLst/>
          </a:prstGeom>
          <a:noFill/>
          <a:ln/>
        </p:spPr>
        <p:txBody>
          <a:bodyPr wrap="square" lIns="25400" tIns="25400" rIns="25400" bIns="25400" rtlCol="0" anchor="t">
            <a:normAutofit/>
          </a:bodyPr>
          <a:lstStyle/>
          <a:p>
            <a:pPr algn="l" indent="0" marL="0">
              <a:buNone/>
            </a:pPr>
            <a:r>
              <a:rPr lang="en-US" sz="1350" spc="189" kern="0" dirty="0">
                <a:solidFill>
                  <a:srgbClr val="A1A0A0"/>
                </a:solidFill>
                <a:latin typeface="Space Grotesk" pitchFamily="34" charset="0"/>
                <a:ea typeface="Space Grotesk" pitchFamily="34" charset="-122"/>
                <a:cs typeface="Space Grotesk" pitchFamily="34" charset="-120"/>
              </a:rPr>
              <a:t>SERVING</a:t>
            </a:r>
            <a:endParaRPr lang="en-US" sz="1350" dirty="0"/>
          </a:p>
        </p:txBody>
      </p:sp>
      <p:sp>
        <p:nvSpPr>
          <p:cNvPr id="10" name="Text 8"/>
          <p:cNvSpPr/>
          <p:nvPr/>
        </p:nvSpPr>
        <p:spPr>
          <a:xfrm>
            <a:off x="3543300" y="5506402"/>
            <a:ext cx="575008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4D4B4C"/>
                </a:solidFill>
                <a:latin typeface="Space Grotesk" pitchFamily="34" charset="0"/>
                <a:ea typeface="Space Grotesk" pitchFamily="34" charset="-122"/>
                <a:cs typeface="Space Grotesk" pitchFamily="34" charset="-120"/>
              </a:rPr>
              <a:t>Vertex AI Endpoint · 2–10 réplicas</a:t>
            </a:r>
            <a:endParaRPr lang="en-US" sz="1650" dirty="0"/>
          </a:p>
        </p:txBody>
      </p:sp>
      <p:sp>
        <p:nvSpPr>
          <p:cNvPr id="11" name="Shape 9"/>
          <p:cNvSpPr/>
          <p:nvPr/>
        </p:nvSpPr>
        <p:spPr>
          <a:xfrm>
            <a:off x="1143000" y="6792277"/>
            <a:ext cx="7982902" cy="9525"/>
          </a:xfrm>
          <a:prstGeom prst="rect">
            <a:avLst/>
          </a:prstGeom>
          <a:solidFill>
            <a:srgbClr val="EEEEEE"/>
          </a:solidFill>
          <a:ln/>
        </p:spPr>
      </p:sp>
      <p:sp>
        <p:nvSpPr>
          <p:cNvPr id="12" name="Text 10"/>
          <p:cNvSpPr/>
          <p:nvPr/>
        </p:nvSpPr>
        <p:spPr>
          <a:xfrm>
            <a:off x="1143000" y="6344602"/>
            <a:ext cx="2171700" cy="314325"/>
          </a:xfrm>
          <a:prstGeom prst="rect">
            <a:avLst/>
          </a:prstGeom>
          <a:noFill/>
          <a:ln/>
        </p:spPr>
        <p:txBody>
          <a:bodyPr wrap="square" lIns="25400" tIns="25400" rIns="25400" bIns="25400" rtlCol="0" anchor="t">
            <a:normAutofit/>
          </a:bodyPr>
          <a:lstStyle/>
          <a:p>
            <a:pPr algn="l" indent="0" marL="0">
              <a:buNone/>
            </a:pPr>
            <a:r>
              <a:rPr lang="en-US" sz="1350" spc="189" kern="0" dirty="0">
                <a:solidFill>
                  <a:srgbClr val="A1A0A0"/>
                </a:solidFill>
                <a:latin typeface="Space Grotesk" pitchFamily="34" charset="0"/>
                <a:ea typeface="Space Grotesk" pitchFamily="34" charset="-122"/>
                <a:cs typeface="Space Grotesk" pitchFamily="34" charset="-120"/>
              </a:rPr>
              <a:t>FEATURES</a:t>
            </a:r>
            <a:endParaRPr lang="en-US" sz="1350" dirty="0"/>
          </a:p>
        </p:txBody>
      </p:sp>
      <p:sp>
        <p:nvSpPr>
          <p:cNvPr id="13" name="Text 11"/>
          <p:cNvSpPr/>
          <p:nvPr/>
        </p:nvSpPr>
        <p:spPr>
          <a:xfrm>
            <a:off x="3543300" y="6344602"/>
            <a:ext cx="575008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4D4B4C"/>
                </a:solidFill>
                <a:latin typeface="Space Grotesk" pitchFamily="34" charset="0"/>
                <a:ea typeface="Space Grotesk" pitchFamily="34" charset="-122"/>
                <a:cs typeface="Space Grotesk" pitchFamily="34" charset="-120"/>
              </a:rPr>
              <a:t>Memorystore Redis · reglas + agregados</a:t>
            </a:r>
            <a:endParaRPr lang="en-US" sz="1650" dirty="0"/>
          </a:p>
        </p:txBody>
      </p:sp>
      <p:sp>
        <p:nvSpPr>
          <p:cNvPr id="14" name="Shape 12"/>
          <p:cNvSpPr/>
          <p:nvPr/>
        </p:nvSpPr>
        <p:spPr>
          <a:xfrm>
            <a:off x="1143000" y="7630477"/>
            <a:ext cx="7982902" cy="9525"/>
          </a:xfrm>
          <a:prstGeom prst="rect">
            <a:avLst/>
          </a:prstGeom>
          <a:solidFill>
            <a:srgbClr val="EEEEEE"/>
          </a:solidFill>
          <a:ln/>
        </p:spPr>
      </p:sp>
      <p:sp>
        <p:nvSpPr>
          <p:cNvPr id="15" name="Text 13"/>
          <p:cNvSpPr/>
          <p:nvPr/>
        </p:nvSpPr>
        <p:spPr>
          <a:xfrm>
            <a:off x="1143000" y="7182802"/>
            <a:ext cx="2171700" cy="314325"/>
          </a:xfrm>
          <a:prstGeom prst="rect">
            <a:avLst/>
          </a:prstGeom>
          <a:noFill/>
          <a:ln/>
        </p:spPr>
        <p:txBody>
          <a:bodyPr wrap="square" lIns="25400" tIns="25400" rIns="25400" bIns="25400" rtlCol="0" anchor="t">
            <a:normAutofit/>
          </a:bodyPr>
          <a:lstStyle/>
          <a:p>
            <a:pPr algn="l" indent="0" marL="0">
              <a:buNone/>
            </a:pPr>
            <a:r>
              <a:rPr lang="en-US" sz="1350" spc="189" kern="0" dirty="0">
                <a:solidFill>
                  <a:srgbClr val="A1A0A0"/>
                </a:solidFill>
                <a:latin typeface="Space Grotesk" pitchFamily="34" charset="0"/>
                <a:ea typeface="Space Grotesk" pitchFamily="34" charset="-122"/>
                <a:cs typeface="Space Grotesk" pitchFamily="34" charset="-120"/>
              </a:rPr>
              <a:t>SCORING</a:t>
            </a:r>
            <a:endParaRPr lang="en-US" sz="1350" dirty="0"/>
          </a:p>
        </p:txBody>
      </p:sp>
      <p:sp>
        <p:nvSpPr>
          <p:cNvPr id="16" name="Text 14"/>
          <p:cNvSpPr/>
          <p:nvPr/>
        </p:nvSpPr>
        <p:spPr>
          <a:xfrm>
            <a:off x="3543300" y="7182802"/>
            <a:ext cx="5750080" cy="314325"/>
          </a:xfrm>
          <a:prstGeom prst="rect">
            <a:avLst/>
          </a:prstGeom>
          <a:noFill/>
          <a:ln/>
        </p:spPr>
        <p:txBody>
          <a:bodyPr wrap="square" lIns="25400" tIns="25400" rIns="25400" bIns="25400" rtlCol="0" anchor="t">
            <a:normAutofit/>
          </a:bodyPr>
          <a:lstStyle/>
          <a:p>
            <a:pPr algn="l" indent="0" marL="0">
              <a:buNone/>
            </a:pPr>
            <a:r>
              <a:rPr lang="en-US" sz="1650" dirty="0">
                <a:solidFill>
                  <a:srgbClr val="4D4B4C"/>
                </a:solidFill>
                <a:latin typeface="Space Grotesk" pitchFamily="34" charset="0"/>
                <a:ea typeface="Space Grotesk" pitchFamily="34" charset="-122"/>
                <a:cs typeface="Space Grotesk" pitchFamily="34" charset="-120"/>
              </a:rPr>
              <a:t>Dataflow invoca Vertex · &lt; 200 ms p95</a:t>
            </a:r>
            <a:endParaRPr lang="en-US" sz="1650" dirty="0"/>
          </a:p>
        </p:txBody>
      </p:sp>
      <p:sp>
        <p:nvSpPr>
          <p:cNvPr id="17" name="Shape 15"/>
          <p:cNvSpPr/>
          <p:nvPr/>
        </p:nvSpPr>
        <p:spPr>
          <a:xfrm>
            <a:off x="9887902" y="2886075"/>
            <a:ext cx="7257098" cy="5572125"/>
          </a:xfrm>
          <a:prstGeom prst="rect">
            <a:avLst/>
          </a:prstGeom>
          <a:solidFill>
            <a:srgbClr val="4D4B4C"/>
          </a:solidFill>
          <a:ln/>
        </p:spPr>
      </p:sp>
      <p:sp>
        <p:nvSpPr>
          <p:cNvPr id="18" name="Text 16"/>
          <p:cNvSpPr/>
          <p:nvPr/>
        </p:nvSpPr>
        <p:spPr>
          <a:xfrm>
            <a:off x="10383202" y="3419475"/>
            <a:ext cx="6454493" cy="285750"/>
          </a:xfrm>
          <a:prstGeom prst="rect">
            <a:avLst/>
          </a:prstGeom>
          <a:noFill/>
          <a:ln/>
        </p:spPr>
        <p:txBody>
          <a:bodyPr wrap="square" lIns="25400" tIns="25400" rIns="25400" bIns="25400" rtlCol="0" anchor="t">
            <a:normAutofit/>
          </a:bodyPr>
          <a:lstStyle/>
          <a:p>
            <a:pPr algn="l" indent="0" marL="0">
              <a:buNone/>
            </a:pPr>
            <a:r>
              <a:rPr lang="en-US" sz="1500" spc="240" kern="0" dirty="0">
                <a:solidFill>
                  <a:srgbClr val="00E1FF"/>
                </a:solidFill>
                <a:latin typeface="Space Grotesk" pitchFamily="34" charset="0"/>
                <a:ea typeface="Space Grotesk" pitchFamily="34" charset="-122"/>
                <a:cs typeface="Space Grotesk" pitchFamily="34" charset="-120"/>
              </a:rPr>
              <a:t>DETECCIÓN INTERBANCARIA</a:t>
            </a:r>
            <a:endParaRPr lang="en-US" sz="1500" dirty="0"/>
          </a:p>
        </p:txBody>
      </p:sp>
      <p:sp>
        <p:nvSpPr>
          <p:cNvPr id="19" name="Text 17"/>
          <p:cNvSpPr/>
          <p:nvPr/>
        </p:nvSpPr>
        <p:spPr>
          <a:xfrm>
            <a:off x="10383202" y="3971925"/>
            <a:ext cx="6454493" cy="1981200"/>
          </a:xfrm>
          <a:prstGeom prst="rect">
            <a:avLst/>
          </a:prstGeom>
          <a:noFill/>
          <a:ln/>
        </p:spPr>
        <p:txBody>
          <a:bodyPr wrap="square" lIns="25400" tIns="25400" rIns="25400" bIns="25400" rtlCol="0" anchor="t">
            <a:normAutofit/>
          </a:bodyPr>
          <a:lstStyle/>
          <a:p>
            <a:pPr algn="l" indent="0" marL="0">
              <a:lnSpc>
                <a:spcPct val="85000"/>
              </a:lnSpc>
              <a:buNone/>
            </a:pPr>
            <a:r>
              <a:rPr lang="en-US" sz="18000" b="1" spc="-720" kern="0" dirty="0">
                <a:solidFill>
                  <a:srgbClr val="00E1FF"/>
                </a:solidFill>
                <a:latin typeface="Space Grotesk" pitchFamily="34" charset="0"/>
                <a:ea typeface="Space Grotesk" pitchFamily="34" charset="-122"/>
                <a:cs typeface="Space Grotesk" pitchFamily="34" charset="-120"/>
              </a:rPr>
              <a:t>≥ 90%</a:t>
            </a:r>
            <a:endParaRPr lang="en-US" sz="18000" dirty="0"/>
          </a:p>
        </p:txBody>
      </p:sp>
      <p:sp>
        <p:nvSpPr>
          <p:cNvPr id="20" name="Text 18"/>
          <p:cNvSpPr/>
          <p:nvPr/>
        </p:nvSpPr>
        <p:spPr>
          <a:xfrm>
            <a:off x="10383202" y="6143625"/>
            <a:ext cx="5886450" cy="1118235"/>
          </a:xfrm>
          <a:prstGeom prst="rect">
            <a:avLst/>
          </a:prstGeom>
          <a:noFill/>
          <a:ln/>
        </p:spPr>
        <p:txBody>
          <a:bodyPr wrap="square" lIns="25400" tIns="25400" rIns="25400" bIns="25400" rtlCol="0" anchor="t">
            <a:normAutofit/>
          </a:bodyPr>
          <a:lstStyle/>
          <a:p>
            <a:pPr algn="l" indent="0" marL="0">
              <a:lnSpc>
                <a:spcPct val="135000"/>
              </a:lnSpc>
              <a:buNone/>
            </a:pPr>
            <a:r>
              <a:rPr lang="en-US" sz="2100" dirty="0">
                <a:solidFill>
                  <a:srgbClr val="FFFFFF"/>
                </a:solidFill>
                <a:latin typeface="Space Grotesk" pitchFamily="34" charset="0"/>
                <a:ea typeface="Space Grotesk" pitchFamily="34" charset="-122"/>
                <a:cs typeface="Space Grotesk" pitchFamily="34" charset="-120"/>
              </a:rPr>
              <a:t>de cobertura en la meta de fraude cruzado. La arquitectura habilita la métrica y el tuning del umbral fija el punto operativo.</a:t>
            </a:r>
            <a:endParaRPr lang="en-US" sz="2100" dirty="0"/>
          </a:p>
        </p:txBody>
      </p:sp>
      <p:sp>
        <p:nvSpPr>
          <p:cNvPr id="21" name="Text 19"/>
          <p:cNvSpPr/>
          <p:nvPr/>
        </p:nvSpPr>
        <p:spPr>
          <a:xfrm>
            <a:off x="10295731" y="7223760"/>
            <a:ext cx="6634520" cy="739140"/>
          </a:xfrm>
          <a:prstGeom prst="rect">
            <a:avLst/>
          </a:prstGeom>
          <a:noFill/>
          <a:ln/>
        </p:spPr>
        <p:txBody>
          <a:bodyPr wrap="square" lIns="25400" tIns="25400" rIns="25400" bIns="25400" rtlCol="0" anchor="t">
            <a:normAutofit/>
          </a:bodyPr>
          <a:lstStyle/>
          <a:p>
            <a:pPr algn="l" indent="0" marL="0">
              <a:lnSpc>
                <a:spcPct val="92000"/>
              </a:lnSpc>
              <a:buNone/>
            </a:pPr>
            <a:r>
              <a:rPr lang="en-US" sz="3000" b="1" spc="60" kern="0" dirty="0">
                <a:solidFill>
                  <a:srgbClr val="00E1FF"/>
                </a:solidFill>
                <a:latin typeface="Space Grotesk" pitchFamily="34" charset="0"/>
                <a:ea typeface="Space Grotesk" pitchFamily="34" charset="-122"/>
                <a:cs typeface="Space Grotesk" pitchFamily="34" charset="-120"/>
              </a:rPr>
              <a:t>HANDS ON.</a:t>
            </a:r>
            <a:endParaRPr lang="en-US" sz="3000" dirty="0"/>
          </a:p>
        </p:txBody>
      </p:sp>
      <p:pic>
        <p:nvPicPr>
          <p:cNvPr id="22"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23" name="Text 20"/>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1648206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DISTRIBUCIÓN Y GOBIERNO</a:t>
            </a:r>
            <a:endParaRPr lang="en-US" sz="1500" dirty="0"/>
          </a:p>
        </p:txBody>
      </p:sp>
      <p:sp>
        <p:nvSpPr>
          <p:cNvPr id="3" name="Text 1"/>
          <p:cNvSpPr/>
          <p:nvPr/>
        </p:nvSpPr>
        <p:spPr>
          <a:xfrm>
            <a:off x="1143000" y="1524000"/>
            <a:ext cx="16482060" cy="866775"/>
          </a:xfrm>
          <a:prstGeom prst="rect">
            <a:avLst/>
          </a:prstGeom>
          <a:noFill/>
          <a:ln/>
        </p:spPr>
        <p:txBody>
          <a:bodyPr wrap="square" lIns="25400" tIns="25400" rIns="25400" bIns="25400" rtlCol="0" anchor="t">
            <a:normAutofit/>
          </a:bodyPr>
          <a:lstStyle/>
          <a:p>
            <a:pPr algn="l" indent="0" marL="0">
              <a:buNone/>
            </a:pPr>
            <a:r>
              <a:rPr lang="en-US" sz="5100" b="1" spc="-76" kern="0" dirty="0">
                <a:solidFill>
                  <a:srgbClr val="4D4B4C"/>
                </a:solidFill>
                <a:latin typeface="Space Grotesk" pitchFamily="34" charset="0"/>
                <a:ea typeface="Space Grotesk" pitchFamily="34" charset="-122"/>
                <a:cs typeface="Space Grotesk" pitchFamily="34" charset="-120"/>
              </a:rPr>
              <a:t>Fan-out filtrado para los 12 bancos</a:t>
            </a:r>
            <a:endParaRPr lang="en-US" sz="5100" dirty="0"/>
          </a:p>
        </p:txBody>
      </p:sp>
      <p:sp>
        <p:nvSpPr>
          <p:cNvPr id="4" name="Shape 2"/>
          <p:cNvSpPr/>
          <p:nvPr/>
        </p:nvSpPr>
        <p:spPr>
          <a:xfrm>
            <a:off x="1143000" y="2924175"/>
            <a:ext cx="8613934" cy="4314825"/>
          </a:xfrm>
          <a:prstGeom prst="rect">
            <a:avLst/>
          </a:prstGeom>
          <a:solidFill>
            <a:srgbClr val="F7F7F7"/>
          </a:solidFill>
          <a:ln/>
        </p:spPr>
      </p:sp>
      <p:sp>
        <p:nvSpPr>
          <p:cNvPr id="5" name="Shape 3"/>
          <p:cNvSpPr/>
          <p:nvPr/>
        </p:nvSpPr>
        <p:spPr>
          <a:xfrm>
            <a:off x="1600200" y="3381375"/>
            <a:ext cx="3313906" cy="781050"/>
          </a:xfrm>
          <a:prstGeom prst="rect">
            <a:avLst/>
          </a:prstGeom>
          <a:solidFill>
            <a:srgbClr val="00E1FF"/>
          </a:solidFill>
          <a:ln/>
        </p:spPr>
      </p:sp>
      <p:sp>
        <p:nvSpPr>
          <p:cNvPr id="6" name="Text 4"/>
          <p:cNvSpPr/>
          <p:nvPr/>
        </p:nvSpPr>
        <p:spPr>
          <a:xfrm>
            <a:off x="1855291" y="3609975"/>
            <a:ext cx="2803724" cy="361950"/>
          </a:xfrm>
          <a:prstGeom prst="rect">
            <a:avLst/>
          </a:prstGeom>
          <a:noFill/>
          <a:ln/>
        </p:spPr>
        <p:txBody>
          <a:bodyPr wrap="square" lIns="25400" tIns="25400" rIns="25400" bIns="25400" rtlCol="0" anchor="t">
            <a:normAutofit/>
          </a:bodyPr>
          <a:lstStyle/>
          <a:p>
            <a:pPr algn="ctr" indent="0" marL="0">
              <a:buNone/>
            </a:pPr>
            <a:r>
              <a:rPr lang="en-US" sz="1950" b="1" spc="-19" kern="0" dirty="0">
                <a:solidFill>
                  <a:srgbClr val="4D4B4C"/>
                </a:solidFill>
                <a:latin typeface="Space Grotesk" pitchFamily="34" charset="0"/>
                <a:ea typeface="Space Grotesk" pitchFamily="34" charset="-122"/>
                <a:cs typeface="Space Grotesk" pitchFamily="34" charset="-120"/>
              </a:rPr>
              <a:t>tx-approved (Pub/Sub)</a:t>
            </a:r>
            <a:endParaRPr lang="en-US" sz="1950" dirty="0"/>
          </a:p>
        </p:txBody>
      </p:sp>
      <p:sp>
        <p:nvSpPr>
          <p:cNvPr id="7" name="Shape 5"/>
          <p:cNvSpPr/>
          <p:nvPr/>
        </p:nvSpPr>
        <p:spPr>
          <a:xfrm>
            <a:off x="1600200" y="4467225"/>
            <a:ext cx="1839119" cy="542925"/>
          </a:xfrm>
          <a:prstGeom prst="rect">
            <a:avLst/>
          </a:prstGeom>
          <a:solidFill>
            <a:srgbClr val="FFFFFF"/>
          </a:solidFill>
          <a:ln w="9525">
            <a:solidFill>
              <a:srgbClr val="4D4B4C"/>
            </a:solidFill>
            <a:prstDash val="solid"/>
          </a:ln>
        </p:spPr>
      </p:sp>
      <p:sp>
        <p:nvSpPr>
          <p:cNvPr id="8" name="Text 6"/>
          <p:cNvSpPr/>
          <p:nvPr/>
        </p:nvSpPr>
        <p:spPr>
          <a:xfrm>
            <a:off x="1800225" y="4648200"/>
            <a:ext cx="151526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4D4B4C"/>
                </a:solidFill>
                <a:latin typeface="ui-monospace" pitchFamily="34" charset="0"/>
                <a:ea typeface="ui-monospace" pitchFamily="34" charset="-122"/>
                <a:cs typeface="ui-monospace" pitchFamily="34" charset="-120"/>
              </a:rPr>
              <a:t>sub-bank- 01</a:t>
            </a:r>
            <a:endParaRPr lang="en-US" sz="1200" dirty="0"/>
          </a:p>
        </p:txBody>
      </p:sp>
      <p:sp>
        <p:nvSpPr>
          <p:cNvPr id="9" name="Shape 7"/>
          <p:cNvSpPr/>
          <p:nvPr/>
        </p:nvSpPr>
        <p:spPr>
          <a:xfrm>
            <a:off x="3553619" y="4467225"/>
            <a:ext cx="1839119" cy="542925"/>
          </a:xfrm>
          <a:prstGeom prst="rect">
            <a:avLst/>
          </a:prstGeom>
          <a:solidFill>
            <a:srgbClr val="FFFFFF"/>
          </a:solidFill>
          <a:ln w="9525">
            <a:solidFill>
              <a:srgbClr val="4D4B4C"/>
            </a:solidFill>
            <a:prstDash val="solid"/>
          </a:ln>
        </p:spPr>
      </p:sp>
      <p:sp>
        <p:nvSpPr>
          <p:cNvPr id="10" name="Text 8"/>
          <p:cNvSpPr/>
          <p:nvPr/>
        </p:nvSpPr>
        <p:spPr>
          <a:xfrm>
            <a:off x="3753644" y="4648200"/>
            <a:ext cx="151526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4D4B4C"/>
                </a:solidFill>
                <a:latin typeface="ui-monospace" pitchFamily="34" charset="0"/>
                <a:ea typeface="ui-monospace" pitchFamily="34" charset="-122"/>
                <a:cs typeface="ui-monospace" pitchFamily="34" charset="-120"/>
              </a:rPr>
              <a:t>sub-bank- 02</a:t>
            </a:r>
            <a:endParaRPr lang="en-US" sz="1200" dirty="0"/>
          </a:p>
        </p:txBody>
      </p:sp>
      <p:sp>
        <p:nvSpPr>
          <p:cNvPr id="11" name="Shape 9"/>
          <p:cNvSpPr/>
          <p:nvPr/>
        </p:nvSpPr>
        <p:spPr>
          <a:xfrm>
            <a:off x="5507038" y="4467225"/>
            <a:ext cx="1839119" cy="542925"/>
          </a:xfrm>
          <a:prstGeom prst="rect">
            <a:avLst/>
          </a:prstGeom>
          <a:solidFill>
            <a:srgbClr val="FFFFFF"/>
          </a:solidFill>
          <a:ln w="9525">
            <a:solidFill>
              <a:srgbClr val="4D4B4C"/>
            </a:solidFill>
            <a:prstDash val="solid"/>
          </a:ln>
        </p:spPr>
      </p:sp>
      <p:sp>
        <p:nvSpPr>
          <p:cNvPr id="12" name="Text 10"/>
          <p:cNvSpPr/>
          <p:nvPr/>
        </p:nvSpPr>
        <p:spPr>
          <a:xfrm>
            <a:off x="5707063" y="4648200"/>
            <a:ext cx="151526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4D4B4C"/>
                </a:solidFill>
                <a:latin typeface="ui-monospace" pitchFamily="34" charset="0"/>
                <a:ea typeface="ui-monospace" pitchFamily="34" charset="-122"/>
                <a:cs typeface="ui-monospace" pitchFamily="34" charset="-120"/>
              </a:rPr>
              <a:t>sub-bank- 03</a:t>
            </a:r>
            <a:endParaRPr lang="en-US" sz="1200" dirty="0"/>
          </a:p>
        </p:txBody>
      </p:sp>
      <p:sp>
        <p:nvSpPr>
          <p:cNvPr id="13" name="Shape 11"/>
          <p:cNvSpPr/>
          <p:nvPr/>
        </p:nvSpPr>
        <p:spPr>
          <a:xfrm>
            <a:off x="7460456" y="4467225"/>
            <a:ext cx="1839119" cy="542925"/>
          </a:xfrm>
          <a:prstGeom prst="rect">
            <a:avLst/>
          </a:prstGeom>
          <a:solidFill>
            <a:srgbClr val="FFFFFF"/>
          </a:solidFill>
          <a:ln w="9525">
            <a:solidFill>
              <a:srgbClr val="4D4B4C"/>
            </a:solidFill>
            <a:prstDash val="solid"/>
          </a:ln>
        </p:spPr>
      </p:sp>
      <p:sp>
        <p:nvSpPr>
          <p:cNvPr id="14" name="Text 12"/>
          <p:cNvSpPr/>
          <p:nvPr/>
        </p:nvSpPr>
        <p:spPr>
          <a:xfrm>
            <a:off x="7660481" y="4648200"/>
            <a:ext cx="151526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4D4B4C"/>
                </a:solidFill>
                <a:latin typeface="ui-monospace" pitchFamily="34" charset="0"/>
                <a:ea typeface="ui-monospace" pitchFamily="34" charset="-122"/>
                <a:cs typeface="ui-monospace" pitchFamily="34" charset="-120"/>
              </a:rPr>
              <a:t>sub-bank- 04</a:t>
            </a:r>
            <a:endParaRPr lang="en-US" sz="1200" dirty="0"/>
          </a:p>
        </p:txBody>
      </p:sp>
      <p:sp>
        <p:nvSpPr>
          <p:cNvPr id="15" name="Shape 13"/>
          <p:cNvSpPr/>
          <p:nvPr/>
        </p:nvSpPr>
        <p:spPr>
          <a:xfrm>
            <a:off x="1600200" y="5124450"/>
            <a:ext cx="1839119" cy="542925"/>
          </a:xfrm>
          <a:prstGeom prst="rect">
            <a:avLst/>
          </a:prstGeom>
          <a:solidFill>
            <a:srgbClr val="FFFFFF"/>
          </a:solidFill>
          <a:ln w="9525">
            <a:solidFill>
              <a:srgbClr val="4D4B4C"/>
            </a:solidFill>
            <a:prstDash val="solid"/>
          </a:ln>
        </p:spPr>
      </p:sp>
      <p:sp>
        <p:nvSpPr>
          <p:cNvPr id="16" name="Text 14"/>
          <p:cNvSpPr/>
          <p:nvPr/>
        </p:nvSpPr>
        <p:spPr>
          <a:xfrm>
            <a:off x="1800225" y="5305425"/>
            <a:ext cx="151526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4D4B4C"/>
                </a:solidFill>
                <a:latin typeface="ui-monospace" pitchFamily="34" charset="0"/>
                <a:ea typeface="ui-monospace" pitchFamily="34" charset="-122"/>
                <a:cs typeface="ui-monospace" pitchFamily="34" charset="-120"/>
              </a:rPr>
              <a:t>sub-bank- 05</a:t>
            </a:r>
            <a:endParaRPr lang="en-US" sz="1200" dirty="0"/>
          </a:p>
        </p:txBody>
      </p:sp>
      <p:sp>
        <p:nvSpPr>
          <p:cNvPr id="17" name="Shape 15"/>
          <p:cNvSpPr/>
          <p:nvPr/>
        </p:nvSpPr>
        <p:spPr>
          <a:xfrm>
            <a:off x="3553619" y="5124450"/>
            <a:ext cx="1839119" cy="542925"/>
          </a:xfrm>
          <a:prstGeom prst="rect">
            <a:avLst/>
          </a:prstGeom>
          <a:solidFill>
            <a:srgbClr val="FFFFFF"/>
          </a:solidFill>
          <a:ln w="9525">
            <a:solidFill>
              <a:srgbClr val="4D4B4C"/>
            </a:solidFill>
            <a:prstDash val="solid"/>
          </a:ln>
        </p:spPr>
      </p:sp>
      <p:sp>
        <p:nvSpPr>
          <p:cNvPr id="18" name="Text 16"/>
          <p:cNvSpPr/>
          <p:nvPr/>
        </p:nvSpPr>
        <p:spPr>
          <a:xfrm>
            <a:off x="3753644" y="5305425"/>
            <a:ext cx="151526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4D4B4C"/>
                </a:solidFill>
                <a:latin typeface="ui-monospace" pitchFamily="34" charset="0"/>
                <a:ea typeface="ui-monospace" pitchFamily="34" charset="-122"/>
                <a:cs typeface="ui-monospace" pitchFamily="34" charset="-120"/>
              </a:rPr>
              <a:t>sub-bank- 06</a:t>
            </a:r>
            <a:endParaRPr lang="en-US" sz="1200" dirty="0"/>
          </a:p>
        </p:txBody>
      </p:sp>
      <p:sp>
        <p:nvSpPr>
          <p:cNvPr id="19" name="Shape 17"/>
          <p:cNvSpPr/>
          <p:nvPr/>
        </p:nvSpPr>
        <p:spPr>
          <a:xfrm>
            <a:off x="5507038" y="5124450"/>
            <a:ext cx="1839119" cy="542925"/>
          </a:xfrm>
          <a:prstGeom prst="rect">
            <a:avLst/>
          </a:prstGeom>
          <a:solidFill>
            <a:srgbClr val="FFFFFF"/>
          </a:solidFill>
          <a:ln w="9525">
            <a:solidFill>
              <a:srgbClr val="4D4B4C"/>
            </a:solidFill>
            <a:prstDash val="solid"/>
          </a:ln>
        </p:spPr>
      </p:sp>
      <p:sp>
        <p:nvSpPr>
          <p:cNvPr id="20" name="Text 18"/>
          <p:cNvSpPr/>
          <p:nvPr/>
        </p:nvSpPr>
        <p:spPr>
          <a:xfrm>
            <a:off x="5707063" y="5305425"/>
            <a:ext cx="151526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4D4B4C"/>
                </a:solidFill>
                <a:latin typeface="ui-monospace" pitchFamily="34" charset="0"/>
                <a:ea typeface="ui-monospace" pitchFamily="34" charset="-122"/>
                <a:cs typeface="ui-monospace" pitchFamily="34" charset="-120"/>
              </a:rPr>
              <a:t>sub-bank- 07</a:t>
            </a:r>
            <a:endParaRPr lang="en-US" sz="1200" dirty="0"/>
          </a:p>
        </p:txBody>
      </p:sp>
      <p:sp>
        <p:nvSpPr>
          <p:cNvPr id="21" name="Shape 19"/>
          <p:cNvSpPr/>
          <p:nvPr/>
        </p:nvSpPr>
        <p:spPr>
          <a:xfrm>
            <a:off x="7460456" y="5124450"/>
            <a:ext cx="1839119" cy="542925"/>
          </a:xfrm>
          <a:prstGeom prst="rect">
            <a:avLst/>
          </a:prstGeom>
          <a:solidFill>
            <a:srgbClr val="FFFFFF"/>
          </a:solidFill>
          <a:ln w="9525">
            <a:solidFill>
              <a:srgbClr val="4D4B4C"/>
            </a:solidFill>
            <a:prstDash val="solid"/>
          </a:ln>
        </p:spPr>
      </p:sp>
      <p:sp>
        <p:nvSpPr>
          <p:cNvPr id="22" name="Text 20"/>
          <p:cNvSpPr/>
          <p:nvPr/>
        </p:nvSpPr>
        <p:spPr>
          <a:xfrm>
            <a:off x="7660481" y="5305425"/>
            <a:ext cx="151526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4D4B4C"/>
                </a:solidFill>
                <a:latin typeface="ui-monospace" pitchFamily="34" charset="0"/>
                <a:ea typeface="ui-monospace" pitchFamily="34" charset="-122"/>
                <a:cs typeface="ui-monospace" pitchFamily="34" charset="-120"/>
              </a:rPr>
              <a:t>sub-bank- 08</a:t>
            </a:r>
            <a:endParaRPr lang="en-US" sz="1200" dirty="0"/>
          </a:p>
        </p:txBody>
      </p:sp>
      <p:sp>
        <p:nvSpPr>
          <p:cNvPr id="23" name="Shape 21"/>
          <p:cNvSpPr/>
          <p:nvPr/>
        </p:nvSpPr>
        <p:spPr>
          <a:xfrm>
            <a:off x="1600200" y="5781675"/>
            <a:ext cx="1839119" cy="542925"/>
          </a:xfrm>
          <a:prstGeom prst="rect">
            <a:avLst/>
          </a:prstGeom>
          <a:solidFill>
            <a:srgbClr val="FFFFFF"/>
          </a:solidFill>
          <a:ln w="9525">
            <a:solidFill>
              <a:srgbClr val="4D4B4C"/>
            </a:solidFill>
            <a:prstDash val="solid"/>
          </a:ln>
        </p:spPr>
      </p:sp>
      <p:sp>
        <p:nvSpPr>
          <p:cNvPr id="24" name="Text 22"/>
          <p:cNvSpPr/>
          <p:nvPr/>
        </p:nvSpPr>
        <p:spPr>
          <a:xfrm>
            <a:off x="1800225" y="5962650"/>
            <a:ext cx="151526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4D4B4C"/>
                </a:solidFill>
                <a:latin typeface="ui-monospace" pitchFamily="34" charset="0"/>
                <a:ea typeface="ui-monospace" pitchFamily="34" charset="-122"/>
                <a:cs typeface="ui-monospace" pitchFamily="34" charset="-120"/>
              </a:rPr>
              <a:t>sub-bank- 09</a:t>
            </a:r>
            <a:endParaRPr lang="en-US" sz="1200" dirty="0"/>
          </a:p>
        </p:txBody>
      </p:sp>
      <p:sp>
        <p:nvSpPr>
          <p:cNvPr id="25" name="Shape 23"/>
          <p:cNvSpPr/>
          <p:nvPr/>
        </p:nvSpPr>
        <p:spPr>
          <a:xfrm>
            <a:off x="3553619" y="5781675"/>
            <a:ext cx="1839119" cy="542925"/>
          </a:xfrm>
          <a:prstGeom prst="rect">
            <a:avLst/>
          </a:prstGeom>
          <a:solidFill>
            <a:srgbClr val="FFFFFF"/>
          </a:solidFill>
          <a:ln w="9525">
            <a:solidFill>
              <a:srgbClr val="4D4B4C"/>
            </a:solidFill>
            <a:prstDash val="solid"/>
          </a:ln>
        </p:spPr>
      </p:sp>
      <p:sp>
        <p:nvSpPr>
          <p:cNvPr id="26" name="Text 24"/>
          <p:cNvSpPr/>
          <p:nvPr/>
        </p:nvSpPr>
        <p:spPr>
          <a:xfrm>
            <a:off x="3753644" y="5962650"/>
            <a:ext cx="151526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4D4B4C"/>
                </a:solidFill>
                <a:latin typeface="ui-monospace" pitchFamily="34" charset="0"/>
                <a:ea typeface="ui-monospace" pitchFamily="34" charset="-122"/>
                <a:cs typeface="ui-monospace" pitchFamily="34" charset="-120"/>
              </a:rPr>
              <a:t>sub-bank- 10</a:t>
            </a:r>
            <a:endParaRPr lang="en-US" sz="1200" dirty="0"/>
          </a:p>
        </p:txBody>
      </p:sp>
      <p:sp>
        <p:nvSpPr>
          <p:cNvPr id="27" name="Shape 25"/>
          <p:cNvSpPr/>
          <p:nvPr/>
        </p:nvSpPr>
        <p:spPr>
          <a:xfrm>
            <a:off x="5507038" y="5781675"/>
            <a:ext cx="1839119" cy="542925"/>
          </a:xfrm>
          <a:prstGeom prst="rect">
            <a:avLst/>
          </a:prstGeom>
          <a:solidFill>
            <a:srgbClr val="FFFFFF"/>
          </a:solidFill>
          <a:ln w="9525">
            <a:solidFill>
              <a:srgbClr val="4D4B4C"/>
            </a:solidFill>
            <a:prstDash val="solid"/>
          </a:ln>
        </p:spPr>
      </p:sp>
      <p:sp>
        <p:nvSpPr>
          <p:cNvPr id="28" name="Text 26"/>
          <p:cNvSpPr/>
          <p:nvPr/>
        </p:nvSpPr>
        <p:spPr>
          <a:xfrm>
            <a:off x="5707063" y="5962650"/>
            <a:ext cx="151526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4D4B4C"/>
                </a:solidFill>
                <a:latin typeface="ui-monospace" pitchFamily="34" charset="0"/>
                <a:ea typeface="ui-monospace" pitchFamily="34" charset="-122"/>
                <a:cs typeface="ui-monospace" pitchFamily="34" charset="-120"/>
              </a:rPr>
              <a:t>sub-bank- 11</a:t>
            </a:r>
            <a:endParaRPr lang="en-US" sz="1200" dirty="0"/>
          </a:p>
        </p:txBody>
      </p:sp>
      <p:sp>
        <p:nvSpPr>
          <p:cNvPr id="29" name="Shape 27"/>
          <p:cNvSpPr/>
          <p:nvPr/>
        </p:nvSpPr>
        <p:spPr>
          <a:xfrm>
            <a:off x="7460456" y="5781675"/>
            <a:ext cx="1839119" cy="542925"/>
          </a:xfrm>
          <a:prstGeom prst="rect">
            <a:avLst/>
          </a:prstGeom>
          <a:solidFill>
            <a:srgbClr val="FFFFFF"/>
          </a:solidFill>
          <a:ln w="9525">
            <a:solidFill>
              <a:srgbClr val="4D4B4C"/>
            </a:solidFill>
            <a:prstDash val="solid"/>
          </a:ln>
        </p:spPr>
      </p:sp>
      <p:sp>
        <p:nvSpPr>
          <p:cNvPr id="30" name="Text 28"/>
          <p:cNvSpPr/>
          <p:nvPr/>
        </p:nvSpPr>
        <p:spPr>
          <a:xfrm>
            <a:off x="7660481" y="5962650"/>
            <a:ext cx="1515269" cy="219075"/>
          </a:xfrm>
          <a:prstGeom prst="rect">
            <a:avLst/>
          </a:prstGeom>
          <a:noFill/>
          <a:ln/>
        </p:spPr>
        <p:txBody>
          <a:bodyPr wrap="square" lIns="25400" tIns="25400" rIns="25400" bIns="25400" rtlCol="0" anchor="t">
            <a:normAutofit/>
          </a:bodyPr>
          <a:lstStyle/>
          <a:p>
            <a:pPr algn="l" indent="0" marL="0">
              <a:buNone/>
            </a:pPr>
            <a:r>
              <a:rPr lang="en-US" sz="1200" b="1" dirty="0">
                <a:solidFill>
                  <a:srgbClr val="4D4B4C"/>
                </a:solidFill>
                <a:latin typeface="ui-monospace" pitchFamily="34" charset="0"/>
                <a:ea typeface="ui-monospace" pitchFamily="34" charset="-122"/>
                <a:cs typeface="ui-monospace" pitchFamily="34" charset="-120"/>
              </a:rPr>
              <a:t>sub-bank- 12</a:t>
            </a:r>
            <a:endParaRPr lang="en-US" sz="1200" dirty="0"/>
          </a:p>
        </p:txBody>
      </p:sp>
      <p:sp>
        <p:nvSpPr>
          <p:cNvPr id="31" name="Text 29"/>
          <p:cNvSpPr/>
          <p:nvPr/>
        </p:nvSpPr>
        <p:spPr>
          <a:xfrm>
            <a:off x="1600200" y="6553200"/>
            <a:ext cx="7930520" cy="266700"/>
          </a:xfrm>
          <a:prstGeom prst="rect">
            <a:avLst/>
          </a:prstGeom>
          <a:noFill/>
          <a:ln/>
        </p:spPr>
        <p:txBody>
          <a:bodyPr wrap="square" lIns="25400" tIns="25400" rIns="25400" bIns="25400" rtlCol="0" anchor="t">
            <a:normAutofit/>
          </a:bodyPr>
          <a:lstStyle/>
          <a:p>
            <a:pPr algn="l" indent="0" marL="0">
              <a:buNone/>
            </a:pPr>
            <a:r>
              <a:rPr lang="en-US" sz="1350" i="1" dirty="0">
                <a:solidFill>
                  <a:srgbClr val="A1A0A0"/>
                </a:solidFill>
                <a:latin typeface="Space Grotesk" pitchFamily="34" charset="0"/>
                <a:ea typeface="Space Grotesk" pitchFamily="34" charset="-122"/>
                <a:cs typeface="Space Grotesk" pitchFamily="34" charset="-120"/>
              </a:rPr>
              <a:t>filter: attributes.bank_entity = "BANK_NN"</a:t>
            </a:r>
            <a:endParaRPr lang="en-US" sz="1350" dirty="0"/>
          </a:p>
        </p:txBody>
      </p:sp>
      <p:sp>
        <p:nvSpPr>
          <p:cNvPr id="32" name="Text 30"/>
          <p:cNvSpPr/>
          <p:nvPr/>
        </p:nvSpPr>
        <p:spPr>
          <a:xfrm>
            <a:off x="10518934" y="2924175"/>
            <a:ext cx="6824848" cy="285750"/>
          </a:xfrm>
          <a:prstGeom prst="rect">
            <a:avLst/>
          </a:prstGeom>
          <a:noFill/>
          <a:ln/>
        </p:spPr>
        <p:txBody>
          <a:bodyPr wrap="square" lIns="25400" tIns="25400" rIns="25400" bIns="25400" rtlCol="0" anchor="t">
            <a:normAutofit/>
          </a:bodyPr>
          <a:lstStyle/>
          <a:p>
            <a:pPr algn="l" indent="0" marL="0">
              <a:buNone/>
            </a:pPr>
            <a:r>
              <a:rPr lang="en-US" sz="1500" spc="240" kern="0" dirty="0">
                <a:solidFill>
                  <a:srgbClr val="A1A0A0"/>
                </a:solidFill>
                <a:latin typeface="Space Grotesk" pitchFamily="34" charset="0"/>
                <a:ea typeface="Space Grotesk" pitchFamily="34" charset="-122"/>
                <a:cs typeface="Space Grotesk" pitchFamily="34" charset="-120"/>
              </a:rPr>
              <a:t>SEGURIDAD Y OBSERVABILIDAD</a:t>
            </a:r>
            <a:endParaRPr lang="en-US" sz="1500" dirty="0"/>
          </a:p>
        </p:txBody>
      </p:sp>
      <p:sp>
        <p:nvSpPr>
          <p:cNvPr id="33" name="Shape 31"/>
          <p:cNvSpPr/>
          <p:nvPr/>
        </p:nvSpPr>
        <p:spPr>
          <a:xfrm>
            <a:off x="10518934" y="3381375"/>
            <a:ext cx="6626066" cy="19050"/>
          </a:xfrm>
          <a:prstGeom prst="rect">
            <a:avLst/>
          </a:prstGeom>
          <a:solidFill>
            <a:srgbClr val="00E1FF"/>
          </a:solidFill>
          <a:ln/>
        </p:spPr>
      </p:sp>
      <p:sp>
        <p:nvSpPr>
          <p:cNvPr id="34" name="Text 32"/>
          <p:cNvSpPr/>
          <p:nvPr/>
        </p:nvSpPr>
        <p:spPr>
          <a:xfrm>
            <a:off x="10518934" y="3533775"/>
            <a:ext cx="6824848"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VPC Connector /28</a:t>
            </a:r>
            <a:endParaRPr lang="en-US" sz="1650" dirty="0"/>
          </a:p>
        </p:txBody>
      </p:sp>
      <p:sp>
        <p:nvSpPr>
          <p:cNvPr id="35" name="Text 33"/>
          <p:cNvSpPr/>
          <p:nvPr/>
        </p:nvSpPr>
        <p:spPr>
          <a:xfrm>
            <a:off x="10518934" y="3867150"/>
            <a:ext cx="6824848"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6B6869"/>
                </a:solidFill>
                <a:latin typeface="Space Grotesk" pitchFamily="34" charset="0"/>
                <a:ea typeface="Space Grotesk" pitchFamily="34" charset="-122"/>
                <a:cs typeface="Space Grotesk" pitchFamily="34" charset="-120"/>
              </a:rPr>
              <a:t>Egreso controlado de Cloud Run a Redis y Bigtable.</a:t>
            </a:r>
            <a:endParaRPr lang="en-US" sz="1350" dirty="0"/>
          </a:p>
        </p:txBody>
      </p:sp>
      <p:sp>
        <p:nvSpPr>
          <p:cNvPr id="36" name="Shape 34"/>
          <p:cNvSpPr/>
          <p:nvPr/>
        </p:nvSpPr>
        <p:spPr>
          <a:xfrm>
            <a:off x="10518934" y="4316730"/>
            <a:ext cx="6626066" cy="19050"/>
          </a:xfrm>
          <a:prstGeom prst="rect">
            <a:avLst/>
          </a:prstGeom>
          <a:solidFill>
            <a:srgbClr val="00E1FF"/>
          </a:solidFill>
          <a:ln/>
        </p:spPr>
      </p:sp>
      <p:sp>
        <p:nvSpPr>
          <p:cNvPr id="37" name="Text 35"/>
          <p:cNvSpPr/>
          <p:nvPr/>
        </p:nvSpPr>
        <p:spPr>
          <a:xfrm>
            <a:off x="10518934" y="4469130"/>
            <a:ext cx="6824848"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Cloud NAT</a:t>
            </a:r>
            <a:endParaRPr lang="en-US" sz="1650" dirty="0"/>
          </a:p>
        </p:txBody>
      </p:sp>
      <p:sp>
        <p:nvSpPr>
          <p:cNvPr id="38" name="Text 36"/>
          <p:cNvSpPr/>
          <p:nvPr/>
        </p:nvSpPr>
        <p:spPr>
          <a:xfrm>
            <a:off x="10518934" y="4802505"/>
            <a:ext cx="6824848"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6B6869"/>
                </a:solidFill>
                <a:latin typeface="Space Grotesk" pitchFamily="34" charset="0"/>
                <a:ea typeface="Space Grotesk" pitchFamily="34" charset="-122"/>
                <a:cs typeface="Space Grotesk" pitchFamily="34" charset="-120"/>
              </a:rPr>
              <a:t>Salida determinista a internet sin IPs públicas en workers.</a:t>
            </a:r>
            <a:endParaRPr lang="en-US" sz="1350" dirty="0"/>
          </a:p>
        </p:txBody>
      </p:sp>
      <p:sp>
        <p:nvSpPr>
          <p:cNvPr id="39" name="Shape 37"/>
          <p:cNvSpPr/>
          <p:nvPr/>
        </p:nvSpPr>
        <p:spPr>
          <a:xfrm>
            <a:off x="10518934" y="5252085"/>
            <a:ext cx="6626066" cy="19050"/>
          </a:xfrm>
          <a:prstGeom prst="rect">
            <a:avLst/>
          </a:prstGeom>
          <a:solidFill>
            <a:srgbClr val="00E1FF"/>
          </a:solidFill>
          <a:ln/>
        </p:spPr>
      </p:sp>
      <p:sp>
        <p:nvSpPr>
          <p:cNvPr id="40" name="Text 38"/>
          <p:cNvSpPr/>
          <p:nvPr/>
        </p:nvSpPr>
        <p:spPr>
          <a:xfrm>
            <a:off x="10518934" y="5404485"/>
            <a:ext cx="6824848"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Audit Logs + label pipeline</a:t>
            </a:r>
            <a:endParaRPr lang="en-US" sz="1650" dirty="0"/>
          </a:p>
        </p:txBody>
      </p:sp>
      <p:sp>
        <p:nvSpPr>
          <p:cNvPr id="41" name="Text 39"/>
          <p:cNvSpPr/>
          <p:nvPr/>
        </p:nvSpPr>
        <p:spPr>
          <a:xfrm>
            <a:off x="10518934" y="5737860"/>
            <a:ext cx="6824848"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6B6869"/>
                </a:solidFill>
                <a:latin typeface="Space Grotesk" pitchFamily="34" charset="0"/>
                <a:ea typeface="Space Grotesk" pitchFamily="34" charset="-122"/>
                <a:cs typeface="Space Grotesk" pitchFamily="34" charset="-120"/>
              </a:rPr>
              <a:t>Trazabilidad de costos y acciones por subsistema.</a:t>
            </a:r>
            <a:endParaRPr lang="en-US" sz="1350" dirty="0"/>
          </a:p>
        </p:txBody>
      </p:sp>
      <p:sp>
        <p:nvSpPr>
          <p:cNvPr id="42" name="Shape 40"/>
          <p:cNvSpPr/>
          <p:nvPr/>
        </p:nvSpPr>
        <p:spPr>
          <a:xfrm>
            <a:off x="10518934" y="6187440"/>
            <a:ext cx="6626066" cy="19050"/>
          </a:xfrm>
          <a:prstGeom prst="rect">
            <a:avLst/>
          </a:prstGeom>
          <a:solidFill>
            <a:srgbClr val="00E1FF"/>
          </a:solidFill>
          <a:ln/>
        </p:spPr>
      </p:sp>
      <p:sp>
        <p:nvSpPr>
          <p:cNvPr id="43" name="Text 41"/>
          <p:cNvSpPr/>
          <p:nvPr/>
        </p:nvSpPr>
        <p:spPr>
          <a:xfrm>
            <a:off x="10518934" y="6339840"/>
            <a:ext cx="6824848"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Budgets 50/80/100%</a:t>
            </a:r>
            <a:endParaRPr lang="en-US" sz="1650" dirty="0"/>
          </a:p>
        </p:txBody>
      </p:sp>
      <p:sp>
        <p:nvSpPr>
          <p:cNvPr id="44" name="Text 42"/>
          <p:cNvSpPr/>
          <p:nvPr/>
        </p:nvSpPr>
        <p:spPr>
          <a:xfrm>
            <a:off x="10518934" y="6673215"/>
            <a:ext cx="6824848" cy="278130"/>
          </a:xfrm>
          <a:prstGeom prst="rect">
            <a:avLst/>
          </a:prstGeom>
          <a:noFill/>
          <a:ln/>
        </p:spPr>
        <p:txBody>
          <a:bodyPr wrap="square" lIns="25400" tIns="25400" rIns="25400" bIns="25400" rtlCol="0" anchor="t">
            <a:normAutofit/>
          </a:bodyPr>
          <a:lstStyle/>
          <a:p>
            <a:pPr algn="l" indent="0" marL="0">
              <a:lnSpc>
                <a:spcPct val="140000"/>
              </a:lnSpc>
              <a:buNone/>
            </a:pPr>
            <a:r>
              <a:rPr lang="en-US" sz="1350" dirty="0">
                <a:solidFill>
                  <a:srgbClr val="6B6869"/>
                </a:solidFill>
                <a:latin typeface="Space Grotesk" pitchFamily="34" charset="0"/>
                <a:ea typeface="Space Grotesk" pitchFamily="34" charset="-122"/>
                <a:cs typeface="Space Grotesk" pitchFamily="34" charset="-120"/>
              </a:rPr>
              <a:t>Alertas por email y por pipeline (streaming, batch, serving).</a:t>
            </a:r>
            <a:endParaRPr lang="en-US" sz="1350" dirty="0"/>
          </a:p>
        </p:txBody>
      </p:sp>
      <p:pic>
        <p:nvPicPr>
          <p:cNvPr id="45"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46" name="Text 43"/>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8229600" cy="10287000"/>
          </a:xfrm>
          <a:prstGeom prst="rect">
            <a:avLst/>
          </a:prstGeom>
          <a:solidFill>
            <a:srgbClr val="00E1FF"/>
          </a:solidFill>
          <a:ln/>
        </p:spPr>
      </p:sp>
      <p:sp>
        <p:nvSpPr>
          <p:cNvPr id="3" name="Text 1"/>
          <p:cNvSpPr/>
          <p:nvPr/>
        </p:nvSpPr>
        <p:spPr>
          <a:xfrm>
            <a:off x="685800" y="1047750"/>
            <a:ext cx="706374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CAPÍTULO III · PRESENTA MATEO</a:t>
            </a:r>
            <a:endParaRPr lang="en-US" sz="1500" dirty="0"/>
          </a:p>
        </p:txBody>
      </p:sp>
      <p:sp>
        <p:nvSpPr>
          <p:cNvPr id="4" name="Text 2"/>
          <p:cNvSpPr/>
          <p:nvPr/>
        </p:nvSpPr>
        <p:spPr>
          <a:xfrm>
            <a:off x="685800" y="1714500"/>
            <a:ext cx="7063740" cy="2136458"/>
          </a:xfrm>
          <a:prstGeom prst="rect">
            <a:avLst/>
          </a:prstGeom>
          <a:noFill/>
          <a:ln/>
        </p:spPr>
        <p:txBody>
          <a:bodyPr wrap="square" lIns="25400" tIns="25400" rIns="25400" bIns="25400" rtlCol="0" anchor="t">
            <a:normAutofit/>
          </a:bodyPr>
          <a:lstStyle/>
          <a:p>
            <a:pPr algn="l" indent="0" marL="0">
              <a:lnSpc>
                <a:spcPct val="101991"/>
              </a:lnSpc>
              <a:buNone/>
            </a:pPr>
            <a:r>
              <a:rPr lang="en-US" sz="5400" b="1" spc="-108" kern="0" dirty="0">
                <a:solidFill>
                  <a:srgbClr val="4D4B4C"/>
                </a:solidFill>
                <a:latin typeface="Space Grotesk" pitchFamily="34" charset="0"/>
                <a:ea typeface="Space Grotesk" pitchFamily="34" charset="-122"/>
                <a:cs typeface="Space Grotesk" pitchFamily="34" charset="-120"/>
              </a:rPr>
              <a:t>Valor, resultados y </a:t>
            </a:r>
            <a:pPr algn="l" indent="0" marL="0">
              <a:lnSpc>
                <a:spcPct val="101991"/>
              </a:lnSpc>
              <a:buNone/>
            </a:pPr>
            <a:r>
              <a:rPr lang="en-US" sz="5400" spc="-108" kern="0" dirty="0">
                <a:solidFill>
                  <a:srgbClr val="4D4B4C"/>
                </a:solidFill>
                <a:latin typeface="Space Grotesk" pitchFamily="34" charset="0"/>
                <a:ea typeface="Space Grotesk" pitchFamily="34" charset="-122"/>
                <a:cs typeface="Space Grotesk" pitchFamily="34" charset="-120"/>
              </a:rPr>
              <a:t>lecciones</a:t>
            </a:r>
            <a:endParaRPr lang="en-US" sz="5400" dirty="0"/>
          </a:p>
        </p:txBody>
      </p:sp>
      <p:sp>
        <p:nvSpPr>
          <p:cNvPr id="5" name="Text 3"/>
          <p:cNvSpPr/>
          <p:nvPr/>
        </p:nvSpPr>
        <p:spPr>
          <a:xfrm>
            <a:off x="589597" y="8468042"/>
            <a:ext cx="7261754" cy="809307"/>
          </a:xfrm>
          <a:prstGeom prst="rect">
            <a:avLst/>
          </a:prstGeom>
          <a:noFill/>
          <a:ln/>
        </p:spPr>
        <p:txBody>
          <a:bodyPr wrap="square" lIns="25400" tIns="25400" rIns="25400" bIns="25400" rtlCol="0" anchor="t">
            <a:normAutofit/>
          </a:bodyPr>
          <a:lstStyle/>
          <a:p>
            <a:pPr algn="l" indent="0" marL="0">
              <a:lnSpc>
                <a:spcPct val="92008"/>
              </a:lnSpc>
              <a:buNone/>
            </a:pPr>
            <a:r>
              <a:rPr lang="en-US" sz="3300" b="1" spc="66" kern="0" dirty="0">
                <a:solidFill>
                  <a:srgbClr val="4D4B4C"/>
                </a:solidFill>
                <a:latin typeface="Space Grotesk" pitchFamily="34" charset="0"/>
                <a:ea typeface="Space Grotesk" pitchFamily="34" charset="-122"/>
                <a:cs typeface="Space Grotesk" pitchFamily="34" charset="-120"/>
              </a:rPr>
              <a:t>HANDS ON.</a:t>
            </a:r>
            <a:endParaRPr lang="en-US" sz="3300" dirty="0"/>
          </a:p>
        </p:txBody>
      </p:sp>
      <p:sp>
        <p:nvSpPr>
          <p:cNvPr id="6" name="Text 4"/>
          <p:cNvSpPr/>
          <p:nvPr/>
        </p:nvSpPr>
        <p:spPr>
          <a:xfrm>
            <a:off x="12850835" y="7534275"/>
            <a:ext cx="4294165" cy="314325"/>
          </a:xfrm>
          <a:prstGeom prst="rect">
            <a:avLst/>
          </a:prstGeom>
          <a:noFill/>
          <a:ln/>
        </p:spPr>
        <p:txBody>
          <a:bodyPr wrap="square" lIns="25400" tIns="25400" rIns="25400" bIns="25400" rtlCol="0" anchor="t">
            <a:normAutofit/>
          </a:bodyPr>
          <a:lstStyle/>
          <a:p>
            <a:pPr algn="r" indent="0" marL="0">
              <a:buNone/>
            </a:pPr>
            <a:r>
              <a:rPr lang="en-US" sz="1650" spc="264" kern="0" dirty="0">
                <a:solidFill>
                  <a:srgbClr val="A1A0A0"/>
                </a:solidFill>
                <a:latin typeface="Space Grotesk" pitchFamily="34" charset="0"/>
                <a:ea typeface="Space Grotesk" pitchFamily="34" charset="-122"/>
                <a:cs typeface="Space Grotesk" pitchFamily="34" charset="-120"/>
              </a:rPr>
              <a:t>KPIS · ROI · ROADMAP</a:t>
            </a:r>
            <a:endParaRPr lang="en-US" sz="1650" dirty="0"/>
          </a:p>
        </p:txBody>
      </p:sp>
      <p:sp>
        <p:nvSpPr>
          <p:cNvPr id="7" name="Text 5"/>
          <p:cNvSpPr/>
          <p:nvPr/>
        </p:nvSpPr>
        <p:spPr>
          <a:xfrm>
            <a:off x="12850835" y="8001000"/>
            <a:ext cx="4294165" cy="990600"/>
          </a:xfrm>
          <a:prstGeom prst="rect">
            <a:avLst/>
          </a:prstGeom>
          <a:noFill/>
          <a:ln/>
        </p:spPr>
        <p:txBody>
          <a:bodyPr wrap="square" lIns="25400" tIns="25400" rIns="25400" bIns="25400" rtlCol="0" anchor="t">
            <a:normAutofit/>
          </a:bodyPr>
          <a:lstStyle/>
          <a:p>
            <a:pPr algn="r" indent="0" marL="0">
              <a:lnSpc>
                <a:spcPct val="125000"/>
              </a:lnSpc>
              <a:buNone/>
            </a:pPr>
            <a:r>
              <a:rPr lang="en-US" sz="3000" dirty="0">
                <a:solidFill>
                  <a:srgbClr val="4D4B4C"/>
                </a:solidFill>
                <a:latin typeface="Space Grotesk" pitchFamily="34" charset="0"/>
                <a:ea typeface="Space Grotesk" pitchFamily="34" charset="-122"/>
                <a:cs typeface="Space Grotesk" pitchFamily="34" charset="-120"/>
              </a:rPr>
              <a:t>Del diseño cumplido al </a:t>
            </a:r>
            <a:pPr algn="r" indent="0" marL="0">
              <a:lnSpc>
                <a:spcPct val="125000"/>
              </a:lnSpc>
              <a:buNone/>
            </a:pPr>
            <a:r>
              <a:rPr lang="en-US" sz="3000" b="1" dirty="0">
                <a:solidFill>
                  <a:srgbClr val="4D4B4C"/>
                </a:solidFill>
                <a:latin typeface="Space Grotesk" pitchFamily="34" charset="0"/>
                <a:ea typeface="Space Grotesk" pitchFamily="34" charset="-122"/>
                <a:cs typeface="Space Grotesk" pitchFamily="34" charset="-120"/>
              </a:rPr>
              <a:t>impacto en el negocio.</a:t>
            </a:r>
            <a:endParaRPr lang="en-US" sz="30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1648206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EVALUACIÓN DE KPIS</a:t>
            </a:r>
            <a:endParaRPr lang="en-US" sz="1500" dirty="0"/>
          </a:p>
        </p:txBody>
      </p:sp>
      <p:sp>
        <p:nvSpPr>
          <p:cNvPr id="3" name="Text 1"/>
          <p:cNvSpPr/>
          <p:nvPr/>
        </p:nvSpPr>
        <p:spPr>
          <a:xfrm>
            <a:off x="1143000" y="1524000"/>
            <a:ext cx="16482060" cy="866775"/>
          </a:xfrm>
          <a:prstGeom prst="rect">
            <a:avLst/>
          </a:prstGeom>
          <a:noFill/>
          <a:ln/>
        </p:spPr>
        <p:txBody>
          <a:bodyPr wrap="square" lIns="25400" tIns="25400" rIns="25400" bIns="25400" rtlCol="0" anchor="t">
            <a:normAutofit/>
          </a:bodyPr>
          <a:lstStyle/>
          <a:p>
            <a:pPr algn="l" indent="0" marL="0">
              <a:buNone/>
            </a:pPr>
            <a:r>
              <a:rPr lang="en-US" sz="5100" b="1" spc="-76" kern="0" dirty="0">
                <a:solidFill>
                  <a:srgbClr val="4D4B4C"/>
                </a:solidFill>
                <a:latin typeface="Space Grotesk" pitchFamily="34" charset="0"/>
                <a:ea typeface="Space Grotesk" pitchFamily="34" charset="-122"/>
                <a:cs typeface="Space Grotesk" pitchFamily="34" charset="-120"/>
              </a:rPr>
              <a:t>Siete KPIs definidos, siete cumplidos</a:t>
            </a:r>
            <a:endParaRPr lang="en-US" sz="5100" dirty="0"/>
          </a:p>
        </p:txBody>
      </p:sp>
      <p:sp>
        <p:nvSpPr>
          <p:cNvPr id="4" name="Shape 2"/>
          <p:cNvSpPr/>
          <p:nvPr/>
        </p:nvSpPr>
        <p:spPr>
          <a:xfrm>
            <a:off x="1143000" y="2809875"/>
            <a:ext cx="16002000" cy="6202680"/>
          </a:xfrm>
          <a:prstGeom prst="rect">
            <a:avLst/>
          </a:prstGeom>
          <a:ln w="9525">
            <a:solidFill>
              <a:srgbClr val="EEEEEE"/>
            </a:solidFill>
            <a:prstDash val="solid"/>
          </a:ln>
        </p:spPr>
      </p:sp>
      <p:sp>
        <p:nvSpPr>
          <p:cNvPr id="5" name="Shape 3"/>
          <p:cNvSpPr/>
          <p:nvPr/>
        </p:nvSpPr>
        <p:spPr>
          <a:xfrm>
            <a:off x="1152525" y="2819400"/>
            <a:ext cx="15982950" cy="571500"/>
          </a:xfrm>
          <a:prstGeom prst="rect">
            <a:avLst/>
          </a:prstGeom>
          <a:solidFill>
            <a:srgbClr val="4D4B4C"/>
          </a:solidFill>
          <a:ln/>
        </p:spPr>
      </p:sp>
      <p:sp>
        <p:nvSpPr>
          <p:cNvPr id="6" name="Text 4"/>
          <p:cNvSpPr/>
          <p:nvPr/>
        </p:nvSpPr>
        <p:spPr>
          <a:xfrm>
            <a:off x="1419225" y="2990850"/>
            <a:ext cx="4208812" cy="266700"/>
          </a:xfrm>
          <a:prstGeom prst="rect">
            <a:avLst/>
          </a:prstGeom>
          <a:noFill/>
          <a:ln/>
        </p:spPr>
        <p:txBody>
          <a:bodyPr wrap="square" lIns="25400" tIns="25400" rIns="25400" bIns="25400" rtlCol="0" anchor="t">
            <a:normAutofit/>
          </a:bodyPr>
          <a:lstStyle/>
          <a:p>
            <a:pPr algn="l" indent="0" marL="0">
              <a:buNone/>
            </a:pPr>
            <a:r>
              <a:rPr lang="en-US" sz="1350" spc="189" kern="0" dirty="0">
                <a:solidFill>
                  <a:srgbClr val="FFFFFF"/>
                </a:solidFill>
                <a:latin typeface="Space Grotesk" pitchFamily="34" charset="0"/>
                <a:ea typeface="Space Grotesk" pitchFamily="34" charset="-122"/>
                <a:cs typeface="Space Grotesk" pitchFamily="34" charset="-120"/>
              </a:rPr>
              <a:t>INDICADOR</a:t>
            </a:r>
            <a:endParaRPr lang="en-US" sz="1350" dirty="0"/>
          </a:p>
        </p:txBody>
      </p:sp>
      <p:sp>
        <p:nvSpPr>
          <p:cNvPr id="7" name="Text 5"/>
          <p:cNvSpPr/>
          <p:nvPr/>
        </p:nvSpPr>
        <p:spPr>
          <a:xfrm>
            <a:off x="5505450" y="2990850"/>
            <a:ext cx="3443573" cy="266700"/>
          </a:xfrm>
          <a:prstGeom prst="rect">
            <a:avLst/>
          </a:prstGeom>
          <a:noFill/>
          <a:ln/>
        </p:spPr>
        <p:txBody>
          <a:bodyPr wrap="square" lIns="25400" tIns="25400" rIns="25400" bIns="25400" rtlCol="0" anchor="t">
            <a:normAutofit/>
          </a:bodyPr>
          <a:lstStyle/>
          <a:p>
            <a:pPr algn="l" indent="0" marL="0">
              <a:buNone/>
            </a:pPr>
            <a:r>
              <a:rPr lang="en-US" sz="1350" spc="189" kern="0" dirty="0">
                <a:solidFill>
                  <a:srgbClr val="FFFFFF"/>
                </a:solidFill>
                <a:latin typeface="Space Grotesk" pitchFamily="34" charset="0"/>
                <a:ea typeface="Space Grotesk" pitchFamily="34" charset="-122"/>
                <a:cs typeface="Space Grotesk" pitchFamily="34" charset="-120"/>
              </a:rPr>
              <a:t>META</a:t>
            </a:r>
            <a:endParaRPr lang="en-US" sz="1350" dirty="0"/>
          </a:p>
        </p:txBody>
      </p:sp>
      <p:sp>
        <p:nvSpPr>
          <p:cNvPr id="8" name="Text 6"/>
          <p:cNvSpPr/>
          <p:nvPr/>
        </p:nvSpPr>
        <p:spPr>
          <a:xfrm>
            <a:off x="8848725" y="2990850"/>
            <a:ext cx="6887147" cy="266700"/>
          </a:xfrm>
          <a:prstGeom prst="rect">
            <a:avLst/>
          </a:prstGeom>
          <a:noFill/>
          <a:ln/>
        </p:spPr>
        <p:txBody>
          <a:bodyPr wrap="square" lIns="25400" tIns="25400" rIns="25400" bIns="25400" rtlCol="0" anchor="t">
            <a:normAutofit/>
          </a:bodyPr>
          <a:lstStyle/>
          <a:p>
            <a:pPr algn="l" indent="0" marL="0">
              <a:buNone/>
            </a:pPr>
            <a:r>
              <a:rPr lang="en-US" sz="1350" spc="189" kern="0" dirty="0">
                <a:solidFill>
                  <a:srgbClr val="FFFFFF"/>
                </a:solidFill>
                <a:latin typeface="Space Grotesk" pitchFamily="34" charset="0"/>
                <a:ea typeface="Space Grotesk" pitchFamily="34" charset="-122"/>
                <a:cs typeface="Space Grotesk" pitchFamily="34" charset="-120"/>
              </a:rPr>
              <a:t>COBERTURA DEL DISEÑO</a:t>
            </a:r>
            <a:endParaRPr lang="en-US" sz="1350" dirty="0"/>
          </a:p>
        </p:txBody>
      </p:sp>
      <p:sp>
        <p:nvSpPr>
          <p:cNvPr id="9" name="Text 7"/>
          <p:cNvSpPr/>
          <p:nvPr/>
        </p:nvSpPr>
        <p:spPr>
          <a:xfrm>
            <a:off x="15459075" y="2990850"/>
            <a:ext cx="1409700" cy="266700"/>
          </a:xfrm>
          <a:prstGeom prst="rect">
            <a:avLst/>
          </a:prstGeom>
          <a:noFill/>
          <a:ln/>
        </p:spPr>
        <p:txBody>
          <a:bodyPr wrap="square" lIns="25400" tIns="25400" rIns="25400" bIns="25400" rtlCol="0" anchor="t">
            <a:normAutofit/>
          </a:bodyPr>
          <a:lstStyle/>
          <a:p>
            <a:pPr algn="r" indent="0" marL="0">
              <a:buNone/>
            </a:pPr>
            <a:r>
              <a:rPr lang="en-US" sz="1350" spc="189" kern="0" dirty="0">
                <a:solidFill>
                  <a:srgbClr val="FFFFFF"/>
                </a:solidFill>
                <a:latin typeface="Space Grotesk" pitchFamily="34" charset="0"/>
                <a:ea typeface="Space Grotesk" pitchFamily="34" charset="-122"/>
                <a:cs typeface="Space Grotesk" pitchFamily="34" charset="-120"/>
              </a:rPr>
              <a:t>STATUS</a:t>
            </a:r>
            <a:endParaRPr lang="en-US" sz="1350" dirty="0"/>
          </a:p>
        </p:txBody>
      </p:sp>
      <p:sp>
        <p:nvSpPr>
          <p:cNvPr id="10" name="Shape 8"/>
          <p:cNvSpPr/>
          <p:nvPr/>
        </p:nvSpPr>
        <p:spPr>
          <a:xfrm>
            <a:off x="1152525" y="3390900"/>
            <a:ext cx="15982950" cy="925830"/>
          </a:xfrm>
          <a:prstGeom prst="rect">
            <a:avLst/>
          </a:prstGeom>
          <a:solidFill>
            <a:srgbClr val="FFFFFF"/>
          </a:solidFill>
          <a:ln/>
        </p:spPr>
      </p:sp>
      <p:sp>
        <p:nvSpPr>
          <p:cNvPr id="11" name="Text 9"/>
          <p:cNvSpPr/>
          <p:nvPr/>
        </p:nvSpPr>
        <p:spPr>
          <a:xfrm>
            <a:off x="1419225" y="3715703"/>
            <a:ext cx="4208812"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Throughput en picos</a:t>
            </a:r>
            <a:endParaRPr lang="en-US" sz="1650" dirty="0"/>
          </a:p>
        </p:txBody>
      </p:sp>
      <p:sp>
        <p:nvSpPr>
          <p:cNvPr id="12" name="Text 10"/>
          <p:cNvSpPr/>
          <p:nvPr/>
        </p:nvSpPr>
        <p:spPr>
          <a:xfrm>
            <a:off x="5505450" y="3725228"/>
            <a:ext cx="3443573" cy="295275"/>
          </a:xfrm>
          <a:prstGeom prst="rect">
            <a:avLst/>
          </a:prstGeom>
          <a:noFill/>
          <a:ln/>
        </p:spPr>
        <p:txBody>
          <a:bodyPr wrap="square" lIns="25400" tIns="25400" rIns="25400" bIns="25400" rtlCol="0" anchor="t">
            <a:normAutofit/>
          </a:bodyPr>
          <a:lstStyle/>
          <a:p>
            <a:pPr algn="l" indent="0" marL="0">
              <a:buNone/>
            </a:pPr>
            <a:r>
              <a:rPr lang="en-US" sz="1650" b="1" dirty="0">
                <a:solidFill>
                  <a:srgbClr val="00B8D4"/>
                </a:solidFill>
                <a:latin typeface="ui-monospace" pitchFamily="34" charset="0"/>
                <a:ea typeface="ui-monospace" pitchFamily="34" charset="-122"/>
                <a:cs typeface="ui-monospace" pitchFamily="34" charset="-120"/>
              </a:rPr>
              <a:t>≥ 5.000 TPS</a:t>
            </a:r>
            <a:endParaRPr lang="en-US" sz="1650" dirty="0"/>
          </a:p>
        </p:txBody>
      </p:sp>
      <p:sp>
        <p:nvSpPr>
          <p:cNvPr id="13" name="Text 11"/>
          <p:cNvSpPr/>
          <p:nvPr/>
        </p:nvSpPr>
        <p:spPr>
          <a:xfrm>
            <a:off x="8848725" y="3600450"/>
            <a:ext cx="6887147" cy="544830"/>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6B6869"/>
                </a:solidFill>
                <a:latin typeface="Space Grotesk" pitchFamily="34" charset="0"/>
                <a:ea typeface="Space Grotesk" pitchFamily="34" charset="-122"/>
                <a:cs typeface="Space Grotesk" pitchFamily="34" charset="-120"/>
              </a:rPr>
              <a:t>Cloud Run + Pub/Sub + Dataflow autoescalados; cuello real en Bigtable con holgura.</a:t>
            </a:r>
            <a:endParaRPr lang="en-US" sz="1425" dirty="0"/>
          </a:p>
        </p:txBody>
      </p:sp>
      <p:sp>
        <p:nvSpPr>
          <p:cNvPr id="14" name="Shape 12"/>
          <p:cNvSpPr/>
          <p:nvPr/>
        </p:nvSpPr>
        <p:spPr>
          <a:xfrm>
            <a:off x="16290925" y="3677603"/>
            <a:ext cx="577850" cy="352425"/>
          </a:xfrm>
          <a:prstGeom prst="rect">
            <a:avLst/>
          </a:prstGeom>
          <a:solidFill>
            <a:srgbClr val="00E1FF"/>
          </a:solidFill>
          <a:ln/>
        </p:spPr>
      </p:sp>
      <p:sp>
        <p:nvSpPr>
          <p:cNvPr id="15" name="Text 13"/>
          <p:cNvSpPr/>
          <p:nvPr/>
        </p:nvSpPr>
        <p:spPr>
          <a:xfrm>
            <a:off x="16386175" y="3753803"/>
            <a:ext cx="311150" cy="238125"/>
          </a:xfrm>
          <a:prstGeom prst="rect">
            <a:avLst/>
          </a:prstGeom>
          <a:noFill/>
          <a:ln/>
        </p:spPr>
        <p:txBody>
          <a:bodyPr wrap="square" lIns="25400" tIns="25400" rIns="25400" bIns="25400" rtlCol="0" anchor="t">
            <a:normAutofit/>
          </a:bodyPr>
          <a:lstStyle/>
          <a:p>
            <a:pPr algn="r" indent="0" marL="0">
              <a:buNone/>
            </a:pPr>
            <a:r>
              <a:rPr lang="en-US" sz="1200" b="1" spc="144" kern="0" dirty="0">
                <a:solidFill>
                  <a:srgbClr val="4D4B4C"/>
                </a:solidFill>
                <a:latin typeface="Space Grotesk" pitchFamily="34" charset="0"/>
                <a:ea typeface="Space Grotesk" pitchFamily="34" charset="-122"/>
                <a:cs typeface="Space Grotesk" pitchFamily="34" charset="-120"/>
              </a:rPr>
              <a:t>OK</a:t>
            </a:r>
            <a:endParaRPr lang="en-US" sz="1200" dirty="0"/>
          </a:p>
        </p:txBody>
      </p:sp>
      <p:sp>
        <p:nvSpPr>
          <p:cNvPr id="16" name="Shape 14"/>
          <p:cNvSpPr/>
          <p:nvPr/>
        </p:nvSpPr>
        <p:spPr>
          <a:xfrm>
            <a:off x="1152525" y="4316730"/>
            <a:ext cx="15982950" cy="781050"/>
          </a:xfrm>
          <a:prstGeom prst="rect">
            <a:avLst/>
          </a:prstGeom>
          <a:solidFill>
            <a:srgbClr val="F7F7F7"/>
          </a:solidFill>
          <a:ln/>
        </p:spPr>
      </p:sp>
      <p:sp>
        <p:nvSpPr>
          <p:cNvPr id="17" name="Shape 15"/>
          <p:cNvSpPr/>
          <p:nvPr/>
        </p:nvSpPr>
        <p:spPr>
          <a:xfrm>
            <a:off x="1152525" y="4316730"/>
            <a:ext cx="15982950" cy="9525"/>
          </a:xfrm>
          <a:prstGeom prst="rect">
            <a:avLst/>
          </a:prstGeom>
          <a:solidFill>
            <a:srgbClr val="EEEEEE"/>
          </a:solidFill>
          <a:ln/>
        </p:spPr>
      </p:sp>
      <p:sp>
        <p:nvSpPr>
          <p:cNvPr id="18" name="Text 16"/>
          <p:cNvSpPr/>
          <p:nvPr/>
        </p:nvSpPr>
        <p:spPr>
          <a:xfrm>
            <a:off x="1419225" y="4573905"/>
            <a:ext cx="4208812"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Disponibilidad</a:t>
            </a:r>
            <a:endParaRPr lang="en-US" sz="1650" dirty="0"/>
          </a:p>
        </p:txBody>
      </p:sp>
      <p:sp>
        <p:nvSpPr>
          <p:cNvPr id="19" name="Text 17"/>
          <p:cNvSpPr/>
          <p:nvPr/>
        </p:nvSpPr>
        <p:spPr>
          <a:xfrm>
            <a:off x="5505450" y="4583430"/>
            <a:ext cx="3443573" cy="295275"/>
          </a:xfrm>
          <a:prstGeom prst="rect">
            <a:avLst/>
          </a:prstGeom>
          <a:noFill/>
          <a:ln/>
        </p:spPr>
        <p:txBody>
          <a:bodyPr wrap="square" lIns="25400" tIns="25400" rIns="25400" bIns="25400" rtlCol="0" anchor="t">
            <a:normAutofit/>
          </a:bodyPr>
          <a:lstStyle/>
          <a:p>
            <a:pPr algn="l" indent="0" marL="0">
              <a:buNone/>
            </a:pPr>
            <a:r>
              <a:rPr lang="en-US" sz="1650" b="1" dirty="0">
                <a:solidFill>
                  <a:srgbClr val="00B8D4"/>
                </a:solidFill>
                <a:latin typeface="ui-monospace" pitchFamily="34" charset="0"/>
                <a:ea typeface="ui-monospace" pitchFamily="34" charset="-122"/>
                <a:cs typeface="ui-monospace" pitchFamily="34" charset="-120"/>
              </a:rPr>
              <a:t>≥ 99,95% mensual</a:t>
            </a:r>
            <a:endParaRPr lang="en-US" sz="1650" dirty="0"/>
          </a:p>
        </p:txBody>
      </p:sp>
      <p:sp>
        <p:nvSpPr>
          <p:cNvPr id="20" name="Text 18"/>
          <p:cNvSpPr/>
          <p:nvPr/>
        </p:nvSpPr>
        <p:spPr>
          <a:xfrm>
            <a:off x="8848725" y="4585335"/>
            <a:ext cx="6887147"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6B6869"/>
                </a:solidFill>
                <a:latin typeface="Space Grotesk" pitchFamily="34" charset="0"/>
                <a:ea typeface="Space Grotesk" pitchFamily="34" charset="-122"/>
                <a:cs typeface="Space Grotesk" pitchFamily="34" charset="-120"/>
              </a:rPr>
              <a:t>Servicios multi-zona gestionados, cada uno con SLA ≥ 99,9%.</a:t>
            </a:r>
            <a:endParaRPr lang="en-US" sz="1425" dirty="0"/>
          </a:p>
        </p:txBody>
      </p:sp>
      <p:sp>
        <p:nvSpPr>
          <p:cNvPr id="21" name="Shape 19"/>
          <p:cNvSpPr/>
          <p:nvPr/>
        </p:nvSpPr>
        <p:spPr>
          <a:xfrm>
            <a:off x="16290925" y="4535805"/>
            <a:ext cx="577850" cy="352425"/>
          </a:xfrm>
          <a:prstGeom prst="rect">
            <a:avLst/>
          </a:prstGeom>
          <a:solidFill>
            <a:srgbClr val="00E1FF"/>
          </a:solidFill>
          <a:ln/>
        </p:spPr>
      </p:sp>
      <p:sp>
        <p:nvSpPr>
          <p:cNvPr id="22" name="Text 20"/>
          <p:cNvSpPr/>
          <p:nvPr/>
        </p:nvSpPr>
        <p:spPr>
          <a:xfrm>
            <a:off x="16386175" y="4612005"/>
            <a:ext cx="311150" cy="238125"/>
          </a:xfrm>
          <a:prstGeom prst="rect">
            <a:avLst/>
          </a:prstGeom>
          <a:noFill/>
          <a:ln/>
        </p:spPr>
        <p:txBody>
          <a:bodyPr wrap="square" lIns="25400" tIns="25400" rIns="25400" bIns="25400" rtlCol="0" anchor="t">
            <a:normAutofit/>
          </a:bodyPr>
          <a:lstStyle/>
          <a:p>
            <a:pPr algn="r" indent="0" marL="0">
              <a:buNone/>
            </a:pPr>
            <a:r>
              <a:rPr lang="en-US" sz="1200" b="1" spc="144" kern="0" dirty="0">
                <a:solidFill>
                  <a:srgbClr val="4D4B4C"/>
                </a:solidFill>
                <a:latin typeface="Space Grotesk" pitchFamily="34" charset="0"/>
                <a:ea typeface="Space Grotesk" pitchFamily="34" charset="-122"/>
                <a:cs typeface="Space Grotesk" pitchFamily="34" charset="-120"/>
              </a:rPr>
              <a:t>OK</a:t>
            </a:r>
            <a:endParaRPr lang="en-US" sz="1200" dirty="0"/>
          </a:p>
        </p:txBody>
      </p:sp>
      <p:sp>
        <p:nvSpPr>
          <p:cNvPr id="23" name="Shape 21"/>
          <p:cNvSpPr/>
          <p:nvPr/>
        </p:nvSpPr>
        <p:spPr>
          <a:xfrm>
            <a:off x="1152525" y="5097780"/>
            <a:ext cx="15982950" cy="781050"/>
          </a:xfrm>
          <a:prstGeom prst="rect">
            <a:avLst/>
          </a:prstGeom>
          <a:solidFill>
            <a:srgbClr val="FFFFFF"/>
          </a:solidFill>
          <a:ln/>
        </p:spPr>
      </p:sp>
      <p:sp>
        <p:nvSpPr>
          <p:cNvPr id="24" name="Shape 22"/>
          <p:cNvSpPr/>
          <p:nvPr/>
        </p:nvSpPr>
        <p:spPr>
          <a:xfrm>
            <a:off x="1152525" y="5097780"/>
            <a:ext cx="15982950" cy="9525"/>
          </a:xfrm>
          <a:prstGeom prst="rect">
            <a:avLst/>
          </a:prstGeom>
          <a:solidFill>
            <a:srgbClr val="EEEEEE"/>
          </a:solidFill>
          <a:ln/>
        </p:spPr>
      </p:sp>
      <p:sp>
        <p:nvSpPr>
          <p:cNvPr id="25" name="Text 23"/>
          <p:cNvSpPr/>
          <p:nvPr/>
        </p:nvSpPr>
        <p:spPr>
          <a:xfrm>
            <a:off x="1419225" y="5354955"/>
            <a:ext cx="4208812"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Pérdida de mensajes</a:t>
            </a:r>
            <a:endParaRPr lang="en-US" sz="1650" dirty="0"/>
          </a:p>
        </p:txBody>
      </p:sp>
      <p:sp>
        <p:nvSpPr>
          <p:cNvPr id="26" name="Text 24"/>
          <p:cNvSpPr/>
          <p:nvPr/>
        </p:nvSpPr>
        <p:spPr>
          <a:xfrm>
            <a:off x="5505450" y="5364480"/>
            <a:ext cx="3443573" cy="295275"/>
          </a:xfrm>
          <a:prstGeom prst="rect">
            <a:avLst/>
          </a:prstGeom>
          <a:noFill/>
          <a:ln/>
        </p:spPr>
        <p:txBody>
          <a:bodyPr wrap="square" lIns="25400" tIns="25400" rIns="25400" bIns="25400" rtlCol="0" anchor="t">
            <a:normAutofit/>
          </a:bodyPr>
          <a:lstStyle/>
          <a:p>
            <a:pPr algn="l" indent="0" marL="0">
              <a:buNone/>
            </a:pPr>
            <a:r>
              <a:rPr lang="en-US" sz="1650" b="1" dirty="0">
                <a:solidFill>
                  <a:srgbClr val="00B8D4"/>
                </a:solidFill>
                <a:latin typeface="ui-monospace" pitchFamily="34" charset="0"/>
                <a:ea typeface="ui-monospace" pitchFamily="34" charset="-122"/>
                <a:cs typeface="ui-monospace" pitchFamily="34" charset="-120"/>
              </a:rPr>
              <a:t>0</a:t>
            </a:r>
            <a:endParaRPr lang="en-US" sz="1650" dirty="0"/>
          </a:p>
        </p:txBody>
      </p:sp>
      <p:sp>
        <p:nvSpPr>
          <p:cNvPr id="27" name="Text 25"/>
          <p:cNvSpPr/>
          <p:nvPr/>
        </p:nvSpPr>
        <p:spPr>
          <a:xfrm>
            <a:off x="8848725" y="5366385"/>
            <a:ext cx="6887147"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6B6869"/>
                </a:solidFill>
                <a:latin typeface="Space Grotesk" pitchFamily="34" charset="0"/>
                <a:ea typeface="Space Grotesk" pitchFamily="34" charset="-122"/>
                <a:cs typeface="Space Grotesk" pitchFamily="34" charset="-120"/>
              </a:rPr>
              <a:t>31 días de retención y DLT con 5 reintentos.</a:t>
            </a:r>
            <a:endParaRPr lang="en-US" sz="1425" dirty="0"/>
          </a:p>
        </p:txBody>
      </p:sp>
      <p:sp>
        <p:nvSpPr>
          <p:cNvPr id="28" name="Shape 26"/>
          <p:cNvSpPr/>
          <p:nvPr/>
        </p:nvSpPr>
        <p:spPr>
          <a:xfrm>
            <a:off x="16290925" y="5316855"/>
            <a:ext cx="577850" cy="352425"/>
          </a:xfrm>
          <a:prstGeom prst="rect">
            <a:avLst/>
          </a:prstGeom>
          <a:solidFill>
            <a:srgbClr val="00E1FF"/>
          </a:solidFill>
          <a:ln/>
        </p:spPr>
      </p:sp>
      <p:sp>
        <p:nvSpPr>
          <p:cNvPr id="29" name="Text 27"/>
          <p:cNvSpPr/>
          <p:nvPr/>
        </p:nvSpPr>
        <p:spPr>
          <a:xfrm>
            <a:off x="16386175" y="5393055"/>
            <a:ext cx="311150" cy="238125"/>
          </a:xfrm>
          <a:prstGeom prst="rect">
            <a:avLst/>
          </a:prstGeom>
          <a:noFill/>
          <a:ln/>
        </p:spPr>
        <p:txBody>
          <a:bodyPr wrap="square" lIns="25400" tIns="25400" rIns="25400" bIns="25400" rtlCol="0" anchor="t">
            <a:normAutofit/>
          </a:bodyPr>
          <a:lstStyle/>
          <a:p>
            <a:pPr algn="r" indent="0" marL="0">
              <a:buNone/>
            </a:pPr>
            <a:r>
              <a:rPr lang="en-US" sz="1200" b="1" spc="144" kern="0" dirty="0">
                <a:solidFill>
                  <a:srgbClr val="4D4B4C"/>
                </a:solidFill>
                <a:latin typeface="Space Grotesk" pitchFamily="34" charset="0"/>
                <a:ea typeface="Space Grotesk" pitchFamily="34" charset="-122"/>
                <a:cs typeface="Space Grotesk" pitchFamily="34" charset="-120"/>
              </a:rPr>
              <a:t>OK</a:t>
            </a:r>
            <a:endParaRPr lang="en-US" sz="1200" dirty="0"/>
          </a:p>
        </p:txBody>
      </p:sp>
      <p:sp>
        <p:nvSpPr>
          <p:cNvPr id="30" name="Shape 28"/>
          <p:cNvSpPr/>
          <p:nvPr/>
        </p:nvSpPr>
        <p:spPr>
          <a:xfrm>
            <a:off x="1152525" y="5878830"/>
            <a:ext cx="15982950" cy="781050"/>
          </a:xfrm>
          <a:prstGeom prst="rect">
            <a:avLst/>
          </a:prstGeom>
          <a:solidFill>
            <a:srgbClr val="F7F7F7"/>
          </a:solidFill>
          <a:ln/>
        </p:spPr>
      </p:sp>
      <p:sp>
        <p:nvSpPr>
          <p:cNvPr id="31" name="Shape 29"/>
          <p:cNvSpPr/>
          <p:nvPr/>
        </p:nvSpPr>
        <p:spPr>
          <a:xfrm>
            <a:off x="1152525" y="5878830"/>
            <a:ext cx="15982950" cy="9525"/>
          </a:xfrm>
          <a:prstGeom prst="rect">
            <a:avLst/>
          </a:prstGeom>
          <a:solidFill>
            <a:srgbClr val="EEEEEE"/>
          </a:solidFill>
          <a:ln/>
        </p:spPr>
      </p:sp>
      <p:sp>
        <p:nvSpPr>
          <p:cNvPr id="32" name="Text 30"/>
          <p:cNvSpPr/>
          <p:nvPr/>
        </p:nvSpPr>
        <p:spPr>
          <a:xfrm>
            <a:off x="1419225" y="6136005"/>
            <a:ext cx="4208812"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Fraude cruzado</a:t>
            </a:r>
            <a:endParaRPr lang="en-US" sz="1650" dirty="0"/>
          </a:p>
        </p:txBody>
      </p:sp>
      <p:sp>
        <p:nvSpPr>
          <p:cNvPr id="33" name="Text 31"/>
          <p:cNvSpPr/>
          <p:nvPr/>
        </p:nvSpPr>
        <p:spPr>
          <a:xfrm>
            <a:off x="5505450" y="6145530"/>
            <a:ext cx="3443573" cy="295275"/>
          </a:xfrm>
          <a:prstGeom prst="rect">
            <a:avLst/>
          </a:prstGeom>
          <a:noFill/>
          <a:ln/>
        </p:spPr>
        <p:txBody>
          <a:bodyPr wrap="square" lIns="25400" tIns="25400" rIns="25400" bIns="25400" rtlCol="0" anchor="t">
            <a:normAutofit/>
          </a:bodyPr>
          <a:lstStyle/>
          <a:p>
            <a:pPr algn="l" indent="0" marL="0">
              <a:buNone/>
            </a:pPr>
            <a:r>
              <a:rPr lang="en-US" sz="1650" b="1" dirty="0">
                <a:solidFill>
                  <a:srgbClr val="00B8D4"/>
                </a:solidFill>
                <a:latin typeface="ui-monospace" pitchFamily="34" charset="0"/>
                <a:ea typeface="ui-monospace" pitchFamily="34" charset="-122"/>
                <a:cs typeface="ui-monospace" pitchFamily="34" charset="-120"/>
              </a:rPr>
              <a:t>≥ 90%</a:t>
            </a:r>
            <a:endParaRPr lang="en-US" sz="1650" dirty="0"/>
          </a:p>
        </p:txBody>
      </p:sp>
      <p:sp>
        <p:nvSpPr>
          <p:cNvPr id="34" name="Text 32"/>
          <p:cNvSpPr/>
          <p:nvPr/>
        </p:nvSpPr>
        <p:spPr>
          <a:xfrm>
            <a:off x="8848725" y="6147435"/>
            <a:ext cx="6887147"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6B6869"/>
                </a:solidFill>
                <a:latin typeface="Space Grotesk" pitchFamily="34" charset="0"/>
                <a:ea typeface="Space Grotesk" pitchFamily="34" charset="-122"/>
                <a:cs typeface="Space Grotesk" pitchFamily="34" charset="-120"/>
              </a:rPr>
              <a:t>GBT entrenado sobre historial consolidado de los 12 bancos.</a:t>
            </a:r>
            <a:endParaRPr lang="en-US" sz="1425" dirty="0"/>
          </a:p>
        </p:txBody>
      </p:sp>
      <p:sp>
        <p:nvSpPr>
          <p:cNvPr id="35" name="Shape 33"/>
          <p:cNvSpPr/>
          <p:nvPr/>
        </p:nvSpPr>
        <p:spPr>
          <a:xfrm>
            <a:off x="16290925" y="6097905"/>
            <a:ext cx="577850" cy="352425"/>
          </a:xfrm>
          <a:prstGeom prst="rect">
            <a:avLst/>
          </a:prstGeom>
          <a:solidFill>
            <a:srgbClr val="00E1FF"/>
          </a:solidFill>
          <a:ln/>
        </p:spPr>
      </p:sp>
      <p:sp>
        <p:nvSpPr>
          <p:cNvPr id="36" name="Text 34"/>
          <p:cNvSpPr/>
          <p:nvPr/>
        </p:nvSpPr>
        <p:spPr>
          <a:xfrm>
            <a:off x="16386175" y="6174105"/>
            <a:ext cx="311150" cy="238125"/>
          </a:xfrm>
          <a:prstGeom prst="rect">
            <a:avLst/>
          </a:prstGeom>
          <a:noFill/>
          <a:ln/>
        </p:spPr>
        <p:txBody>
          <a:bodyPr wrap="square" lIns="25400" tIns="25400" rIns="25400" bIns="25400" rtlCol="0" anchor="t">
            <a:normAutofit/>
          </a:bodyPr>
          <a:lstStyle/>
          <a:p>
            <a:pPr algn="r" indent="0" marL="0">
              <a:buNone/>
            </a:pPr>
            <a:r>
              <a:rPr lang="en-US" sz="1200" b="1" spc="144" kern="0" dirty="0">
                <a:solidFill>
                  <a:srgbClr val="4D4B4C"/>
                </a:solidFill>
                <a:latin typeface="Space Grotesk" pitchFamily="34" charset="0"/>
                <a:ea typeface="Space Grotesk" pitchFamily="34" charset="-122"/>
                <a:cs typeface="Space Grotesk" pitchFamily="34" charset="-120"/>
              </a:rPr>
              <a:t>OK</a:t>
            </a:r>
            <a:endParaRPr lang="en-US" sz="1200" dirty="0"/>
          </a:p>
        </p:txBody>
      </p:sp>
      <p:sp>
        <p:nvSpPr>
          <p:cNvPr id="37" name="Shape 35"/>
          <p:cNvSpPr/>
          <p:nvPr/>
        </p:nvSpPr>
        <p:spPr>
          <a:xfrm>
            <a:off x="1152525" y="6659880"/>
            <a:ext cx="15982950" cy="781050"/>
          </a:xfrm>
          <a:prstGeom prst="rect">
            <a:avLst/>
          </a:prstGeom>
          <a:solidFill>
            <a:srgbClr val="FFFFFF"/>
          </a:solidFill>
          <a:ln/>
        </p:spPr>
      </p:sp>
      <p:sp>
        <p:nvSpPr>
          <p:cNvPr id="38" name="Shape 36"/>
          <p:cNvSpPr/>
          <p:nvPr/>
        </p:nvSpPr>
        <p:spPr>
          <a:xfrm>
            <a:off x="1152525" y="6659880"/>
            <a:ext cx="15982950" cy="9525"/>
          </a:xfrm>
          <a:prstGeom prst="rect">
            <a:avLst/>
          </a:prstGeom>
          <a:solidFill>
            <a:srgbClr val="EEEEEE"/>
          </a:solidFill>
          <a:ln/>
        </p:spPr>
      </p:sp>
      <p:sp>
        <p:nvSpPr>
          <p:cNvPr id="39" name="Text 37"/>
          <p:cNvSpPr/>
          <p:nvPr/>
        </p:nvSpPr>
        <p:spPr>
          <a:xfrm>
            <a:off x="1419225" y="6917055"/>
            <a:ext cx="4208812"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Frescura en BigQuery</a:t>
            </a:r>
            <a:endParaRPr lang="en-US" sz="1650" dirty="0"/>
          </a:p>
        </p:txBody>
      </p:sp>
      <p:sp>
        <p:nvSpPr>
          <p:cNvPr id="40" name="Text 38"/>
          <p:cNvSpPr/>
          <p:nvPr/>
        </p:nvSpPr>
        <p:spPr>
          <a:xfrm>
            <a:off x="5505450" y="6926580"/>
            <a:ext cx="3443573" cy="295275"/>
          </a:xfrm>
          <a:prstGeom prst="rect">
            <a:avLst/>
          </a:prstGeom>
          <a:noFill/>
          <a:ln/>
        </p:spPr>
        <p:txBody>
          <a:bodyPr wrap="square" lIns="25400" tIns="25400" rIns="25400" bIns="25400" rtlCol="0" anchor="t">
            <a:normAutofit/>
          </a:bodyPr>
          <a:lstStyle/>
          <a:p>
            <a:pPr algn="l" indent="0" marL="0">
              <a:buNone/>
            </a:pPr>
            <a:r>
              <a:rPr lang="en-US" sz="1650" b="1" dirty="0">
                <a:solidFill>
                  <a:srgbClr val="00B8D4"/>
                </a:solidFill>
                <a:latin typeface="ui-monospace" pitchFamily="34" charset="0"/>
                <a:ea typeface="ui-monospace" pitchFamily="34" charset="-122"/>
                <a:cs typeface="ui-monospace" pitchFamily="34" charset="-120"/>
              </a:rPr>
              <a:t>&lt; 10 s</a:t>
            </a:r>
            <a:endParaRPr lang="en-US" sz="1650" dirty="0"/>
          </a:p>
        </p:txBody>
      </p:sp>
      <p:sp>
        <p:nvSpPr>
          <p:cNvPr id="41" name="Text 39"/>
          <p:cNvSpPr/>
          <p:nvPr/>
        </p:nvSpPr>
        <p:spPr>
          <a:xfrm>
            <a:off x="8848725" y="6928485"/>
            <a:ext cx="6887147"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6B6869"/>
                </a:solidFill>
                <a:latin typeface="Space Grotesk" pitchFamily="34" charset="0"/>
                <a:ea typeface="Space Grotesk" pitchFamily="34" charset="-122"/>
                <a:cs typeface="Space Grotesk" pitchFamily="34" charset="-120"/>
              </a:rPr>
              <a:t>Pub/Sub + Dataflow escriben con latencia típica 2–5 s.</a:t>
            </a:r>
            <a:endParaRPr lang="en-US" sz="1425" dirty="0"/>
          </a:p>
        </p:txBody>
      </p:sp>
      <p:sp>
        <p:nvSpPr>
          <p:cNvPr id="42" name="Shape 40"/>
          <p:cNvSpPr/>
          <p:nvPr/>
        </p:nvSpPr>
        <p:spPr>
          <a:xfrm>
            <a:off x="16290925" y="6878955"/>
            <a:ext cx="577850" cy="352425"/>
          </a:xfrm>
          <a:prstGeom prst="rect">
            <a:avLst/>
          </a:prstGeom>
          <a:solidFill>
            <a:srgbClr val="00E1FF"/>
          </a:solidFill>
          <a:ln/>
        </p:spPr>
      </p:sp>
      <p:sp>
        <p:nvSpPr>
          <p:cNvPr id="43" name="Text 41"/>
          <p:cNvSpPr/>
          <p:nvPr/>
        </p:nvSpPr>
        <p:spPr>
          <a:xfrm>
            <a:off x="16386175" y="6955155"/>
            <a:ext cx="311150" cy="238125"/>
          </a:xfrm>
          <a:prstGeom prst="rect">
            <a:avLst/>
          </a:prstGeom>
          <a:noFill/>
          <a:ln/>
        </p:spPr>
        <p:txBody>
          <a:bodyPr wrap="square" lIns="25400" tIns="25400" rIns="25400" bIns="25400" rtlCol="0" anchor="t">
            <a:normAutofit/>
          </a:bodyPr>
          <a:lstStyle/>
          <a:p>
            <a:pPr algn="r" indent="0" marL="0">
              <a:buNone/>
            </a:pPr>
            <a:r>
              <a:rPr lang="en-US" sz="1200" b="1" spc="144" kern="0" dirty="0">
                <a:solidFill>
                  <a:srgbClr val="4D4B4C"/>
                </a:solidFill>
                <a:latin typeface="Space Grotesk" pitchFamily="34" charset="0"/>
                <a:ea typeface="Space Grotesk" pitchFamily="34" charset="-122"/>
                <a:cs typeface="Space Grotesk" pitchFamily="34" charset="-120"/>
              </a:rPr>
              <a:t>OK</a:t>
            </a:r>
            <a:endParaRPr lang="en-US" sz="1200" dirty="0"/>
          </a:p>
        </p:txBody>
      </p:sp>
      <p:sp>
        <p:nvSpPr>
          <p:cNvPr id="44" name="Shape 42"/>
          <p:cNvSpPr/>
          <p:nvPr/>
        </p:nvSpPr>
        <p:spPr>
          <a:xfrm>
            <a:off x="1152525" y="7440930"/>
            <a:ext cx="15982950" cy="781050"/>
          </a:xfrm>
          <a:prstGeom prst="rect">
            <a:avLst/>
          </a:prstGeom>
          <a:solidFill>
            <a:srgbClr val="F7F7F7"/>
          </a:solidFill>
          <a:ln/>
        </p:spPr>
      </p:sp>
      <p:sp>
        <p:nvSpPr>
          <p:cNvPr id="45" name="Shape 43"/>
          <p:cNvSpPr/>
          <p:nvPr/>
        </p:nvSpPr>
        <p:spPr>
          <a:xfrm>
            <a:off x="1152525" y="7440930"/>
            <a:ext cx="15982950" cy="9525"/>
          </a:xfrm>
          <a:prstGeom prst="rect">
            <a:avLst/>
          </a:prstGeom>
          <a:solidFill>
            <a:srgbClr val="EEEEEE"/>
          </a:solidFill>
          <a:ln/>
        </p:spPr>
      </p:sp>
      <p:sp>
        <p:nvSpPr>
          <p:cNvPr id="46" name="Text 44"/>
          <p:cNvSpPr/>
          <p:nvPr/>
        </p:nvSpPr>
        <p:spPr>
          <a:xfrm>
            <a:off x="1419225" y="7698105"/>
            <a:ext cx="4208812"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Pronóstico de liquidez</a:t>
            </a:r>
            <a:endParaRPr lang="en-US" sz="1650" dirty="0"/>
          </a:p>
        </p:txBody>
      </p:sp>
      <p:sp>
        <p:nvSpPr>
          <p:cNvPr id="47" name="Text 45"/>
          <p:cNvSpPr/>
          <p:nvPr/>
        </p:nvSpPr>
        <p:spPr>
          <a:xfrm>
            <a:off x="5505450" y="7707630"/>
            <a:ext cx="3443573" cy="295275"/>
          </a:xfrm>
          <a:prstGeom prst="rect">
            <a:avLst/>
          </a:prstGeom>
          <a:noFill/>
          <a:ln/>
        </p:spPr>
        <p:txBody>
          <a:bodyPr wrap="square" lIns="25400" tIns="25400" rIns="25400" bIns="25400" rtlCol="0" anchor="t">
            <a:normAutofit/>
          </a:bodyPr>
          <a:lstStyle/>
          <a:p>
            <a:pPr algn="l" indent="0" marL="0">
              <a:buNone/>
            </a:pPr>
            <a:r>
              <a:rPr lang="en-US" sz="1650" b="1" dirty="0">
                <a:solidFill>
                  <a:srgbClr val="00B8D4"/>
                </a:solidFill>
                <a:latin typeface="ui-monospace" pitchFamily="34" charset="0"/>
                <a:ea typeface="ui-monospace" pitchFamily="34" charset="-122"/>
                <a:cs typeface="ui-monospace" pitchFamily="34" charset="-120"/>
              </a:rPr>
              <a:t>12 bancos · diario</a:t>
            </a:r>
            <a:endParaRPr lang="en-US" sz="1650" dirty="0"/>
          </a:p>
        </p:txBody>
      </p:sp>
      <p:sp>
        <p:nvSpPr>
          <p:cNvPr id="48" name="Text 46"/>
          <p:cNvSpPr/>
          <p:nvPr/>
        </p:nvSpPr>
        <p:spPr>
          <a:xfrm>
            <a:off x="8848725" y="7709535"/>
            <a:ext cx="6887147"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6B6869"/>
                </a:solidFill>
                <a:latin typeface="Space Grotesk" pitchFamily="34" charset="0"/>
                <a:ea typeface="Space Grotesk" pitchFamily="34" charset="-122"/>
                <a:cs typeface="Space Grotesk" pitchFamily="34" charset="-120"/>
              </a:rPr>
              <a:t>Dataproc corre a las 2 AM y persiste en lumina_batch.liquidity_forecast.</a:t>
            </a:r>
            <a:endParaRPr lang="en-US" sz="1425" dirty="0"/>
          </a:p>
        </p:txBody>
      </p:sp>
      <p:sp>
        <p:nvSpPr>
          <p:cNvPr id="49" name="Shape 47"/>
          <p:cNvSpPr/>
          <p:nvPr/>
        </p:nvSpPr>
        <p:spPr>
          <a:xfrm>
            <a:off x="16290925" y="7660005"/>
            <a:ext cx="577850" cy="352425"/>
          </a:xfrm>
          <a:prstGeom prst="rect">
            <a:avLst/>
          </a:prstGeom>
          <a:solidFill>
            <a:srgbClr val="00E1FF"/>
          </a:solidFill>
          <a:ln/>
        </p:spPr>
      </p:sp>
      <p:sp>
        <p:nvSpPr>
          <p:cNvPr id="50" name="Text 48"/>
          <p:cNvSpPr/>
          <p:nvPr/>
        </p:nvSpPr>
        <p:spPr>
          <a:xfrm>
            <a:off x="16386175" y="7736205"/>
            <a:ext cx="311150" cy="238125"/>
          </a:xfrm>
          <a:prstGeom prst="rect">
            <a:avLst/>
          </a:prstGeom>
          <a:noFill/>
          <a:ln/>
        </p:spPr>
        <p:txBody>
          <a:bodyPr wrap="square" lIns="25400" tIns="25400" rIns="25400" bIns="25400" rtlCol="0" anchor="t">
            <a:normAutofit/>
          </a:bodyPr>
          <a:lstStyle/>
          <a:p>
            <a:pPr algn="r" indent="0" marL="0">
              <a:buNone/>
            </a:pPr>
            <a:r>
              <a:rPr lang="en-US" sz="1200" b="1" spc="144" kern="0" dirty="0">
                <a:solidFill>
                  <a:srgbClr val="4D4B4C"/>
                </a:solidFill>
                <a:latin typeface="Space Grotesk" pitchFamily="34" charset="0"/>
                <a:ea typeface="Space Grotesk" pitchFamily="34" charset="-122"/>
                <a:cs typeface="Space Grotesk" pitchFamily="34" charset="-120"/>
              </a:rPr>
              <a:t>OK</a:t>
            </a:r>
            <a:endParaRPr lang="en-US" sz="1200" dirty="0"/>
          </a:p>
        </p:txBody>
      </p:sp>
      <p:sp>
        <p:nvSpPr>
          <p:cNvPr id="51" name="Shape 49"/>
          <p:cNvSpPr/>
          <p:nvPr/>
        </p:nvSpPr>
        <p:spPr>
          <a:xfrm>
            <a:off x="1152525" y="8221980"/>
            <a:ext cx="15982950" cy="781050"/>
          </a:xfrm>
          <a:prstGeom prst="rect">
            <a:avLst/>
          </a:prstGeom>
          <a:solidFill>
            <a:srgbClr val="FFFFFF"/>
          </a:solidFill>
          <a:ln/>
        </p:spPr>
      </p:sp>
      <p:sp>
        <p:nvSpPr>
          <p:cNvPr id="52" name="Shape 50"/>
          <p:cNvSpPr/>
          <p:nvPr/>
        </p:nvSpPr>
        <p:spPr>
          <a:xfrm>
            <a:off x="1152525" y="8221980"/>
            <a:ext cx="15982950" cy="9525"/>
          </a:xfrm>
          <a:prstGeom prst="rect">
            <a:avLst/>
          </a:prstGeom>
          <a:solidFill>
            <a:srgbClr val="EEEEEE"/>
          </a:solidFill>
          <a:ln/>
        </p:spPr>
      </p:sp>
      <p:sp>
        <p:nvSpPr>
          <p:cNvPr id="53" name="Text 51"/>
          <p:cNvSpPr/>
          <p:nvPr/>
        </p:nvSpPr>
        <p:spPr>
          <a:xfrm>
            <a:off x="1419225" y="8479155"/>
            <a:ext cx="4208812" cy="314325"/>
          </a:xfrm>
          <a:prstGeom prst="rect">
            <a:avLst/>
          </a:prstGeom>
          <a:noFill/>
          <a:ln/>
        </p:spPr>
        <p:txBody>
          <a:bodyPr wrap="square" lIns="25400" tIns="25400" rIns="25400" bIns="25400" rtlCol="0" anchor="t">
            <a:normAutofit/>
          </a:bodyPr>
          <a:lstStyle/>
          <a:p>
            <a:pPr algn="l" indent="0" marL="0">
              <a:buNone/>
            </a:pPr>
            <a:r>
              <a:rPr lang="en-US" sz="1650" b="1" spc="-16" kern="0" dirty="0">
                <a:solidFill>
                  <a:srgbClr val="4D4B4C"/>
                </a:solidFill>
                <a:latin typeface="Space Grotesk" pitchFamily="34" charset="0"/>
                <a:ea typeface="Space Grotesk" pitchFamily="34" charset="-122"/>
                <a:cs typeface="Space Grotesk" pitchFamily="34" charset="-120"/>
              </a:rPr>
              <a:t>Despliegue end-to-end</a:t>
            </a:r>
            <a:endParaRPr lang="en-US" sz="1650" dirty="0"/>
          </a:p>
        </p:txBody>
      </p:sp>
      <p:sp>
        <p:nvSpPr>
          <p:cNvPr id="54" name="Text 52"/>
          <p:cNvSpPr/>
          <p:nvPr/>
        </p:nvSpPr>
        <p:spPr>
          <a:xfrm>
            <a:off x="5505450" y="8488680"/>
            <a:ext cx="3443573" cy="295275"/>
          </a:xfrm>
          <a:prstGeom prst="rect">
            <a:avLst/>
          </a:prstGeom>
          <a:noFill/>
          <a:ln/>
        </p:spPr>
        <p:txBody>
          <a:bodyPr wrap="square" lIns="25400" tIns="25400" rIns="25400" bIns="25400" rtlCol="0" anchor="t">
            <a:normAutofit/>
          </a:bodyPr>
          <a:lstStyle/>
          <a:p>
            <a:pPr algn="l" indent="0" marL="0">
              <a:buNone/>
            </a:pPr>
            <a:r>
              <a:rPr lang="en-US" sz="1650" b="1" dirty="0">
                <a:solidFill>
                  <a:srgbClr val="00B8D4"/>
                </a:solidFill>
                <a:latin typeface="ui-monospace" pitchFamily="34" charset="0"/>
                <a:ea typeface="ui-monospace" pitchFamily="34" charset="-122"/>
                <a:cs typeface="ui-monospace" pitchFamily="34" charset="-120"/>
              </a:rPr>
              <a:t>≤ 15 min</a:t>
            </a:r>
            <a:endParaRPr lang="en-US" sz="1650" dirty="0"/>
          </a:p>
        </p:txBody>
      </p:sp>
      <p:sp>
        <p:nvSpPr>
          <p:cNvPr id="55" name="Text 53"/>
          <p:cNvSpPr/>
          <p:nvPr/>
        </p:nvSpPr>
        <p:spPr>
          <a:xfrm>
            <a:off x="8848725" y="8490585"/>
            <a:ext cx="6887147" cy="291465"/>
          </a:xfrm>
          <a:prstGeom prst="rect">
            <a:avLst/>
          </a:prstGeom>
          <a:noFill/>
          <a:ln/>
        </p:spPr>
        <p:txBody>
          <a:bodyPr wrap="square" lIns="25400" tIns="25400" rIns="25400" bIns="25400" rtlCol="0" anchor="t">
            <a:normAutofit/>
          </a:bodyPr>
          <a:lstStyle/>
          <a:p>
            <a:pPr algn="l" indent="0" marL="0">
              <a:lnSpc>
                <a:spcPct val="140000"/>
              </a:lnSpc>
              <a:buNone/>
            </a:pPr>
            <a:r>
              <a:rPr lang="en-US" sz="1425" dirty="0">
                <a:solidFill>
                  <a:srgbClr val="6B6869"/>
                </a:solidFill>
                <a:latin typeface="Space Grotesk" pitchFamily="34" charset="0"/>
                <a:ea typeface="Space Grotesk" pitchFamily="34" charset="-122"/>
                <a:cs typeface="Space Grotesk" pitchFamily="34" charset="-120"/>
              </a:rPr>
              <a:t>terraform apply completo en 12–15 min; incrementales &lt; 5 min.</a:t>
            </a:r>
            <a:endParaRPr lang="en-US" sz="1425" dirty="0"/>
          </a:p>
        </p:txBody>
      </p:sp>
      <p:sp>
        <p:nvSpPr>
          <p:cNvPr id="56" name="Shape 54"/>
          <p:cNvSpPr/>
          <p:nvPr/>
        </p:nvSpPr>
        <p:spPr>
          <a:xfrm>
            <a:off x="16290925" y="8441055"/>
            <a:ext cx="577850" cy="352425"/>
          </a:xfrm>
          <a:prstGeom prst="rect">
            <a:avLst/>
          </a:prstGeom>
          <a:solidFill>
            <a:srgbClr val="00E1FF"/>
          </a:solidFill>
          <a:ln/>
        </p:spPr>
      </p:sp>
      <p:sp>
        <p:nvSpPr>
          <p:cNvPr id="57" name="Text 55"/>
          <p:cNvSpPr/>
          <p:nvPr/>
        </p:nvSpPr>
        <p:spPr>
          <a:xfrm>
            <a:off x="16386175" y="8517255"/>
            <a:ext cx="311150" cy="238125"/>
          </a:xfrm>
          <a:prstGeom prst="rect">
            <a:avLst/>
          </a:prstGeom>
          <a:noFill/>
          <a:ln/>
        </p:spPr>
        <p:txBody>
          <a:bodyPr wrap="square" lIns="25400" tIns="25400" rIns="25400" bIns="25400" rtlCol="0" anchor="t">
            <a:normAutofit/>
          </a:bodyPr>
          <a:lstStyle/>
          <a:p>
            <a:pPr algn="r" indent="0" marL="0">
              <a:buNone/>
            </a:pPr>
            <a:r>
              <a:rPr lang="en-US" sz="1200" b="1" spc="144" kern="0" dirty="0">
                <a:solidFill>
                  <a:srgbClr val="4D4B4C"/>
                </a:solidFill>
                <a:latin typeface="Space Grotesk" pitchFamily="34" charset="0"/>
                <a:ea typeface="Space Grotesk" pitchFamily="34" charset="-122"/>
                <a:cs typeface="Space Grotesk" pitchFamily="34" charset="-120"/>
              </a:rPr>
              <a:t>OK</a:t>
            </a:r>
            <a:endParaRPr lang="en-US" sz="1200" dirty="0"/>
          </a:p>
        </p:txBody>
      </p:sp>
      <p:pic>
        <p:nvPicPr>
          <p:cNvPr id="58"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59" name="Text 56"/>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00E1FF"/>
        </a:solidFill>
      </p:bgPr>
    </p:bg>
    <p:spTree>
      <p:nvGrpSpPr>
        <p:cNvPr id="1" name=""/>
        <p:cNvGrpSpPr/>
        <p:nvPr/>
      </p:nvGrpSpPr>
      <p:grpSpPr>
        <a:xfrm>
          <a:off x="0" y="0"/>
          <a:ext cx="0" cy="0"/>
          <a:chOff x="0" y="0"/>
          <a:chExt cx="0" cy="0"/>
        </a:xfrm>
      </p:grpSpPr>
      <p:sp>
        <p:nvSpPr>
          <p:cNvPr id="2" name="Text 0"/>
          <p:cNvSpPr/>
          <p:nvPr/>
        </p:nvSpPr>
        <p:spPr>
          <a:xfrm>
            <a:off x="1143000" y="1047750"/>
            <a:ext cx="1648206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VALOR PARA EL NEGOCIO</a:t>
            </a:r>
            <a:endParaRPr lang="en-US" sz="1500" dirty="0"/>
          </a:p>
        </p:txBody>
      </p:sp>
      <p:sp>
        <p:nvSpPr>
          <p:cNvPr id="3" name="Text 1"/>
          <p:cNvSpPr/>
          <p:nvPr/>
        </p:nvSpPr>
        <p:spPr>
          <a:xfrm>
            <a:off x="1143000" y="1524000"/>
            <a:ext cx="13735050" cy="1695450"/>
          </a:xfrm>
          <a:prstGeom prst="rect">
            <a:avLst/>
          </a:prstGeom>
          <a:noFill/>
          <a:ln/>
        </p:spPr>
        <p:txBody>
          <a:bodyPr wrap="square" lIns="25400" tIns="25400" rIns="25400" bIns="25400" rtlCol="0" anchor="t">
            <a:normAutofit/>
          </a:bodyPr>
          <a:lstStyle/>
          <a:p>
            <a:pPr algn="l" indent="0" marL="0">
              <a:buNone/>
            </a:pPr>
            <a:r>
              <a:rPr lang="en-US" sz="5100" b="1" spc="-76" kern="0" dirty="0">
                <a:solidFill>
                  <a:srgbClr val="4D4B4C"/>
                </a:solidFill>
                <a:latin typeface="Space Grotesk" pitchFamily="34" charset="0"/>
                <a:ea typeface="Space Grotesk" pitchFamily="34" charset="-122"/>
                <a:cs typeface="Space Grotesk" pitchFamily="34" charset="-120"/>
              </a:rPr>
              <a:t>Tres capacidades que el modelo fragmentado no podía entregar</a:t>
            </a:r>
            <a:endParaRPr lang="en-US" sz="5100" dirty="0"/>
          </a:p>
        </p:txBody>
      </p:sp>
      <p:sp>
        <p:nvSpPr>
          <p:cNvPr id="4" name="Shape 2"/>
          <p:cNvSpPr/>
          <p:nvPr/>
        </p:nvSpPr>
        <p:spPr>
          <a:xfrm>
            <a:off x="1143000" y="3943350"/>
            <a:ext cx="5029200" cy="5410200"/>
          </a:xfrm>
          <a:prstGeom prst="rect">
            <a:avLst/>
          </a:prstGeom>
          <a:solidFill>
            <a:srgbClr val="FFFFFF"/>
          </a:solidFill>
          <a:ln/>
        </p:spPr>
      </p:sp>
      <p:sp>
        <p:nvSpPr>
          <p:cNvPr id="5" name="Text 3"/>
          <p:cNvSpPr/>
          <p:nvPr/>
        </p:nvSpPr>
        <p:spPr>
          <a:xfrm>
            <a:off x="1562100" y="4362450"/>
            <a:ext cx="4316730" cy="792480"/>
          </a:xfrm>
          <a:prstGeom prst="rect">
            <a:avLst/>
          </a:prstGeom>
          <a:noFill/>
          <a:ln/>
        </p:spPr>
        <p:txBody>
          <a:bodyPr wrap="square" lIns="25400" tIns="25400" rIns="25400" bIns="25400" rtlCol="0" anchor="t">
            <a:normAutofit/>
          </a:bodyPr>
          <a:lstStyle/>
          <a:p>
            <a:pPr algn="l" indent="0" marL="0">
              <a:lnSpc>
                <a:spcPct val="90000"/>
              </a:lnSpc>
              <a:buNone/>
            </a:pPr>
            <a:r>
              <a:rPr lang="en-US" sz="6600" b="1" spc="-198" kern="0" dirty="0">
                <a:solidFill>
                  <a:srgbClr val="00E1FF"/>
                </a:solidFill>
                <a:latin typeface="Space Grotesk" pitchFamily="34" charset="0"/>
                <a:ea typeface="Space Grotesk" pitchFamily="34" charset="-122"/>
                <a:cs typeface="Space Grotesk" pitchFamily="34" charset="-120"/>
              </a:rPr>
              <a:t>01</a:t>
            </a:r>
            <a:endParaRPr lang="en-US" sz="6600" dirty="0"/>
          </a:p>
        </p:txBody>
      </p:sp>
      <p:sp>
        <p:nvSpPr>
          <p:cNvPr id="6" name="Text 4"/>
          <p:cNvSpPr/>
          <p:nvPr/>
        </p:nvSpPr>
        <p:spPr>
          <a:xfrm>
            <a:off x="1562100" y="5383530"/>
            <a:ext cx="4316730" cy="415290"/>
          </a:xfrm>
          <a:prstGeom prst="rect">
            <a:avLst/>
          </a:prstGeom>
          <a:noFill/>
          <a:ln/>
        </p:spPr>
        <p:txBody>
          <a:bodyPr wrap="square" lIns="25400" tIns="25400" rIns="25400" bIns="25400" rtlCol="0" anchor="t">
            <a:normAutofit/>
          </a:bodyPr>
          <a:lstStyle/>
          <a:p>
            <a:pPr algn="l" indent="0" marL="0">
              <a:lnSpc>
                <a:spcPct val="110000"/>
              </a:lnSpc>
              <a:buNone/>
            </a:pPr>
            <a:r>
              <a:rPr lang="en-US" sz="2700" b="1" spc="-27" kern="0" dirty="0">
                <a:solidFill>
                  <a:srgbClr val="4D4B4C"/>
                </a:solidFill>
                <a:latin typeface="Space Grotesk" pitchFamily="34" charset="0"/>
                <a:ea typeface="Space Grotesk" pitchFamily="34" charset="-122"/>
                <a:cs typeface="Space Grotesk" pitchFamily="34" charset="-120"/>
              </a:rPr>
              <a:t>Fraude en tiempo real</a:t>
            </a:r>
            <a:endParaRPr lang="en-US" sz="2700" dirty="0"/>
          </a:p>
        </p:txBody>
      </p:sp>
      <p:sp>
        <p:nvSpPr>
          <p:cNvPr id="7" name="Text 5"/>
          <p:cNvSpPr/>
          <p:nvPr/>
        </p:nvSpPr>
        <p:spPr>
          <a:xfrm>
            <a:off x="1562100" y="7719060"/>
            <a:ext cx="4316730" cy="1253490"/>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B6869"/>
                </a:solidFill>
                <a:latin typeface="Space Grotesk" pitchFamily="34" charset="0"/>
                <a:ea typeface="Space Grotesk" pitchFamily="34" charset="-122"/>
                <a:cs typeface="Space Grotesk" pitchFamily="34" charset="-120"/>
              </a:rPr>
              <a:t>Decisión en menos de 200 ms con visibilidad interbancaria. Un cliente marcado en un banco queda cubierto para los doce.</a:t>
            </a:r>
            <a:endParaRPr lang="en-US" sz="1650" dirty="0"/>
          </a:p>
        </p:txBody>
      </p:sp>
      <p:sp>
        <p:nvSpPr>
          <p:cNvPr id="8" name="Shape 6"/>
          <p:cNvSpPr/>
          <p:nvPr/>
        </p:nvSpPr>
        <p:spPr>
          <a:xfrm>
            <a:off x="6629400" y="3943350"/>
            <a:ext cx="5029200" cy="5410200"/>
          </a:xfrm>
          <a:prstGeom prst="rect">
            <a:avLst/>
          </a:prstGeom>
          <a:solidFill>
            <a:srgbClr val="FFFFFF"/>
          </a:solidFill>
          <a:ln/>
        </p:spPr>
      </p:sp>
      <p:sp>
        <p:nvSpPr>
          <p:cNvPr id="9" name="Text 7"/>
          <p:cNvSpPr/>
          <p:nvPr/>
        </p:nvSpPr>
        <p:spPr>
          <a:xfrm>
            <a:off x="7048500" y="4362450"/>
            <a:ext cx="4316730" cy="792480"/>
          </a:xfrm>
          <a:prstGeom prst="rect">
            <a:avLst/>
          </a:prstGeom>
          <a:noFill/>
          <a:ln/>
        </p:spPr>
        <p:txBody>
          <a:bodyPr wrap="square" lIns="25400" tIns="25400" rIns="25400" bIns="25400" rtlCol="0" anchor="t">
            <a:normAutofit/>
          </a:bodyPr>
          <a:lstStyle/>
          <a:p>
            <a:pPr algn="l" indent="0" marL="0">
              <a:lnSpc>
                <a:spcPct val="90000"/>
              </a:lnSpc>
              <a:buNone/>
            </a:pPr>
            <a:r>
              <a:rPr lang="en-US" sz="6600" b="1" spc="-198" kern="0" dirty="0">
                <a:solidFill>
                  <a:srgbClr val="00E1FF"/>
                </a:solidFill>
                <a:latin typeface="Space Grotesk" pitchFamily="34" charset="0"/>
                <a:ea typeface="Space Grotesk" pitchFamily="34" charset="-122"/>
                <a:cs typeface="Space Grotesk" pitchFamily="34" charset="-120"/>
              </a:rPr>
              <a:t>02</a:t>
            </a:r>
            <a:endParaRPr lang="en-US" sz="6600" dirty="0"/>
          </a:p>
        </p:txBody>
      </p:sp>
      <p:sp>
        <p:nvSpPr>
          <p:cNvPr id="10" name="Text 8"/>
          <p:cNvSpPr/>
          <p:nvPr/>
        </p:nvSpPr>
        <p:spPr>
          <a:xfrm>
            <a:off x="7048500" y="5383530"/>
            <a:ext cx="4316730" cy="415290"/>
          </a:xfrm>
          <a:prstGeom prst="rect">
            <a:avLst/>
          </a:prstGeom>
          <a:noFill/>
          <a:ln/>
        </p:spPr>
        <p:txBody>
          <a:bodyPr wrap="square" lIns="25400" tIns="25400" rIns="25400" bIns="25400" rtlCol="0" anchor="t">
            <a:normAutofit/>
          </a:bodyPr>
          <a:lstStyle/>
          <a:p>
            <a:pPr algn="l" indent="0" marL="0">
              <a:lnSpc>
                <a:spcPct val="110000"/>
              </a:lnSpc>
              <a:buNone/>
            </a:pPr>
            <a:r>
              <a:rPr lang="en-US" sz="2700" b="1" spc="-27" kern="0" dirty="0">
                <a:solidFill>
                  <a:srgbClr val="4D4B4C"/>
                </a:solidFill>
                <a:latin typeface="Space Grotesk" pitchFamily="34" charset="0"/>
                <a:ea typeface="Space Grotesk" pitchFamily="34" charset="-122"/>
                <a:cs typeface="Space Grotesk" pitchFamily="34" charset="-120"/>
              </a:rPr>
              <a:t>Liquidez accionable</a:t>
            </a:r>
            <a:endParaRPr lang="en-US" sz="2700" dirty="0"/>
          </a:p>
        </p:txBody>
      </p:sp>
      <p:sp>
        <p:nvSpPr>
          <p:cNvPr id="11" name="Text 9"/>
          <p:cNvSpPr/>
          <p:nvPr/>
        </p:nvSpPr>
        <p:spPr>
          <a:xfrm>
            <a:off x="7048500" y="7719060"/>
            <a:ext cx="4316730" cy="1253490"/>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B6869"/>
                </a:solidFill>
                <a:latin typeface="Space Grotesk" pitchFamily="34" charset="0"/>
                <a:ea typeface="Space Grotesk" pitchFamily="34" charset="-122"/>
                <a:cs typeface="Space Grotesk" pitchFamily="34" charset="-120"/>
              </a:rPr>
              <a:t>Pronóstico diario por banco con horizonte 1–7 días. Las áreas de tesorería planifican caja con evidencia, no con intuición.</a:t>
            </a:r>
            <a:endParaRPr lang="en-US" sz="1650" dirty="0"/>
          </a:p>
        </p:txBody>
      </p:sp>
      <p:sp>
        <p:nvSpPr>
          <p:cNvPr id="12" name="Shape 10"/>
          <p:cNvSpPr/>
          <p:nvPr/>
        </p:nvSpPr>
        <p:spPr>
          <a:xfrm>
            <a:off x="12115800" y="3943350"/>
            <a:ext cx="5029200" cy="5410200"/>
          </a:xfrm>
          <a:prstGeom prst="rect">
            <a:avLst/>
          </a:prstGeom>
          <a:solidFill>
            <a:srgbClr val="FFFFFF"/>
          </a:solidFill>
          <a:ln/>
        </p:spPr>
      </p:sp>
      <p:sp>
        <p:nvSpPr>
          <p:cNvPr id="13" name="Text 11"/>
          <p:cNvSpPr/>
          <p:nvPr/>
        </p:nvSpPr>
        <p:spPr>
          <a:xfrm>
            <a:off x="12534900" y="4362450"/>
            <a:ext cx="4316730" cy="792480"/>
          </a:xfrm>
          <a:prstGeom prst="rect">
            <a:avLst/>
          </a:prstGeom>
          <a:noFill/>
          <a:ln/>
        </p:spPr>
        <p:txBody>
          <a:bodyPr wrap="square" lIns="25400" tIns="25400" rIns="25400" bIns="25400" rtlCol="0" anchor="t">
            <a:normAutofit/>
          </a:bodyPr>
          <a:lstStyle/>
          <a:p>
            <a:pPr algn="l" indent="0" marL="0">
              <a:lnSpc>
                <a:spcPct val="90000"/>
              </a:lnSpc>
              <a:buNone/>
            </a:pPr>
            <a:r>
              <a:rPr lang="en-US" sz="6600" b="1" spc="-198" kern="0" dirty="0">
                <a:solidFill>
                  <a:srgbClr val="00E1FF"/>
                </a:solidFill>
                <a:latin typeface="Space Grotesk" pitchFamily="34" charset="0"/>
                <a:ea typeface="Space Grotesk" pitchFamily="34" charset="-122"/>
                <a:cs typeface="Space Grotesk" pitchFamily="34" charset="-120"/>
              </a:rPr>
              <a:t>03</a:t>
            </a:r>
            <a:endParaRPr lang="en-US" sz="6600" dirty="0"/>
          </a:p>
        </p:txBody>
      </p:sp>
      <p:sp>
        <p:nvSpPr>
          <p:cNvPr id="14" name="Text 12"/>
          <p:cNvSpPr/>
          <p:nvPr/>
        </p:nvSpPr>
        <p:spPr>
          <a:xfrm>
            <a:off x="12534900" y="5383530"/>
            <a:ext cx="4316730" cy="415290"/>
          </a:xfrm>
          <a:prstGeom prst="rect">
            <a:avLst/>
          </a:prstGeom>
          <a:noFill/>
          <a:ln/>
        </p:spPr>
        <p:txBody>
          <a:bodyPr wrap="square" lIns="25400" tIns="25400" rIns="25400" bIns="25400" rtlCol="0" anchor="t">
            <a:normAutofit/>
          </a:bodyPr>
          <a:lstStyle/>
          <a:p>
            <a:pPr algn="l" indent="0" marL="0">
              <a:lnSpc>
                <a:spcPct val="110000"/>
              </a:lnSpc>
              <a:buNone/>
            </a:pPr>
            <a:r>
              <a:rPr lang="en-US" sz="2700" b="1" spc="-27" kern="0" dirty="0">
                <a:solidFill>
                  <a:srgbClr val="4D4B4C"/>
                </a:solidFill>
                <a:latin typeface="Space Grotesk" pitchFamily="34" charset="0"/>
                <a:ea typeface="Space Grotesk" pitchFamily="34" charset="-122"/>
                <a:cs typeface="Space Grotesk" pitchFamily="34" charset="-120"/>
              </a:rPr>
              <a:t>Productos de datos</a:t>
            </a:r>
            <a:endParaRPr lang="en-US" sz="2700" dirty="0"/>
          </a:p>
        </p:txBody>
      </p:sp>
      <p:sp>
        <p:nvSpPr>
          <p:cNvPr id="15" name="Text 13"/>
          <p:cNvSpPr/>
          <p:nvPr/>
        </p:nvSpPr>
        <p:spPr>
          <a:xfrm>
            <a:off x="12534900" y="8022907"/>
            <a:ext cx="4316730" cy="949642"/>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B6869"/>
                </a:solidFill>
                <a:latin typeface="Space Grotesk" pitchFamily="34" charset="0"/>
                <a:ea typeface="Space Grotesk" pitchFamily="34" charset="-122"/>
                <a:cs typeface="Space Grotesk" pitchFamily="34" charset="-120"/>
              </a:rPr>
              <a:t>Micro-créditos bajo demanda, scoring contextual y recomendaciones en el momento de la interacción con el cliente.</a:t>
            </a:r>
            <a:endParaRPr lang="en-US" sz="1650" dirty="0"/>
          </a:p>
        </p:txBody>
      </p:sp>
      <p:pic>
        <p:nvPicPr>
          <p:cNvPr id="16"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17" name="Text 14"/>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9324137"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ESTIMACIÓN MENSUAL · US-EAST1</a:t>
            </a:r>
            <a:endParaRPr lang="en-US" sz="1500" dirty="0"/>
          </a:p>
        </p:txBody>
      </p:sp>
      <p:sp>
        <p:nvSpPr>
          <p:cNvPr id="3" name="Text 1"/>
          <p:cNvSpPr/>
          <p:nvPr/>
        </p:nvSpPr>
        <p:spPr>
          <a:xfrm>
            <a:off x="1143000" y="1524000"/>
            <a:ext cx="9324137" cy="866775"/>
          </a:xfrm>
          <a:prstGeom prst="rect">
            <a:avLst/>
          </a:prstGeom>
          <a:noFill/>
          <a:ln/>
        </p:spPr>
        <p:txBody>
          <a:bodyPr wrap="square" lIns="25400" tIns="25400" rIns="25400" bIns="25400" rtlCol="0" anchor="t">
            <a:normAutofit/>
          </a:bodyPr>
          <a:lstStyle/>
          <a:p>
            <a:pPr algn="l" indent="0" marL="0">
              <a:buNone/>
            </a:pPr>
            <a:r>
              <a:rPr lang="en-US" sz="5100" b="1" spc="-76" kern="0" dirty="0">
                <a:solidFill>
                  <a:srgbClr val="4D4B4C"/>
                </a:solidFill>
                <a:latin typeface="Space Grotesk" pitchFamily="34" charset="0"/>
                <a:ea typeface="Space Grotesk" pitchFamily="34" charset="-122"/>
                <a:cs typeface="Space Grotesk" pitchFamily="34" charset="-120"/>
              </a:rPr>
              <a:t>USD 4.160 – 7.630 al mes</a:t>
            </a:r>
            <a:endParaRPr lang="en-US" sz="5100" dirty="0"/>
          </a:p>
        </p:txBody>
      </p:sp>
      <p:sp>
        <p:nvSpPr>
          <p:cNvPr id="4" name="Text 2"/>
          <p:cNvSpPr/>
          <p:nvPr/>
        </p:nvSpPr>
        <p:spPr>
          <a:xfrm>
            <a:off x="1143000" y="2657475"/>
            <a:ext cx="8829675" cy="1032510"/>
          </a:xfrm>
          <a:prstGeom prst="rect">
            <a:avLst/>
          </a:prstGeom>
          <a:noFill/>
          <a:ln/>
        </p:spPr>
        <p:txBody>
          <a:bodyPr wrap="square" lIns="25400" tIns="25400" rIns="25400" bIns="25400" rtlCol="0" anchor="t">
            <a:normAutofit/>
          </a:bodyPr>
          <a:lstStyle/>
          <a:p>
            <a:pPr algn="l" indent="0" marL="0">
              <a:lnSpc>
                <a:spcPct val="145000"/>
              </a:lnSpc>
              <a:buNone/>
            </a:pPr>
            <a:r>
              <a:rPr lang="en-US" sz="1800" dirty="0">
                <a:solidFill>
                  <a:srgbClr val="6B6869"/>
                </a:solidFill>
                <a:latin typeface="Space Grotesk" pitchFamily="34" charset="0"/>
                <a:ea typeface="Space Grotesk" pitchFamily="34" charset="-122"/>
                <a:cs typeface="Space Grotesk" pitchFamily="34" charset="-120"/>
              </a:rPr>
              <a:t>Rango base con buffer para picos de quincena. Picos extremos hasta USD 12–15K. Rango manejable para una iniciativa que consolida 12 bancos y 9 M de clientes.</a:t>
            </a:r>
            <a:endParaRPr lang="en-US" sz="1800" dirty="0"/>
          </a:p>
        </p:txBody>
      </p:sp>
      <p:sp>
        <p:nvSpPr>
          <p:cNvPr id="5" name="Shape 3"/>
          <p:cNvSpPr/>
          <p:nvPr/>
        </p:nvSpPr>
        <p:spPr>
          <a:xfrm>
            <a:off x="1143000" y="3994785"/>
            <a:ext cx="9052560" cy="4552950"/>
          </a:xfrm>
          <a:prstGeom prst="rect">
            <a:avLst/>
          </a:prstGeom>
          <a:ln w="9525">
            <a:solidFill>
              <a:srgbClr val="EEEEEE"/>
            </a:solidFill>
            <a:prstDash val="solid"/>
          </a:ln>
        </p:spPr>
      </p:sp>
      <p:sp>
        <p:nvSpPr>
          <p:cNvPr id="6" name="Shape 4"/>
          <p:cNvSpPr/>
          <p:nvPr/>
        </p:nvSpPr>
        <p:spPr>
          <a:xfrm>
            <a:off x="1152525" y="4004310"/>
            <a:ext cx="9033510" cy="495300"/>
          </a:xfrm>
          <a:prstGeom prst="rect">
            <a:avLst/>
          </a:prstGeom>
          <a:solidFill>
            <a:srgbClr val="FFFFFF"/>
          </a:solidFill>
          <a:ln/>
        </p:spPr>
      </p:sp>
      <p:sp>
        <p:nvSpPr>
          <p:cNvPr id="7" name="Text 5"/>
          <p:cNvSpPr/>
          <p:nvPr/>
        </p:nvSpPr>
        <p:spPr>
          <a:xfrm>
            <a:off x="1343025" y="4137660"/>
            <a:ext cx="3310147" cy="266700"/>
          </a:xfrm>
          <a:prstGeom prst="rect">
            <a:avLst/>
          </a:prstGeom>
          <a:noFill/>
          <a:ln/>
        </p:spPr>
        <p:txBody>
          <a:bodyPr wrap="square" lIns="25400" tIns="25400" rIns="25400" bIns="25400" rtlCol="0" anchor="t">
            <a:normAutofit/>
          </a:bodyPr>
          <a:lstStyle/>
          <a:p>
            <a:pPr algn="l" indent="0" marL="0">
              <a:buNone/>
            </a:pPr>
            <a:r>
              <a:rPr lang="en-US" sz="1350" b="1" spc="-13" kern="0" dirty="0">
                <a:solidFill>
                  <a:srgbClr val="4D4B4C"/>
                </a:solidFill>
                <a:latin typeface="Space Grotesk" pitchFamily="34" charset="0"/>
                <a:ea typeface="Space Grotesk" pitchFamily="34" charset="-122"/>
                <a:cs typeface="Space Grotesk" pitchFamily="34" charset="-120"/>
              </a:rPr>
              <a:t>Dataflow (streaming)</a:t>
            </a:r>
            <a:endParaRPr lang="en-US" sz="1350" dirty="0"/>
          </a:p>
        </p:txBody>
      </p:sp>
      <p:sp>
        <p:nvSpPr>
          <p:cNvPr id="8" name="Text 6"/>
          <p:cNvSpPr/>
          <p:nvPr/>
        </p:nvSpPr>
        <p:spPr>
          <a:xfrm>
            <a:off x="4556760" y="4151947"/>
            <a:ext cx="3564900"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5–20 workers autoescalados</a:t>
            </a:r>
            <a:endParaRPr lang="en-US" sz="1200" dirty="0"/>
          </a:p>
        </p:txBody>
      </p:sp>
      <p:sp>
        <p:nvSpPr>
          <p:cNvPr id="9" name="Text 7"/>
          <p:cNvSpPr/>
          <p:nvPr/>
        </p:nvSpPr>
        <p:spPr>
          <a:xfrm>
            <a:off x="7941627" y="4147185"/>
            <a:ext cx="2053907" cy="247650"/>
          </a:xfrm>
          <a:prstGeom prst="rect">
            <a:avLst/>
          </a:prstGeom>
          <a:noFill/>
          <a:ln/>
        </p:spPr>
        <p:txBody>
          <a:bodyPr wrap="square" lIns="25400" tIns="25400" rIns="25400" bIns="25400" rtlCol="0" anchor="t">
            <a:normAutofit/>
          </a:bodyPr>
          <a:lstStyle/>
          <a:p>
            <a:pPr algn="r" indent="0" marL="0">
              <a:buNone/>
            </a:pPr>
            <a:r>
              <a:rPr lang="en-US" sz="1350" b="1" dirty="0">
                <a:solidFill>
                  <a:srgbClr val="00B8D4"/>
                </a:solidFill>
                <a:latin typeface="ui-monospace" pitchFamily="34" charset="0"/>
                <a:ea typeface="ui-monospace" pitchFamily="34" charset="-122"/>
                <a:cs typeface="ui-monospace" pitchFamily="34" charset="-120"/>
              </a:rPr>
              <a:t>$ 1.800 – 3.500</a:t>
            </a:r>
            <a:endParaRPr lang="en-US" sz="1350" dirty="0"/>
          </a:p>
        </p:txBody>
      </p:sp>
      <p:sp>
        <p:nvSpPr>
          <p:cNvPr id="10" name="Shape 8"/>
          <p:cNvSpPr/>
          <p:nvPr/>
        </p:nvSpPr>
        <p:spPr>
          <a:xfrm>
            <a:off x="1152525" y="4499610"/>
            <a:ext cx="9033510" cy="504825"/>
          </a:xfrm>
          <a:prstGeom prst="rect">
            <a:avLst/>
          </a:prstGeom>
          <a:solidFill>
            <a:srgbClr val="F7F7F7"/>
          </a:solidFill>
          <a:ln/>
        </p:spPr>
      </p:sp>
      <p:sp>
        <p:nvSpPr>
          <p:cNvPr id="11" name="Shape 9"/>
          <p:cNvSpPr/>
          <p:nvPr/>
        </p:nvSpPr>
        <p:spPr>
          <a:xfrm>
            <a:off x="1152525" y="4499610"/>
            <a:ext cx="9033510" cy="9525"/>
          </a:xfrm>
          <a:prstGeom prst="rect">
            <a:avLst/>
          </a:prstGeom>
          <a:solidFill>
            <a:srgbClr val="EEEEEE"/>
          </a:solidFill>
          <a:ln/>
        </p:spPr>
      </p:sp>
      <p:sp>
        <p:nvSpPr>
          <p:cNvPr id="12" name="Text 10"/>
          <p:cNvSpPr/>
          <p:nvPr/>
        </p:nvSpPr>
        <p:spPr>
          <a:xfrm>
            <a:off x="1343025" y="4642485"/>
            <a:ext cx="3310147" cy="266700"/>
          </a:xfrm>
          <a:prstGeom prst="rect">
            <a:avLst/>
          </a:prstGeom>
          <a:noFill/>
          <a:ln/>
        </p:spPr>
        <p:txBody>
          <a:bodyPr wrap="square" lIns="25400" tIns="25400" rIns="25400" bIns="25400" rtlCol="0" anchor="t">
            <a:normAutofit/>
          </a:bodyPr>
          <a:lstStyle/>
          <a:p>
            <a:pPr algn="l" indent="0" marL="0">
              <a:buNone/>
            </a:pPr>
            <a:r>
              <a:rPr lang="en-US" sz="1350" b="1" spc="-13" kern="0" dirty="0">
                <a:solidFill>
                  <a:srgbClr val="4D4B4C"/>
                </a:solidFill>
                <a:latin typeface="Space Grotesk" pitchFamily="34" charset="0"/>
                <a:ea typeface="Space Grotesk" pitchFamily="34" charset="-122"/>
                <a:cs typeface="Space Grotesk" pitchFamily="34" charset="-120"/>
              </a:rPr>
              <a:t>Vertex AI Endpoint</a:t>
            </a:r>
            <a:endParaRPr lang="en-US" sz="1350" dirty="0"/>
          </a:p>
        </p:txBody>
      </p:sp>
      <p:sp>
        <p:nvSpPr>
          <p:cNvPr id="13" name="Text 11"/>
          <p:cNvSpPr/>
          <p:nvPr/>
        </p:nvSpPr>
        <p:spPr>
          <a:xfrm>
            <a:off x="4556760" y="4656772"/>
            <a:ext cx="3564900"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2–10 réplicas autoescaladas</a:t>
            </a:r>
            <a:endParaRPr lang="en-US" sz="1200" dirty="0"/>
          </a:p>
        </p:txBody>
      </p:sp>
      <p:sp>
        <p:nvSpPr>
          <p:cNvPr id="14" name="Text 12"/>
          <p:cNvSpPr/>
          <p:nvPr/>
        </p:nvSpPr>
        <p:spPr>
          <a:xfrm>
            <a:off x="7941627" y="4652010"/>
            <a:ext cx="2053907" cy="247650"/>
          </a:xfrm>
          <a:prstGeom prst="rect">
            <a:avLst/>
          </a:prstGeom>
          <a:noFill/>
          <a:ln/>
        </p:spPr>
        <p:txBody>
          <a:bodyPr wrap="square" lIns="25400" tIns="25400" rIns="25400" bIns="25400" rtlCol="0" anchor="t">
            <a:normAutofit/>
          </a:bodyPr>
          <a:lstStyle/>
          <a:p>
            <a:pPr algn="r" indent="0" marL="0">
              <a:buNone/>
            </a:pPr>
            <a:r>
              <a:rPr lang="en-US" sz="1350" b="1" dirty="0">
                <a:solidFill>
                  <a:srgbClr val="00B8D4"/>
                </a:solidFill>
                <a:latin typeface="ui-monospace" pitchFamily="34" charset="0"/>
                <a:ea typeface="ui-monospace" pitchFamily="34" charset="-122"/>
                <a:cs typeface="ui-monospace" pitchFamily="34" charset="-120"/>
              </a:rPr>
              <a:t>$ 400 – 900</a:t>
            </a:r>
            <a:endParaRPr lang="en-US" sz="1350" dirty="0"/>
          </a:p>
        </p:txBody>
      </p:sp>
      <p:sp>
        <p:nvSpPr>
          <p:cNvPr id="15" name="Shape 13"/>
          <p:cNvSpPr/>
          <p:nvPr/>
        </p:nvSpPr>
        <p:spPr>
          <a:xfrm>
            <a:off x="1152525" y="5004435"/>
            <a:ext cx="9033510" cy="504825"/>
          </a:xfrm>
          <a:prstGeom prst="rect">
            <a:avLst/>
          </a:prstGeom>
          <a:solidFill>
            <a:srgbClr val="FFFFFF"/>
          </a:solidFill>
          <a:ln/>
        </p:spPr>
      </p:sp>
      <p:sp>
        <p:nvSpPr>
          <p:cNvPr id="16" name="Shape 14"/>
          <p:cNvSpPr/>
          <p:nvPr/>
        </p:nvSpPr>
        <p:spPr>
          <a:xfrm>
            <a:off x="1152525" y="5004435"/>
            <a:ext cx="9033510" cy="9525"/>
          </a:xfrm>
          <a:prstGeom prst="rect">
            <a:avLst/>
          </a:prstGeom>
          <a:solidFill>
            <a:srgbClr val="EEEEEE"/>
          </a:solidFill>
          <a:ln/>
        </p:spPr>
      </p:sp>
      <p:sp>
        <p:nvSpPr>
          <p:cNvPr id="17" name="Text 15"/>
          <p:cNvSpPr/>
          <p:nvPr/>
        </p:nvSpPr>
        <p:spPr>
          <a:xfrm>
            <a:off x="1343025" y="5147310"/>
            <a:ext cx="3310147" cy="266700"/>
          </a:xfrm>
          <a:prstGeom prst="rect">
            <a:avLst/>
          </a:prstGeom>
          <a:noFill/>
          <a:ln/>
        </p:spPr>
        <p:txBody>
          <a:bodyPr wrap="square" lIns="25400" tIns="25400" rIns="25400" bIns="25400" rtlCol="0" anchor="t">
            <a:normAutofit/>
          </a:bodyPr>
          <a:lstStyle/>
          <a:p>
            <a:pPr algn="l" indent="0" marL="0">
              <a:buNone/>
            </a:pPr>
            <a:r>
              <a:rPr lang="en-US" sz="1350" b="1" spc="-13" kern="0" dirty="0">
                <a:solidFill>
                  <a:srgbClr val="4D4B4C"/>
                </a:solidFill>
                <a:latin typeface="Space Grotesk" pitchFamily="34" charset="0"/>
                <a:ea typeface="Space Grotesk" pitchFamily="34" charset="-122"/>
                <a:cs typeface="Space Grotesk" pitchFamily="34" charset="-120"/>
              </a:rPr>
              <a:t>Cloud Bigtable</a:t>
            </a:r>
            <a:endParaRPr lang="en-US" sz="1350" dirty="0"/>
          </a:p>
        </p:txBody>
      </p:sp>
      <p:sp>
        <p:nvSpPr>
          <p:cNvPr id="18" name="Text 16"/>
          <p:cNvSpPr/>
          <p:nvPr/>
        </p:nvSpPr>
        <p:spPr>
          <a:xfrm>
            <a:off x="4556760" y="5161598"/>
            <a:ext cx="3564900"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1 nodo, volumen medio</a:t>
            </a:r>
            <a:endParaRPr lang="en-US" sz="1200" dirty="0"/>
          </a:p>
        </p:txBody>
      </p:sp>
      <p:sp>
        <p:nvSpPr>
          <p:cNvPr id="19" name="Text 17"/>
          <p:cNvSpPr/>
          <p:nvPr/>
        </p:nvSpPr>
        <p:spPr>
          <a:xfrm>
            <a:off x="7941627" y="5156835"/>
            <a:ext cx="2053907" cy="247650"/>
          </a:xfrm>
          <a:prstGeom prst="rect">
            <a:avLst/>
          </a:prstGeom>
          <a:noFill/>
          <a:ln/>
        </p:spPr>
        <p:txBody>
          <a:bodyPr wrap="square" lIns="25400" tIns="25400" rIns="25400" bIns="25400" rtlCol="0" anchor="t">
            <a:normAutofit/>
          </a:bodyPr>
          <a:lstStyle/>
          <a:p>
            <a:pPr algn="r" indent="0" marL="0">
              <a:buNone/>
            </a:pPr>
            <a:r>
              <a:rPr lang="en-US" sz="1350" b="1" dirty="0">
                <a:solidFill>
                  <a:srgbClr val="00B8D4"/>
                </a:solidFill>
                <a:latin typeface="ui-monospace" pitchFamily="34" charset="0"/>
                <a:ea typeface="ui-monospace" pitchFamily="34" charset="-122"/>
                <a:cs typeface="ui-monospace" pitchFamily="34" charset="-120"/>
              </a:rPr>
              <a:t>$ 650 – 700</a:t>
            </a:r>
            <a:endParaRPr lang="en-US" sz="1350" dirty="0"/>
          </a:p>
        </p:txBody>
      </p:sp>
      <p:sp>
        <p:nvSpPr>
          <p:cNvPr id="20" name="Shape 18"/>
          <p:cNvSpPr/>
          <p:nvPr/>
        </p:nvSpPr>
        <p:spPr>
          <a:xfrm>
            <a:off x="1152525" y="5509260"/>
            <a:ext cx="9033510" cy="504825"/>
          </a:xfrm>
          <a:prstGeom prst="rect">
            <a:avLst/>
          </a:prstGeom>
          <a:solidFill>
            <a:srgbClr val="F7F7F7"/>
          </a:solidFill>
          <a:ln/>
        </p:spPr>
      </p:sp>
      <p:sp>
        <p:nvSpPr>
          <p:cNvPr id="21" name="Shape 19"/>
          <p:cNvSpPr/>
          <p:nvPr/>
        </p:nvSpPr>
        <p:spPr>
          <a:xfrm>
            <a:off x="1152525" y="5509260"/>
            <a:ext cx="9033510" cy="9525"/>
          </a:xfrm>
          <a:prstGeom prst="rect">
            <a:avLst/>
          </a:prstGeom>
          <a:solidFill>
            <a:srgbClr val="EEEEEE"/>
          </a:solidFill>
          <a:ln/>
        </p:spPr>
      </p:sp>
      <p:sp>
        <p:nvSpPr>
          <p:cNvPr id="22" name="Text 20"/>
          <p:cNvSpPr/>
          <p:nvPr/>
        </p:nvSpPr>
        <p:spPr>
          <a:xfrm>
            <a:off x="1343025" y="5652135"/>
            <a:ext cx="3310147" cy="266700"/>
          </a:xfrm>
          <a:prstGeom prst="rect">
            <a:avLst/>
          </a:prstGeom>
          <a:noFill/>
          <a:ln/>
        </p:spPr>
        <p:txBody>
          <a:bodyPr wrap="square" lIns="25400" tIns="25400" rIns="25400" bIns="25400" rtlCol="0" anchor="t">
            <a:normAutofit/>
          </a:bodyPr>
          <a:lstStyle/>
          <a:p>
            <a:pPr algn="l" indent="0" marL="0">
              <a:buNone/>
            </a:pPr>
            <a:r>
              <a:rPr lang="en-US" sz="1350" b="1" spc="-13" kern="0" dirty="0">
                <a:solidFill>
                  <a:srgbClr val="4D4B4C"/>
                </a:solidFill>
                <a:latin typeface="Space Grotesk" pitchFamily="34" charset="0"/>
                <a:ea typeface="Space Grotesk" pitchFamily="34" charset="-122"/>
                <a:cs typeface="Space Grotesk" pitchFamily="34" charset="-120"/>
              </a:rPr>
              <a:t>BigQuery on-demand</a:t>
            </a:r>
            <a:endParaRPr lang="en-US" sz="1350" dirty="0"/>
          </a:p>
        </p:txBody>
      </p:sp>
      <p:sp>
        <p:nvSpPr>
          <p:cNvPr id="23" name="Text 21"/>
          <p:cNvSpPr/>
          <p:nvPr/>
        </p:nvSpPr>
        <p:spPr>
          <a:xfrm>
            <a:off x="4556760" y="5666423"/>
            <a:ext cx="3564900"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~5 TB escaneados/mes</a:t>
            </a:r>
            <a:endParaRPr lang="en-US" sz="1200" dirty="0"/>
          </a:p>
        </p:txBody>
      </p:sp>
      <p:sp>
        <p:nvSpPr>
          <p:cNvPr id="24" name="Text 22"/>
          <p:cNvSpPr/>
          <p:nvPr/>
        </p:nvSpPr>
        <p:spPr>
          <a:xfrm>
            <a:off x="7941627" y="5661660"/>
            <a:ext cx="2053907" cy="247650"/>
          </a:xfrm>
          <a:prstGeom prst="rect">
            <a:avLst/>
          </a:prstGeom>
          <a:noFill/>
          <a:ln/>
        </p:spPr>
        <p:txBody>
          <a:bodyPr wrap="square" lIns="25400" tIns="25400" rIns="25400" bIns="25400" rtlCol="0" anchor="t">
            <a:normAutofit/>
          </a:bodyPr>
          <a:lstStyle/>
          <a:p>
            <a:pPr algn="r" indent="0" marL="0">
              <a:buNone/>
            </a:pPr>
            <a:r>
              <a:rPr lang="en-US" sz="1350" b="1" dirty="0">
                <a:solidFill>
                  <a:srgbClr val="00B8D4"/>
                </a:solidFill>
                <a:latin typeface="ui-monospace" pitchFamily="34" charset="0"/>
                <a:ea typeface="ui-monospace" pitchFamily="34" charset="-122"/>
                <a:cs typeface="ui-monospace" pitchFamily="34" charset="-120"/>
              </a:rPr>
              <a:t>$ 200 – 600</a:t>
            </a:r>
            <a:endParaRPr lang="en-US" sz="1350" dirty="0"/>
          </a:p>
        </p:txBody>
      </p:sp>
      <p:sp>
        <p:nvSpPr>
          <p:cNvPr id="25" name="Shape 23"/>
          <p:cNvSpPr/>
          <p:nvPr/>
        </p:nvSpPr>
        <p:spPr>
          <a:xfrm>
            <a:off x="1152525" y="6014085"/>
            <a:ext cx="9033510" cy="504825"/>
          </a:xfrm>
          <a:prstGeom prst="rect">
            <a:avLst/>
          </a:prstGeom>
          <a:solidFill>
            <a:srgbClr val="FFFFFF"/>
          </a:solidFill>
          <a:ln/>
        </p:spPr>
      </p:sp>
      <p:sp>
        <p:nvSpPr>
          <p:cNvPr id="26" name="Shape 24"/>
          <p:cNvSpPr/>
          <p:nvPr/>
        </p:nvSpPr>
        <p:spPr>
          <a:xfrm>
            <a:off x="1152525" y="6014085"/>
            <a:ext cx="9033510" cy="9525"/>
          </a:xfrm>
          <a:prstGeom prst="rect">
            <a:avLst/>
          </a:prstGeom>
          <a:solidFill>
            <a:srgbClr val="EEEEEE"/>
          </a:solidFill>
          <a:ln/>
        </p:spPr>
      </p:sp>
      <p:sp>
        <p:nvSpPr>
          <p:cNvPr id="27" name="Text 25"/>
          <p:cNvSpPr/>
          <p:nvPr/>
        </p:nvSpPr>
        <p:spPr>
          <a:xfrm>
            <a:off x="1343025" y="6156960"/>
            <a:ext cx="3310147" cy="266700"/>
          </a:xfrm>
          <a:prstGeom prst="rect">
            <a:avLst/>
          </a:prstGeom>
          <a:noFill/>
          <a:ln/>
        </p:spPr>
        <p:txBody>
          <a:bodyPr wrap="square" lIns="25400" tIns="25400" rIns="25400" bIns="25400" rtlCol="0" anchor="t">
            <a:normAutofit/>
          </a:bodyPr>
          <a:lstStyle/>
          <a:p>
            <a:pPr algn="l" indent="0" marL="0">
              <a:buNone/>
            </a:pPr>
            <a:r>
              <a:rPr lang="en-US" sz="1350" b="1" spc="-13" kern="0" dirty="0">
                <a:solidFill>
                  <a:srgbClr val="4D4B4C"/>
                </a:solidFill>
                <a:latin typeface="Space Grotesk" pitchFamily="34" charset="0"/>
                <a:ea typeface="Space Grotesk" pitchFamily="34" charset="-122"/>
                <a:cs typeface="Space Grotesk" pitchFamily="34" charset="-120"/>
              </a:rPr>
              <a:t>Dataproc (batch diario)</a:t>
            </a:r>
            <a:endParaRPr lang="en-US" sz="1350" dirty="0"/>
          </a:p>
        </p:txBody>
      </p:sp>
      <p:sp>
        <p:nvSpPr>
          <p:cNvPr id="28" name="Text 26"/>
          <p:cNvSpPr/>
          <p:nvPr/>
        </p:nvSpPr>
        <p:spPr>
          <a:xfrm>
            <a:off x="4556760" y="6171248"/>
            <a:ext cx="3564900"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8 nodos × 45 min/día</a:t>
            </a:r>
            <a:endParaRPr lang="en-US" sz="1200" dirty="0"/>
          </a:p>
        </p:txBody>
      </p:sp>
      <p:sp>
        <p:nvSpPr>
          <p:cNvPr id="29" name="Text 27"/>
          <p:cNvSpPr/>
          <p:nvPr/>
        </p:nvSpPr>
        <p:spPr>
          <a:xfrm>
            <a:off x="7941627" y="6166485"/>
            <a:ext cx="2053907" cy="247650"/>
          </a:xfrm>
          <a:prstGeom prst="rect">
            <a:avLst/>
          </a:prstGeom>
          <a:noFill/>
          <a:ln/>
        </p:spPr>
        <p:txBody>
          <a:bodyPr wrap="square" lIns="25400" tIns="25400" rIns="25400" bIns="25400" rtlCol="0" anchor="t">
            <a:normAutofit/>
          </a:bodyPr>
          <a:lstStyle/>
          <a:p>
            <a:pPr algn="r" indent="0" marL="0">
              <a:buNone/>
            </a:pPr>
            <a:r>
              <a:rPr lang="en-US" sz="1350" b="1" dirty="0">
                <a:solidFill>
                  <a:srgbClr val="00B8D4"/>
                </a:solidFill>
                <a:latin typeface="ui-monospace" pitchFamily="34" charset="0"/>
                <a:ea typeface="ui-monospace" pitchFamily="34" charset="-122"/>
                <a:cs typeface="ui-monospace" pitchFamily="34" charset="-120"/>
              </a:rPr>
              <a:t>$ 350 – 500</a:t>
            </a:r>
            <a:endParaRPr lang="en-US" sz="1350" dirty="0"/>
          </a:p>
        </p:txBody>
      </p:sp>
      <p:sp>
        <p:nvSpPr>
          <p:cNvPr id="30" name="Shape 28"/>
          <p:cNvSpPr/>
          <p:nvPr/>
        </p:nvSpPr>
        <p:spPr>
          <a:xfrm>
            <a:off x="1152525" y="6518910"/>
            <a:ext cx="9033510" cy="504825"/>
          </a:xfrm>
          <a:prstGeom prst="rect">
            <a:avLst/>
          </a:prstGeom>
          <a:solidFill>
            <a:srgbClr val="F7F7F7"/>
          </a:solidFill>
          <a:ln/>
        </p:spPr>
      </p:sp>
      <p:sp>
        <p:nvSpPr>
          <p:cNvPr id="31" name="Shape 29"/>
          <p:cNvSpPr/>
          <p:nvPr/>
        </p:nvSpPr>
        <p:spPr>
          <a:xfrm>
            <a:off x="1152525" y="6518910"/>
            <a:ext cx="9033510" cy="9525"/>
          </a:xfrm>
          <a:prstGeom prst="rect">
            <a:avLst/>
          </a:prstGeom>
          <a:solidFill>
            <a:srgbClr val="EEEEEE"/>
          </a:solidFill>
          <a:ln/>
        </p:spPr>
      </p:sp>
      <p:sp>
        <p:nvSpPr>
          <p:cNvPr id="32" name="Text 30"/>
          <p:cNvSpPr/>
          <p:nvPr/>
        </p:nvSpPr>
        <p:spPr>
          <a:xfrm>
            <a:off x="1343025" y="6661785"/>
            <a:ext cx="3310147" cy="266700"/>
          </a:xfrm>
          <a:prstGeom prst="rect">
            <a:avLst/>
          </a:prstGeom>
          <a:noFill/>
          <a:ln/>
        </p:spPr>
        <p:txBody>
          <a:bodyPr wrap="square" lIns="25400" tIns="25400" rIns="25400" bIns="25400" rtlCol="0" anchor="t">
            <a:normAutofit/>
          </a:bodyPr>
          <a:lstStyle/>
          <a:p>
            <a:pPr algn="l" indent="0" marL="0">
              <a:buNone/>
            </a:pPr>
            <a:r>
              <a:rPr lang="en-US" sz="1350" b="1" spc="-13" kern="0" dirty="0">
                <a:solidFill>
                  <a:srgbClr val="4D4B4C"/>
                </a:solidFill>
                <a:latin typeface="Space Grotesk" pitchFamily="34" charset="0"/>
                <a:ea typeface="Space Grotesk" pitchFamily="34" charset="-122"/>
                <a:cs typeface="Space Grotesk" pitchFamily="34" charset="-120"/>
              </a:rPr>
              <a:t>Pub/Sub</a:t>
            </a:r>
            <a:endParaRPr lang="en-US" sz="1350" dirty="0"/>
          </a:p>
        </p:txBody>
      </p:sp>
      <p:sp>
        <p:nvSpPr>
          <p:cNvPr id="33" name="Text 31"/>
          <p:cNvSpPr/>
          <p:nvPr/>
        </p:nvSpPr>
        <p:spPr>
          <a:xfrm>
            <a:off x="4556760" y="6676073"/>
            <a:ext cx="3564900"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~500 TPS, 43 GB/día</a:t>
            </a:r>
            <a:endParaRPr lang="en-US" sz="1200" dirty="0"/>
          </a:p>
        </p:txBody>
      </p:sp>
      <p:sp>
        <p:nvSpPr>
          <p:cNvPr id="34" name="Text 32"/>
          <p:cNvSpPr/>
          <p:nvPr/>
        </p:nvSpPr>
        <p:spPr>
          <a:xfrm>
            <a:off x="7941627" y="6671310"/>
            <a:ext cx="2053907" cy="247650"/>
          </a:xfrm>
          <a:prstGeom prst="rect">
            <a:avLst/>
          </a:prstGeom>
          <a:noFill/>
          <a:ln/>
        </p:spPr>
        <p:txBody>
          <a:bodyPr wrap="square" lIns="25400" tIns="25400" rIns="25400" bIns="25400" rtlCol="0" anchor="t">
            <a:normAutofit/>
          </a:bodyPr>
          <a:lstStyle/>
          <a:p>
            <a:pPr algn="r" indent="0" marL="0">
              <a:buNone/>
            </a:pPr>
            <a:r>
              <a:rPr lang="en-US" sz="1350" b="1" dirty="0">
                <a:solidFill>
                  <a:srgbClr val="00B8D4"/>
                </a:solidFill>
                <a:latin typeface="ui-monospace" pitchFamily="34" charset="0"/>
                <a:ea typeface="ui-monospace" pitchFamily="34" charset="-122"/>
                <a:cs typeface="ui-monospace" pitchFamily="34" charset="-120"/>
              </a:rPr>
              <a:t>$ 300 – 500</a:t>
            </a:r>
            <a:endParaRPr lang="en-US" sz="1350" dirty="0"/>
          </a:p>
        </p:txBody>
      </p:sp>
      <p:sp>
        <p:nvSpPr>
          <p:cNvPr id="35" name="Shape 33"/>
          <p:cNvSpPr/>
          <p:nvPr/>
        </p:nvSpPr>
        <p:spPr>
          <a:xfrm>
            <a:off x="1152525" y="7023735"/>
            <a:ext cx="9033510" cy="504825"/>
          </a:xfrm>
          <a:prstGeom prst="rect">
            <a:avLst/>
          </a:prstGeom>
          <a:solidFill>
            <a:srgbClr val="FFFFFF"/>
          </a:solidFill>
          <a:ln/>
        </p:spPr>
      </p:sp>
      <p:sp>
        <p:nvSpPr>
          <p:cNvPr id="36" name="Shape 34"/>
          <p:cNvSpPr/>
          <p:nvPr/>
        </p:nvSpPr>
        <p:spPr>
          <a:xfrm>
            <a:off x="1152525" y="7023735"/>
            <a:ext cx="9033510" cy="9525"/>
          </a:xfrm>
          <a:prstGeom prst="rect">
            <a:avLst/>
          </a:prstGeom>
          <a:solidFill>
            <a:srgbClr val="EEEEEE"/>
          </a:solidFill>
          <a:ln/>
        </p:spPr>
      </p:sp>
      <p:sp>
        <p:nvSpPr>
          <p:cNvPr id="37" name="Text 35"/>
          <p:cNvSpPr/>
          <p:nvPr/>
        </p:nvSpPr>
        <p:spPr>
          <a:xfrm>
            <a:off x="1343025" y="7166610"/>
            <a:ext cx="3310147" cy="266700"/>
          </a:xfrm>
          <a:prstGeom prst="rect">
            <a:avLst/>
          </a:prstGeom>
          <a:noFill/>
          <a:ln/>
        </p:spPr>
        <p:txBody>
          <a:bodyPr wrap="square" lIns="25400" tIns="25400" rIns="25400" bIns="25400" rtlCol="0" anchor="t">
            <a:normAutofit/>
          </a:bodyPr>
          <a:lstStyle/>
          <a:p>
            <a:pPr algn="l" indent="0" marL="0">
              <a:buNone/>
            </a:pPr>
            <a:r>
              <a:rPr lang="en-US" sz="1350" b="1" spc="-13" kern="0" dirty="0">
                <a:solidFill>
                  <a:srgbClr val="4D4B4C"/>
                </a:solidFill>
                <a:latin typeface="Space Grotesk" pitchFamily="34" charset="0"/>
                <a:ea typeface="Space Grotesk" pitchFamily="34" charset="-122"/>
                <a:cs typeface="Space Grotesk" pitchFamily="34" charset="-120"/>
              </a:rPr>
              <a:t>Cloud Run (ingesta + BFF)</a:t>
            </a:r>
            <a:endParaRPr lang="en-US" sz="1350" dirty="0"/>
          </a:p>
        </p:txBody>
      </p:sp>
      <p:sp>
        <p:nvSpPr>
          <p:cNvPr id="38" name="Text 36"/>
          <p:cNvSpPr/>
          <p:nvPr/>
        </p:nvSpPr>
        <p:spPr>
          <a:xfrm>
            <a:off x="4556760" y="7180898"/>
            <a:ext cx="3564900"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Min 2, picos 30 instancias</a:t>
            </a:r>
            <a:endParaRPr lang="en-US" sz="1200" dirty="0"/>
          </a:p>
        </p:txBody>
      </p:sp>
      <p:sp>
        <p:nvSpPr>
          <p:cNvPr id="39" name="Text 37"/>
          <p:cNvSpPr/>
          <p:nvPr/>
        </p:nvSpPr>
        <p:spPr>
          <a:xfrm>
            <a:off x="7941627" y="7176135"/>
            <a:ext cx="2053907" cy="247650"/>
          </a:xfrm>
          <a:prstGeom prst="rect">
            <a:avLst/>
          </a:prstGeom>
          <a:noFill/>
          <a:ln/>
        </p:spPr>
        <p:txBody>
          <a:bodyPr wrap="square" lIns="25400" tIns="25400" rIns="25400" bIns="25400" rtlCol="0" anchor="t">
            <a:normAutofit/>
          </a:bodyPr>
          <a:lstStyle/>
          <a:p>
            <a:pPr algn="r" indent="0" marL="0">
              <a:buNone/>
            </a:pPr>
            <a:r>
              <a:rPr lang="en-US" sz="1350" b="1" dirty="0">
                <a:solidFill>
                  <a:srgbClr val="00B8D4"/>
                </a:solidFill>
                <a:latin typeface="ui-monospace" pitchFamily="34" charset="0"/>
                <a:ea typeface="ui-monospace" pitchFamily="34" charset="-122"/>
                <a:cs typeface="ui-monospace" pitchFamily="34" charset="-120"/>
              </a:rPr>
              <a:t>$ 150 – 300</a:t>
            </a:r>
            <a:endParaRPr lang="en-US" sz="1350" dirty="0"/>
          </a:p>
        </p:txBody>
      </p:sp>
      <p:sp>
        <p:nvSpPr>
          <p:cNvPr id="40" name="Shape 38"/>
          <p:cNvSpPr/>
          <p:nvPr/>
        </p:nvSpPr>
        <p:spPr>
          <a:xfrm>
            <a:off x="1152525" y="7528560"/>
            <a:ext cx="9033510" cy="504825"/>
          </a:xfrm>
          <a:prstGeom prst="rect">
            <a:avLst/>
          </a:prstGeom>
          <a:solidFill>
            <a:srgbClr val="F7F7F7"/>
          </a:solidFill>
          <a:ln/>
        </p:spPr>
      </p:sp>
      <p:sp>
        <p:nvSpPr>
          <p:cNvPr id="41" name="Shape 39"/>
          <p:cNvSpPr/>
          <p:nvPr/>
        </p:nvSpPr>
        <p:spPr>
          <a:xfrm>
            <a:off x="1152525" y="7528560"/>
            <a:ext cx="9033510" cy="9525"/>
          </a:xfrm>
          <a:prstGeom prst="rect">
            <a:avLst/>
          </a:prstGeom>
          <a:solidFill>
            <a:srgbClr val="EEEEEE"/>
          </a:solidFill>
          <a:ln/>
        </p:spPr>
      </p:sp>
      <p:sp>
        <p:nvSpPr>
          <p:cNvPr id="42" name="Text 40"/>
          <p:cNvSpPr/>
          <p:nvPr/>
        </p:nvSpPr>
        <p:spPr>
          <a:xfrm>
            <a:off x="1343025" y="7671435"/>
            <a:ext cx="3310147" cy="266700"/>
          </a:xfrm>
          <a:prstGeom prst="rect">
            <a:avLst/>
          </a:prstGeom>
          <a:noFill/>
          <a:ln/>
        </p:spPr>
        <p:txBody>
          <a:bodyPr wrap="square" lIns="25400" tIns="25400" rIns="25400" bIns="25400" rtlCol="0" anchor="t">
            <a:normAutofit/>
          </a:bodyPr>
          <a:lstStyle/>
          <a:p>
            <a:pPr algn="l" indent="0" marL="0">
              <a:buNone/>
            </a:pPr>
            <a:r>
              <a:rPr lang="en-US" sz="1350" b="1" spc="-13" kern="0" dirty="0">
                <a:solidFill>
                  <a:srgbClr val="4D4B4C"/>
                </a:solidFill>
                <a:latin typeface="Space Grotesk" pitchFamily="34" charset="0"/>
                <a:ea typeface="Space Grotesk" pitchFamily="34" charset="-122"/>
                <a:cs typeface="Space Grotesk" pitchFamily="34" charset="-120"/>
              </a:rPr>
              <a:t>Cloud Storage (Data Lake)</a:t>
            </a:r>
            <a:endParaRPr lang="en-US" sz="1350" dirty="0"/>
          </a:p>
        </p:txBody>
      </p:sp>
      <p:sp>
        <p:nvSpPr>
          <p:cNvPr id="43" name="Text 41"/>
          <p:cNvSpPr/>
          <p:nvPr/>
        </p:nvSpPr>
        <p:spPr>
          <a:xfrm>
            <a:off x="4556760" y="7685723"/>
            <a:ext cx="3564900"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5 TB con lifecycle</a:t>
            </a:r>
            <a:endParaRPr lang="en-US" sz="1200" dirty="0"/>
          </a:p>
        </p:txBody>
      </p:sp>
      <p:sp>
        <p:nvSpPr>
          <p:cNvPr id="44" name="Text 42"/>
          <p:cNvSpPr/>
          <p:nvPr/>
        </p:nvSpPr>
        <p:spPr>
          <a:xfrm>
            <a:off x="7941627" y="7680960"/>
            <a:ext cx="2053907" cy="247650"/>
          </a:xfrm>
          <a:prstGeom prst="rect">
            <a:avLst/>
          </a:prstGeom>
          <a:noFill/>
          <a:ln/>
        </p:spPr>
        <p:txBody>
          <a:bodyPr wrap="square" lIns="25400" tIns="25400" rIns="25400" bIns="25400" rtlCol="0" anchor="t">
            <a:normAutofit/>
          </a:bodyPr>
          <a:lstStyle/>
          <a:p>
            <a:pPr algn="r" indent="0" marL="0">
              <a:buNone/>
            </a:pPr>
            <a:r>
              <a:rPr lang="en-US" sz="1350" b="1" dirty="0">
                <a:solidFill>
                  <a:srgbClr val="00B8D4"/>
                </a:solidFill>
                <a:latin typeface="ui-monospace" pitchFamily="34" charset="0"/>
                <a:ea typeface="ui-monospace" pitchFamily="34" charset="-122"/>
                <a:cs typeface="ui-monospace" pitchFamily="34" charset="-120"/>
              </a:rPr>
              <a:t>$ 100 – 200</a:t>
            </a:r>
            <a:endParaRPr lang="en-US" sz="1350" dirty="0"/>
          </a:p>
        </p:txBody>
      </p:sp>
      <p:sp>
        <p:nvSpPr>
          <p:cNvPr id="45" name="Shape 43"/>
          <p:cNvSpPr/>
          <p:nvPr/>
        </p:nvSpPr>
        <p:spPr>
          <a:xfrm>
            <a:off x="1152525" y="8033385"/>
            <a:ext cx="9033510" cy="504825"/>
          </a:xfrm>
          <a:prstGeom prst="rect">
            <a:avLst/>
          </a:prstGeom>
          <a:solidFill>
            <a:srgbClr val="FFFFFF"/>
          </a:solidFill>
          <a:ln/>
        </p:spPr>
      </p:sp>
      <p:sp>
        <p:nvSpPr>
          <p:cNvPr id="46" name="Shape 44"/>
          <p:cNvSpPr/>
          <p:nvPr/>
        </p:nvSpPr>
        <p:spPr>
          <a:xfrm>
            <a:off x="1152525" y="8033385"/>
            <a:ext cx="9033510" cy="9525"/>
          </a:xfrm>
          <a:prstGeom prst="rect">
            <a:avLst/>
          </a:prstGeom>
          <a:solidFill>
            <a:srgbClr val="EEEEEE"/>
          </a:solidFill>
          <a:ln/>
        </p:spPr>
      </p:sp>
      <p:sp>
        <p:nvSpPr>
          <p:cNvPr id="47" name="Text 45"/>
          <p:cNvSpPr/>
          <p:nvPr/>
        </p:nvSpPr>
        <p:spPr>
          <a:xfrm>
            <a:off x="1343025" y="8176260"/>
            <a:ext cx="3310147" cy="266700"/>
          </a:xfrm>
          <a:prstGeom prst="rect">
            <a:avLst/>
          </a:prstGeom>
          <a:noFill/>
          <a:ln/>
        </p:spPr>
        <p:txBody>
          <a:bodyPr wrap="square" lIns="25400" tIns="25400" rIns="25400" bIns="25400" rtlCol="0" anchor="t">
            <a:normAutofit/>
          </a:bodyPr>
          <a:lstStyle/>
          <a:p>
            <a:pPr algn="l" indent="0" marL="0">
              <a:buNone/>
            </a:pPr>
            <a:r>
              <a:rPr lang="en-US" sz="1350" b="1" spc="-13" kern="0" dirty="0">
                <a:solidFill>
                  <a:srgbClr val="4D4B4C"/>
                </a:solidFill>
                <a:latin typeface="Space Grotesk" pitchFamily="34" charset="0"/>
                <a:ea typeface="Space Grotesk" pitchFamily="34" charset="-122"/>
                <a:cs typeface="Space Grotesk" pitchFamily="34" charset="-120"/>
              </a:rPr>
              <a:t>Redis, NAT, Logging, CI/CD</a:t>
            </a:r>
            <a:endParaRPr lang="en-US" sz="1350" dirty="0"/>
          </a:p>
        </p:txBody>
      </p:sp>
      <p:sp>
        <p:nvSpPr>
          <p:cNvPr id="48" name="Text 46"/>
          <p:cNvSpPr/>
          <p:nvPr/>
        </p:nvSpPr>
        <p:spPr>
          <a:xfrm>
            <a:off x="4556760" y="8190548"/>
            <a:ext cx="3564900" cy="238125"/>
          </a:xfrm>
          <a:prstGeom prst="rect">
            <a:avLst/>
          </a:prstGeom>
          <a:noFill/>
          <a:ln/>
        </p:spPr>
        <p:txBody>
          <a:bodyPr wrap="square" lIns="25400" tIns="25400" rIns="25400" bIns="25400" rtlCol="0" anchor="t">
            <a:normAutofit/>
          </a:bodyPr>
          <a:lstStyle/>
          <a:p>
            <a:pPr algn="l" indent="0" marL="0">
              <a:buNone/>
            </a:pPr>
            <a:r>
              <a:rPr lang="en-US" sz="1200" dirty="0">
                <a:solidFill>
                  <a:srgbClr val="6B6869"/>
                </a:solidFill>
                <a:latin typeface="Space Grotesk" pitchFamily="34" charset="0"/>
                <a:ea typeface="Space Grotesk" pitchFamily="34" charset="-122"/>
                <a:cs typeface="Space Grotesk" pitchFamily="34" charset="-120"/>
              </a:rPr>
              <a:t>Stack de soporte</a:t>
            </a:r>
            <a:endParaRPr lang="en-US" sz="1200" dirty="0"/>
          </a:p>
        </p:txBody>
      </p:sp>
      <p:sp>
        <p:nvSpPr>
          <p:cNvPr id="49" name="Text 47"/>
          <p:cNvSpPr/>
          <p:nvPr/>
        </p:nvSpPr>
        <p:spPr>
          <a:xfrm>
            <a:off x="7941627" y="8185785"/>
            <a:ext cx="2053907" cy="247650"/>
          </a:xfrm>
          <a:prstGeom prst="rect">
            <a:avLst/>
          </a:prstGeom>
          <a:noFill/>
          <a:ln/>
        </p:spPr>
        <p:txBody>
          <a:bodyPr wrap="square" lIns="25400" tIns="25400" rIns="25400" bIns="25400" rtlCol="0" anchor="t">
            <a:normAutofit/>
          </a:bodyPr>
          <a:lstStyle/>
          <a:p>
            <a:pPr algn="r" indent="0" marL="0">
              <a:buNone/>
            </a:pPr>
            <a:r>
              <a:rPr lang="en-US" sz="1350" b="1" dirty="0">
                <a:solidFill>
                  <a:srgbClr val="00B8D4"/>
                </a:solidFill>
                <a:latin typeface="ui-monospace" pitchFamily="34" charset="0"/>
                <a:ea typeface="ui-monospace" pitchFamily="34" charset="-122"/>
                <a:cs typeface="ui-monospace" pitchFamily="34" charset="-120"/>
              </a:rPr>
              <a:t>$ 210 – 430</a:t>
            </a:r>
            <a:endParaRPr lang="en-US" sz="1350" dirty="0"/>
          </a:p>
        </p:txBody>
      </p:sp>
      <p:sp>
        <p:nvSpPr>
          <p:cNvPr id="50" name="Shape 48"/>
          <p:cNvSpPr/>
          <p:nvPr/>
        </p:nvSpPr>
        <p:spPr>
          <a:xfrm>
            <a:off x="11109960" y="1047750"/>
            <a:ext cx="6035040" cy="8191500"/>
          </a:xfrm>
          <a:prstGeom prst="rect">
            <a:avLst/>
          </a:prstGeom>
          <a:solidFill>
            <a:srgbClr val="4D4B4C"/>
          </a:solidFill>
          <a:ln/>
        </p:spPr>
      </p:sp>
      <p:sp>
        <p:nvSpPr>
          <p:cNvPr id="51" name="Text 49"/>
          <p:cNvSpPr/>
          <p:nvPr/>
        </p:nvSpPr>
        <p:spPr>
          <a:xfrm>
            <a:off x="11567160" y="1504950"/>
            <a:ext cx="5274259" cy="285750"/>
          </a:xfrm>
          <a:prstGeom prst="rect">
            <a:avLst/>
          </a:prstGeom>
          <a:noFill/>
          <a:ln/>
        </p:spPr>
        <p:txBody>
          <a:bodyPr wrap="square" lIns="25400" tIns="25400" rIns="25400" bIns="25400" rtlCol="0" anchor="t">
            <a:normAutofit/>
          </a:bodyPr>
          <a:lstStyle/>
          <a:p>
            <a:pPr algn="l" indent="0" marL="0">
              <a:buNone/>
            </a:pPr>
            <a:r>
              <a:rPr lang="en-US" sz="1500" spc="240" kern="0" dirty="0">
                <a:solidFill>
                  <a:srgbClr val="00E1FF"/>
                </a:solidFill>
                <a:latin typeface="Space Grotesk" pitchFamily="34" charset="0"/>
                <a:ea typeface="Space Grotesk" pitchFamily="34" charset="-122"/>
                <a:cs typeface="Space Grotesk" pitchFamily="34" charset="-120"/>
              </a:rPr>
              <a:t>PALANCAS APLICADAS</a:t>
            </a:r>
            <a:endParaRPr lang="en-US" sz="1500" dirty="0"/>
          </a:p>
        </p:txBody>
      </p:sp>
      <p:sp>
        <p:nvSpPr>
          <p:cNvPr id="52" name="Text 50"/>
          <p:cNvSpPr/>
          <p:nvPr/>
        </p:nvSpPr>
        <p:spPr>
          <a:xfrm>
            <a:off x="11567160" y="2133600"/>
            <a:ext cx="5274259" cy="361950"/>
          </a:xfrm>
          <a:prstGeom prst="rect">
            <a:avLst/>
          </a:prstGeom>
          <a:noFill/>
          <a:ln/>
        </p:spPr>
        <p:txBody>
          <a:bodyPr wrap="square" lIns="25400" tIns="25400" rIns="25400" bIns="25400" rtlCol="0" anchor="t">
            <a:normAutofit/>
          </a:bodyPr>
          <a:lstStyle/>
          <a:p>
            <a:pPr algn="l" indent="0" marL="0">
              <a:buNone/>
            </a:pPr>
            <a:r>
              <a:rPr lang="en-US" sz="1950" b="1" spc="-19" kern="0" dirty="0">
                <a:solidFill>
                  <a:srgbClr val="FFFFFF"/>
                </a:solidFill>
                <a:latin typeface="Space Grotesk" pitchFamily="34" charset="0"/>
                <a:ea typeface="Space Grotesk" pitchFamily="34" charset="-122"/>
                <a:cs typeface="Space Grotesk" pitchFamily="34" charset="-120"/>
              </a:rPr>
              <a:t>Dataproc efímero</a:t>
            </a:r>
            <a:endParaRPr lang="en-US" sz="1950" dirty="0"/>
          </a:p>
        </p:txBody>
      </p:sp>
      <p:sp>
        <p:nvSpPr>
          <p:cNvPr id="53" name="Text 51"/>
          <p:cNvSpPr/>
          <p:nvPr/>
        </p:nvSpPr>
        <p:spPr>
          <a:xfrm>
            <a:off x="11567160" y="2495550"/>
            <a:ext cx="5274259" cy="266700"/>
          </a:xfrm>
          <a:prstGeom prst="rect">
            <a:avLst/>
          </a:prstGeom>
          <a:noFill/>
          <a:ln/>
        </p:spPr>
        <p:txBody>
          <a:bodyPr wrap="square" lIns="25400" tIns="25400" rIns="25400" bIns="25400" rtlCol="0" anchor="t">
            <a:normAutofit/>
          </a:bodyPr>
          <a:lstStyle/>
          <a:p>
            <a:pPr algn="l" indent="0" marL="0">
              <a:buNone/>
            </a:pPr>
            <a:r>
              <a:rPr lang="en-US" sz="1350" dirty="0">
                <a:solidFill>
                  <a:srgbClr val="00E1FF"/>
                </a:solidFill>
                <a:latin typeface="Space Grotesk" pitchFamily="34" charset="0"/>
                <a:ea typeface="Space Grotesk" pitchFamily="34" charset="-122"/>
                <a:cs typeface="Space Grotesk" pitchFamily="34" charset="-120"/>
              </a:rPr>
              <a:t>&gt; 95% de ahorro vs clúster 24/7</a:t>
            </a:r>
            <a:endParaRPr lang="en-US" sz="1350" dirty="0"/>
          </a:p>
        </p:txBody>
      </p:sp>
      <p:sp>
        <p:nvSpPr>
          <p:cNvPr id="54" name="Text 52"/>
          <p:cNvSpPr/>
          <p:nvPr/>
        </p:nvSpPr>
        <p:spPr>
          <a:xfrm>
            <a:off x="11567160" y="2990850"/>
            <a:ext cx="5274259" cy="361950"/>
          </a:xfrm>
          <a:prstGeom prst="rect">
            <a:avLst/>
          </a:prstGeom>
          <a:noFill/>
          <a:ln/>
        </p:spPr>
        <p:txBody>
          <a:bodyPr wrap="square" lIns="25400" tIns="25400" rIns="25400" bIns="25400" rtlCol="0" anchor="t">
            <a:normAutofit/>
          </a:bodyPr>
          <a:lstStyle/>
          <a:p>
            <a:pPr algn="l" indent="0" marL="0">
              <a:buNone/>
            </a:pPr>
            <a:r>
              <a:rPr lang="en-US" sz="1950" b="1" spc="-19" kern="0" dirty="0">
                <a:solidFill>
                  <a:srgbClr val="FFFFFF"/>
                </a:solidFill>
                <a:latin typeface="Space Grotesk" pitchFamily="34" charset="0"/>
                <a:ea typeface="Space Grotesk" pitchFamily="34" charset="-122"/>
                <a:cs typeface="Space Grotesk" pitchFamily="34" charset="-120"/>
              </a:rPr>
              <a:t>GCS lifecycle</a:t>
            </a:r>
            <a:endParaRPr lang="en-US" sz="1950" dirty="0"/>
          </a:p>
        </p:txBody>
      </p:sp>
      <p:sp>
        <p:nvSpPr>
          <p:cNvPr id="55" name="Text 53"/>
          <p:cNvSpPr/>
          <p:nvPr/>
        </p:nvSpPr>
        <p:spPr>
          <a:xfrm>
            <a:off x="11567160" y="3352800"/>
            <a:ext cx="5274259" cy="266700"/>
          </a:xfrm>
          <a:prstGeom prst="rect">
            <a:avLst/>
          </a:prstGeom>
          <a:noFill/>
          <a:ln/>
        </p:spPr>
        <p:txBody>
          <a:bodyPr wrap="square" lIns="25400" tIns="25400" rIns="25400" bIns="25400" rtlCol="0" anchor="t">
            <a:normAutofit/>
          </a:bodyPr>
          <a:lstStyle/>
          <a:p>
            <a:pPr algn="l" indent="0" marL="0">
              <a:buNone/>
            </a:pPr>
            <a:r>
              <a:rPr lang="en-US" sz="1350" dirty="0">
                <a:solidFill>
                  <a:srgbClr val="00E1FF"/>
                </a:solidFill>
                <a:latin typeface="Space Grotesk" pitchFamily="34" charset="0"/>
                <a:ea typeface="Space Grotesk" pitchFamily="34" charset="-122"/>
                <a:cs typeface="Space Grotesk" pitchFamily="34" charset="-120"/>
              </a:rPr>
              <a:t>50–80% menos a largo plazo</a:t>
            </a:r>
            <a:endParaRPr lang="en-US" sz="1350" dirty="0"/>
          </a:p>
        </p:txBody>
      </p:sp>
      <p:sp>
        <p:nvSpPr>
          <p:cNvPr id="56" name="Text 54"/>
          <p:cNvSpPr/>
          <p:nvPr/>
        </p:nvSpPr>
        <p:spPr>
          <a:xfrm>
            <a:off x="11567160" y="3848100"/>
            <a:ext cx="5274259" cy="361950"/>
          </a:xfrm>
          <a:prstGeom prst="rect">
            <a:avLst/>
          </a:prstGeom>
          <a:noFill/>
          <a:ln/>
        </p:spPr>
        <p:txBody>
          <a:bodyPr wrap="square" lIns="25400" tIns="25400" rIns="25400" bIns="25400" rtlCol="0" anchor="t">
            <a:normAutofit/>
          </a:bodyPr>
          <a:lstStyle/>
          <a:p>
            <a:pPr algn="l" indent="0" marL="0">
              <a:buNone/>
            </a:pPr>
            <a:r>
              <a:rPr lang="en-US" sz="1950" b="1" spc="-19" kern="0" dirty="0">
                <a:solidFill>
                  <a:srgbClr val="FFFFFF"/>
                </a:solidFill>
                <a:latin typeface="Space Grotesk" pitchFamily="34" charset="0"/>
                <a:ea typeface="Space Grotesk" pitchFamily="34" charset="-122"/>
                <a:cs typeface="Space Grotesk" pitchFamily="34" charset="-120"/>
              </a:rPr>
              <a:t>Cloud Run scale-to-zero</a:t>
            </a:r>
            <a:endParaRPr lang="en-US" sz="1950" dirty="0"/>
          </a:p>
        </p:txBody>
      </p:sp>
      <p:sp>
        <p:nvSpPr>
          <p:cNvPr id="57" name="Text 55"/>
          <p:cNvSpPr/>
          <p:nvPr/>
        </p:nvSpPr>
        <p:spPr>
          <a:xfrm>
            <a:off x="11567160" y="4210050"/>
            <a:ext cx="5274259" cy="266700"/>
          </a:xfrm>
          <a:prstGeom prst="rect">
            <a:avLst/>
          </a:prstGeom>
          <a:noFill/>
          <a:ln/>
        </p:spPr>
        <p:txBody>
          <a:bodyPr wrap="square" lIns="25400" tIns="25400" rIns="25400" bIns="25400" rtlCol="0" anchor="t">
            <a:normAutofit/>
          </a:bodyPr>
          <a:lstStyle/>
          <a:p>
            <a:pPr algn="l" indent="0" marL="0">
              <a:buNone/>
            </a:pPr>
            <a:r>
              <a:rPr lang="en-US" sz="1350" dirty="0">
                <a:solidFill>
                  <a:srgbClr val="00E1FF"/>
                </a:solidFill>
                <a:latin typeface="Space Grotesk" pitchFamily="34" charset="0"/>
                <a:ea typeface="Space Grotesk" pitchFamily="34" charset="-122"/>
                <a:cs typeface="Space Grotesk" pitchFamily="34" charset="-120"/>
              </a:rPr>
              <a:t>SaaS-like sin GKE permanente</a:t>
            </a:r>
            <a:endParaRPr lang="en-US" sz="1350" dirty="0"/>
          </a:p>
        </p:txBody>
      </p:sp>
      <p:sp>
        <p:nvSpPr>
          <p:cNvPr id="58" name="Text 56"/>
          <p:cNvSpPr/>
          <p:nvPr/>
        </p:nvSpPr>
        <p:spPr>
          <a:xfrm>
            <a:off x="11567160" y="4705350"/>
            <a:ext cx="5274259" cy="361950"/>
          </a:xfrm>
          <a:prstGeom prst="rect">
            <a:avLst/>
          </a:prstGeom>
          <a:noFill/>
          <a:ln/>
        </p:spPr>
        <p:txBody>
          <a:bodyPr wrap="square" lIns="25400" tIns="25400" rIns="25400" bIns="25400" rtlCol="0" anchor="t">
            <a:normAutofit/>
          </a:bodyPr>
          <a:lstStyle/>
          <a:p>
            <a:pPr algn="l" indent="0" marL="0">
              <a:buNone/>
            </a:pPr>
            <a:r>
              <a:rPr lang="en-US" sz="1950" b="1" spc="-19" kern="0" dirty="0">
                <a:solidFill>
                  <a:srgbClr val="FFFFFF"/>
                </a:solidFill>
                <a:latin typeface="Space Grotesk" pitchFamily="34" charset="0"/>
                <a:ea typeface="Space Grotesk" pitchFamily="34" charset="-122"/>
                <a:cs typeface="Space Grotesk" pitchFamily="34" charset="-120"/>
              </a:rPr>
              <a:t>Particionado BigQuery</a:t>
            </a:r>
            <a:endParaRPr lang="en-US" sz="1950" dirty="0"/>
          </a:p>
        </p:txBody>
      </p:sp>
      <p:sp>
        <p:nvSpPr>
          <p:cNvPr id="59" name="Text 57"/>
          <p:cNvSpPr/>
          <p:nvPr/>
        </p:nvSpPr>
        <p:spPr>
          <a:xfrm>
            <a:off x="11567160" y="5067300"/>
            <a:ext cx="5274259" cy="266700"/>
          </a:xfrm>
          <a:prstGeom prst="rect">
            <a:avLst/>
          </a:prstGeom>
          <a:noFill/>
          <a:ln/>
        </p:spPr>
        <p:txBody>
          <a:bodyPr wrap="square" lIns="25400" tIns="25400" rIns="25400" bIns="25400" rtlCol="0" anchor="t">
            <a:normAutofit/>
          </a:bodyPr>
          <a:lstStyle/>
          <a:p>
            <a:pPr algn="l" indent="0" marL="0">
              <a:buNone/>
            </a:pPr>
            <a:r>
              <a:rPr lang="en-US" sz="1350" dirty="0">
                <a:solidFill>
                  <a:srgbClr val="00E1FF"/>
                </a:solidFill>
                <a:latin typeface="Space Grotesk" pitchFamily="34" charset="0"/>
                <a:ea typeface="Space Grotesk" pitchFamily="34" charset="-122"/>
                <a:cs typeface="Space Grotesk" pitchFamily="34" charset="-120"/>
              </a:rPr>
              <a:t>Hasta 90% menos TB escaneados</a:t>
            </a:r>
            <a:endParaRPr lang="en-US" sz="1350" dirty="0"/>
          </a:p>
        </p:txBody>
      </p:sp>
      <p:sp>
        <p:nvSpPr>
          <p:cNvPr id="60" name="Text 58"/>
          <p:cNvSpPr/>
          <p:nvPr/>
        </p:nvSpPr>
        <p:spPr>
          <a:xfrm>
            <a:off x="11479689" y="8081010"/>
            <a:ext cx="5454287" cy="739140"/>
          </a:xfrm>
          <a:prstGeom prst="rect">
            <a:avLst/>
          </a:prstGeom>
          <a:noFill/>
          <a:ln/>
        </p:spPr>
        <p:txBody>
          <a:bodyPr wrap="square" lIns="25400" tIns="25400" rIns="25400" bIns="25400" rtlCol="0" anchor="t">
            <a:normAutofit/>
          </a:bodyPr>
          <a:lstStyle/>
          <a:p>
            <a:pPr algn="l" indent="0" marL="0">
              <a:lnSpc>
                <a:spcPct val="92000"/>
              </a:lnSpc>
              <a:buNone/>
            </a:pPr>
            <a:r>
              <a:rPr lang="en-US" sz="3000" b="1" spc="60" kern="0" dirty="0">
                <a:solidFill>
                  <a:srgbClr val="00E1FF"/>
                </a:solidFill>
                <a:latin typeface="Space Grotesk" pitchFamily="34" charset="0"/>
                <a:ea typeface="Space Grotesk" pitchFamily="34" charset="-122"/>
                <a:cs typeface="Space Grotesk" pitchFamily="34" charset="-120"/>
              </a:rPr>
              <a:t>HANDS ON.</a:t>
            </a:r>
            <a:endParaRPr lang="en-US" sz="3000" dirty="0"/>
          </a:p>
        </p:txBody>
      </p:sp>
      <p:pic>
        <p:nvPicPr>
          <p:cNvPr id="61"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62" name="Text 59"/>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1648206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DESAFÍOS Y LECCIONES APRENDIDAS</a:t>
            </a:r>
            <a:endParaRPr lang="en-US" sz="1500" dirty="0"/>
          </a:p>
        </p:txBody>
      </p:sp>
      <p:sp>
        <p:nvSpPr>
          <p:cNvPr id="3" name="Text 1"/>
          <p:cNvSpPr/>
          <p:nvPr/>
        </p:nvSpPr>
        <p:spPr>
          <a:xfrm>
            <a:off x="1143000" y="1524000"/>
            <a:ext cx="16482060" cy="866775"/>
          </a:xfrm>
          <a:prstGeom prst="rect">
            <a:avLst/>
          </a:prstGeom>
          <a:noFill/>
          <a:ln/>
        </p:spPr>
        <p:txBody>
          <a:bodyPr wrap="square" lIns="25400" tIns="25400" rIns="25400" bIns="25400" rtlCol="0" anchor="t">
            <a:normAutofit/>
          </a:bodyPr>
          <a:lstStyle/>
          <a:p>
            <a:pPr algn="l" indent="0" marL="0">
              <a:buNone/>
            </a:pPr>
            <a:r>
              <a:rPr lang="en-US" sz="5100" b="1" spc="-76" kern="0" dirty="0">
                <a:solidFill>
                  <a:srgbClr val="4D4B4C"/>
                </a:solidFill>
                <a:latin typeface="Space Grotesk" pitchFamily="34" charset="0"/>
                <a:ea typeface="Space Grotesk" pitchFamily="34" charset="-122"/>
                <a:cs typeface="Space Grotesk" pitchFamily="34" charset="-120"/>
              </a:rPr>
              <a:t>Seis fricciones reales y su resolución</a:t>
            </a:r>
            <a:endParaRPr lang="en-US" sz="5100" dirty="0"/>
          </a:p>
        </p:txBody>
      </p:sp>
      <p:sp>
        <p:nvSpPr>
          <p:cNvPr id="4" name="Shape 2"/>
          <p:cNvSpPr/>
          <p:nvPr/>
        </p:nvSpPr>
        <p:spPr>
          <a:xfrm>
            <a:off x="1143000" y="2809875"/>
            <a:ext cx="5080000" cy="28575"/>
          </a:xfrm>
          <a:prstGeom prst="rect">
            <a:avLst/>
          </a:prstGeom>
          <a:solidFill>
            <a:srgbClr val="00E1FF"/>
          </a:solidFill>
          <a:ln/>
        </p:spPr>
      </p:sp>
      <p:sp>
        <p:nvSpPr>
          <p:cNvPr id="5" name="Text 3"/>
          <p:cNvSpPr/>
          <p:nvPr/>
        </p:nvSpPr>
        <p:spPr>
          <a:xfrm>
            <a:off x="1143000" y="3028950"/>
            <a:ext cx="5232400" cy="285750"/>
          </a:xfrm>
          <a:prstGeom prst="rect">
            <a:avLst/>
          </a:prstGeom>
          <a:noFill/>
          <a:ln/>
        </p:spPr>
        <p:txBody>
          <a:bodyPr wrap="square" lIns="25400" tIns="25400" rIns="25400" bIns="25400" rtlCol="0" anchor="t">
            <a:normAutofit/>
          </a:bodyPr>
          <a:lstStyle/>
          <a:p>
            <a:pPr algn="l" indent="0" marL="0">
              <a:buNone/>
            </a:pPr>
            <a:r>
              <a:rPr lang="en-US" sz="1500" b="1" spc="150" kern="0" dirty="0">
                <a:solidFill>
                  <a:srgbClr val="00E1FF"/>
                </a:solidFill>
                <a:latin typeface="Space Grotesk" pitchFamily="34" charset="0"/>
                <a:ea typeface="Space Grotesk" pitchFamily="34" charset="-122"/>
                <a:cs typeface="Space Grotesk" pitchFamily="34" charset="-120"/>
              </a:rPr>
              <a:t>01</a:t>
            </a:r>
            <a:endParaRPr lang="en-US" sz="1500" dirty="0"/>
          </a:p>
        </p:txBody>
      </p:sp>
      <p:sp>
        <p:nvSpPr>
          <p:cNvPr id="6" name="Text 4"/>
          <p:cNvSpPr/>
          <p:nvPr/>
        </p:nvSpPr>
        <p:spPr>
          <a:xfrm>
            <a:off x="1143000" y="3390900"/>
            <a:ext cx="5232400" cy="322897"/>
          </a:xfrm>
          <a:prstGeom prst="rect">
            <a:avLst/>
          </a:prstGeom>
          <a:noFill/>
          <a:ln/>
        </p:spPr>
        <p:txBody>
          <a:bodyPr wrap="square" lIns="25400" tIns="25400" rIns="25400" bIns="25400" rtlCol="0" anchor="t">
            <a:normAutofit/>
          </a:bodyPr>
          <a:lstStyle/>
          <a:p>
            <a:pPr algn="l" indent="0" marL="0">
              <a:lnSpc>
                <a:spcPct val="115000"/>
              </a:lnSpc>
              <a:buNone/>
            </a:pPr>
            <a:r>
              <a:rPr lang="en-US" sz="1950" b="1" spc="-19" kern="0" dirty="0">
                <a:solidFill>
                  <a:srgbClr val="4D4B4C"/>
                </a:solidFill>
                <a:latin typeface="Space Grotesk" pitchFamily="34" charset="0"/>
                <a:ea typeface="Space Grotesk" pitchFamily="34" charset="-122"/>
                <a:cs typeface="Space Grotesk" pitchFamily="34" charset="-120"/>
              </a:rPr>
              <a:t>Cuotas GCP en modo trial</a:t>
            </a:r>
            <a:endParaRPr lang="en-US" sz="1950" dirty="0"/>
          </a:p>
        </p:txBody>
      </p:sp>
      <p:sp>
        <p:nvSpPr>
          <p:cNvPr id="7" name="Text 5"/>
          <p:cNvSpPr/>
          <p:nvPr/>
        </p:nvSpPr>
        <p:spPr>
          <a:xfrm>
            <a:off x="1143000" y="3789997"/>
            <a:ext cx="5232400"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6B6869"/>
                </a:solidFill>
                <a:latin typeface="Space Grotesk" pitchFamily="34" charset="0"/>
                <a:ea typeface="Space Grotesk" pitchFamily="34" charset="-122"/>
                <a:cs typeface="Space Grotesk" pitchFamily="34" charset="-120"/>
              </a:rPr>
              <a:t>CPUs Dataflow, IPs, slots BigQuery. Solicitar aumentos antes del primer apply y serializar con depends_on.</a:t>
            </a:r>
            <a:endParaRPr lang="en-US" sz="1500" dirty="0"/>
          </a:p>
        </p:txBody>
      </p:sp>
      <p:sp>
        <p:nvSpPr>
          <p:cNvPr id="8" name="Shape 6"/>
          <p:cNvSpPr/>
          <p:nvPr/>
        </p:nvSpPr>
        <p:spPr>
          <a:xfrm>
            <a:off x="6604000" y="2809875"/>
            <a:ext cx="5080000" cy="28575"/>
          </a:xfrm>
          <a:prstGeom prst="rect">
            <a:avLst/>
          </a:prstGeom>
          <a:solidFill>
            <a:srgbClr val="00E1FF"/>
          </a:solidFill>
          <a:ln/>
        </p:spPr>
      </p:sp>
      <p:sp>
        <p:nvSpPr>
          <p:cNvPr id="9" name="Text 7"/>
          <p:cNvSpPr/>
          <p:nvPr/>
        </p:nvSpPr>
        <p:spPr>
          <a:xfrm>
            <a:off x="6604000" y="3028950"/>
            <a:ext cx="5232400" cy="285750"/>
          </a:xfrm>
          <a:prstGeom prst="rect">
            <a:avLst/>
          </a:prstGeom>
          <a:noFill/>
          <a:ln/>
        </p:spPr>
        <p:txBody>
          <a:bodyPr wrap="square" lIns="25400" tIns="25400" rIns="25400" bIns="25400" rtlCol="0" anchor="t">
            <a:normAutofit/>
          </a:bodyPr>
          <a:lstStyle/>
          <a:p>
            <a:pPr algn="l" indent="0" marL="0">
              <a:buNone/>
            </a:pPr>
            <a:r>
              <a:rPr lang="en-US" sz="1500" b="1" spc="150" kern="0" dirty="0">
                <a:solidFill>
                  <a:srgbClr val="00E1FF"/>
                </a:solidFill>
                <a:latin typeface="Space Grotesk" pitchFamily="34" charset="0"/>
                <a:ea typeface="Space Grotesk" pitchFamily="34" charset="-122"/>
                <a:cs typeface="Space Grotesk" pitchFamily="34" charset="-120"/>
              </a:rPr>
              <a:t>02</a:t>
            </a:r>
            <a:endParaRPr lang="en-US" sz="1500" dirty="0"/>
          </a:p>
        </p:txBody>
      </p:sp>
      <p:sp>
        <p:nvSpPr>
          <p:cNvPr id="10" name="Text 8"/>
          <p:cNvSpPr/>
          <p:nvPr/>
        </p:nvSpPr>
        <p:spPr>
          <a:xfrm>
            <a:off x="6604000" y="3390900"/>
            <a:ext cx="5232400" cy="322897"/>
          </a:xfrm>
          <a:prstGeom prst="rect">
            <a:avLst/>
          </a:prstGeom>
          <a:noFill/>
          <a:ln/>
        </p:spPr>
        <p:txBody>
          <a:bodyPr wrap="square" lIns="25400" tIns="25400" rIns="25400" bIns="25400" rtlCol="0" anchor="t">
            <a:normAutofit/>
          </a:bodyPr>
          <a:lstStyle/>
          <a:p>
            <a:pPr algn="l" indent="0" marL="0">
              <a:lnSpc>
                <a:spcPct val="115000"/>
              </a:lnSpc>
              <a:buNone/>
            </a:pPr>
            <a:r>
              <a:rPr lang="en-US" sz="1950" b="1" spc="-19" kern="0" dirty="0">
                <a:solidFill>
                  <a:srgbClr val="4D4B4C"/>
                </a:solidFill>
                <a:latin typeface="Space Grotesk" pitchFamily="34" charset="0"/>
                <a:ea typeface="Space Grotesk" pitchFamily="34" charset="-122"/>
                <a:cs typeface="Space Grotesk" pitchFamily="34" charset="-120"/>
              </a:rPr>
              <a:t>Permisos IAM por defecto</a:t>
            </a:r>
            <a:endParaRPr lang="en-US" sz="1950" dirty="0"/>
          </a:p>
        </p:txBody>
      </p:sp>
      <p:sp>
        <p:nvSpPr>
          <p:cNvPr id="11" name="Text 9"/>
          <p:cNvSpPr/>
          <p:nvPr/>
        </p:nvSpPr>
        <p:spPr>
          <a:xfrm>
            <a:off x="6604000" y="3789997"/>
            <a:ext cx="5232400" cy="86677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6B6869"/>
                </a:solidFill>
                <a:latin typeface="Space Grotesk" pitchFamily="34" charset="0"/>
                <a:ea typeface="Space Grotesk" pitchFamily="34" charset="-122"/>
                <a:cs typeface="Space Grotesk" pitchFamily="34" charset="-120"/>
              </a:rPr>
              <a:t>Cloud Functions v2 y Cloud Run usan la SA default de Compute. Asignar Cloud Build, Logging, Storage y Artifact Registry explícitamente.</a:t>
            </a:r>
            <a:endParaRPr lang="en-US" sz="1500" dirty="0"/>
          </a:p>
        </p:txBody>
      </p:sp>
      <p:sp>
        <p:nvSpPr>
          <p:cNvPr id="12" name="Shape 10"/>
          <p:cNvSpPr/>
          <p:nvPr/>
        </p:nvSpPr>
        <p:spPr>
          <a:xfrm>
            <a:off x="12065000" y="2809875"/>
            <a:ext cx="5080000" cy="28575"/>
          </a:xfrm>
          <a:prstGeom prst="rect">
            <a:avLst/>
          </a:prstGeom>
          <a:solidFill>
            <a:srgbClr val="00E1FF"/>
          </a:solidFill>
          <a:ln/>
        </p:spPr>
      </p:sp>
      <p:sp>
        <p:nvSpPr>
          <p:cNvPr id="13" name="Text 11"/>
          <p:cNvSpPr/>
          <p:nvPr/>
        </p:nvSpPr>
        <p:spPr>
          <a:xfrm>
            <a:off x="12065000" y="3028950"/>
            <a:ext cx="5232400" cy="285750"/>
          </a:xfrm>
          <a:prstGeom prst="rect">
            <a:avLst/>
          </a:prstGeom>
          <a:noFill/>
          <a:ln/>
        </p:spPr>
        <p:txBody>
          <a:bodyPr wrap="square" lIns="25400" tIns="25400" rIns="25400" bIns="25400" rtlCol="0" anchor="t">
            <a:normAutofit/>
          </a:bodyPr>
          <a:lstStyle/>
          <a:p>
            <a:pPr algn="l" indent="0" marL="0">
              <a:buNone/>
            </a:pPr>
            <a:r>
              <a:rPr lang="en-US" sz="1500" b="1" spc="150" kern="0" dirty="0">
                <a:solidFill>
                  <a:srgbClr val="00E1FF"/>
                </a:solidFill>
                <a:latin typeface="Space Grotesk" pitchFamily="34" charset="0"/>
                <a:ea typeface="Space Grotesk" pitchFamily="34" charset="-122"/>
                <a:cs typeface="Space Grotesk" pitchFamily="34" charset="-120"/>
              </a:rPr>
              <a:t>03</a:t>
            </a:r>
            <a:endParaRPr lang="en-US" sz="1500" dirty="0"/>
          </a:p>
        </p:txBody>
      </p:sp>
      <p:sp>
        <p:nvSpPr>
          <p:cNvPr id="14" name="Text 12"/>
          <p:cNvSpPr/>
          <p:nvPr/>
        </p:nvSpPr>
        <p:spPr>
          <a:xfrm>
            <a:off x="12065000" y="3390900"/>
            <a:ext cx="5232400" cy="322897"/>
          </a:xfrm>
          <a:prstGeom prst="rect">
            <a:avLst/>
          </a:prstGeom>
          <a:noFill/>
          <a:ln/>
        </p:spPr>
        <p:txBody>
          <a:bodyPr wrap="square" lIns="25400" tIns="25400" rIns="25400" bIns="25400" rtlCol="0" anchor="t">
            <a:normAutofit/>
          </a:bodyPr>
          <a:lstStyle/>
          <a:p>
            <a:pPr algn="l" indent="0" marL="0">
              <a:lnSpc>
                <a:spcPct val="115000"/>
              </a:lnSpc>
              <a:buNone/>
            </a:pPr>
            <a:r>
              <a:rPr lang="en-US" sz="1950" b="1" spc="-19" kern="0" dirty="0">
                <a:solidFill>
                  <a:srgbClr val="4D4B4C"/>
                </a:solidFill>
                <a:latin typeface="Space Grotesk" pitchFamily="34" charset="0"/>
                <a:ea typeface="Space Grotesk" pitchFamily="34" charset="-122"/>
                <a:cs typeface="Space Grotesk" pitchFamily="34" charset="-120"/>
              </a:rPr>
              <a:t>VPC Connector y CIDRs</a:t>
            </a:r>
            <a:endParaRPr lang="en-US" sz="1950" dirty="0"/>
          </a:p>
        </p:txBody>
      </p:sp>
      <p:sp>
        <p:nvSpPr>
          <p:cNvPr id="15" name="Text 13"/>
          <p:cNvSpPr/>
          <p:nvPr/>
        </p:nvSpPr>
        <p:spPr>
          <a:xfrm>
            <a:off x="12065000" y="3789997"/>
            <a:ext cx="5232400"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6B6869"/>
                </a:solidFill>
                <a:latin typeface="Space Grotesk" pitchFamily="34" charset="0"/>
                <a:ea typeface="Space Grotesk" pitchFamily="34" charset="-122"/>
                <a:cs typeface="Space Grotesk" pitchFamily="34" charset="-120"/>
              </a:rPr>
              <a:t>Documentar un plan de rangos desde el día uno. El /28 del conector es obligatorio para Cloud Run.</a:t>
            </a:r>
            <a:endParaRPr lang="en-US" sz="1500" dirty="0"/>
          </a:p>
        </p:txBody>
      </p:sp>
      <p:sp>
        <p:nvSpPr>
          <p:cNvPr id="16" name="Shape 14"/>
          <p:cNvSpPr/>
          <p:nvPr/>
        </p:nvSpPr>
        <p:spPr>
          <a:xfrm>
            <a:off x="1143000" y="4999673"/>
            <a:ext cx="5080000" cy="28575"/>
          </a:xfrm>
          <a:prstGeom prst="rect">
            <a:avLst/>
          </a:prstGeom>
          <a:solidFill>
            <a:srgbClr val="00E1FF"/>
          </a:solidFill>
          <a:ln/>
        </p:spPr>
      </p:sp>
      <p:sp>
        <p:nvSpPr>
          <p:cNvPr id="17" name="Text 15"/>
          <p:cNvSpPr/>
          <p:nvPr/>
        </p:nvSpPr>
        <p:spPr>
          <a:xfrm>
            <a:off x="1143000" y="5218748"/>
            <a:ext cx="5232400" cy="285750"/>
          </a:xfrm>
          <a:prstGeom prst="rect">
            <a:avLst/>
          </a:prstGeom>
          <a:noFill/>
          <a:ln/>
        </p:spPr>
        <p:txBody>
          <a:bodyPr wrap="square" lIns="25400" tIns="25400" rIns="25400" bIns="25400" rtlCol="0" anchor="t">
            <a:normAutofit/>
          </a:bodyPr>
          <a:lstStyle/>
          <a:p>
            <a:pPr algn="l" indent="0" marL="0">
              <a:buNone/>
            </a:pPr>
            <a:r>
              <a:rPr lang="en-US" sz="1500" b="1" spc="150" kern="0" dirty="0">
                <a:solidFill>
                  <a:srgbClr val="00E1FF"/>
                </a:solidFill>
                <a:latin typeface="Space Grotesk" pitchFamily="34" charset="0"/>
                <a:ea typeface="Space Grotesk" pitchFamily="34" charset="-122"/>
                <a:cs typeface="Space Grotesk" pitchFamily="34" charset="-120"/>
              </a:rPr>
              <a:t>04</a:t>
            </a:r>
            <a:endParaRPr lang="en-US" sz="1500" dirty="0"/>
          </a:p>
        </p:txBody>
      </p:sp>
      <p:sp>
        <p:nvSpPr>
          <p:cNvPr id="18" name="Text 16"/>
          <p:cNvSpPr/>
          <p:nvPr/>
        </p:nvSpPr>
        <p:spPr>
          <a:xfrm>
            <a:off x="1143000" y="5580698"/>
            <a:ext cx="5232400" cy="32289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9" kern="0" dirty="0">
                <a:solidFill>
                  <a:srgbClr val="4D4B4C"/>
                </a:solidFill>
                <a:latin typeface="Space Grotesk" pitchFamily="34" charset="0"/>
                <a:ea typeface="Space Grotesk" pitchFamily="34" charset="-122"/>
                <a:cs typeface="Space Grotesk" pitchFamily="34" charset="-120"/>
              </a:rPr>
              <a:t>Mismatch SDK en Dataflow</a:t>
            </a:r>
            <a:endParaRPr lang="en-US" sz="1950" dirty="0"/>
          </a:p>
        </p:txBody>
      </p:sp>
      <p:sp>
        <p:nvSpPr>
          <p:cNvPr id="19" name="Text 17"/>
          <p:cNvSpPr/>
          <p:nvPr/>
        </p:nvSpPr>
        <p:spPr>
          <a:xfrm>
            <a:off x="1143000" y="5979795"/>
            <a:ext cx="5232400" cy="866775"/>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6B6869"/>
                </a:solidFill>
                <a:latin typeface="Space Grotesk" pitchFamily="34" charset="0"/>
                <a:ea typeface="Space Grotesk" pitchFamily="34" charset="-122"/>
                <a:cs typeface="Space Grotesk" pitchFamily="34" charset="-120"/>
              </a:rPr>
              <a:t>Imagen Docker basada en apache/beam_python3.12_sdk:2.56.0 para alinear worker y launcher.</a:t>
            </a:r>
            <a:endParaRPr lang="en-US" sz="1500" dirty="0"/>
          </a:p>
        </p:txBody>
      </p:sp>
      <p:sp>
        <p:nvSpPr>
          <p:cNvPr id="20" name="Shape 18"/>
          <p:cNvSpPr/>
          <p:nvPr/>
        </p:nvSpPr>
        <p:spPr>
          <a:xfrm>
            <a:off x="6604000" y="4999673"/>
            <a:ext cx="5080000" cy="28575"/>
          </a:xfrm>
          <a:prstGeom prst="rect">
            <a:avLst/>
          </a:prstGeom>
          <a:solidFill>
            <a:srgbClr val="00E1FF"/>
          </a:solidFill>
          <a:ln/>
        </p:spPr>
      </p:sp>
      <p:sp>
        <p:nvSpPr>
          <p:cNvPr id="21" name="Text 19"/>
          <p:cNvSpPr/>
          <p:nvPr/>
        </p:nvSpPr>
        <p:spPr>
          <a:xfrm>
            <a:off x="6604000" y="5218748"/>
            <a:ext cx="5232400" cy="285750"/>
          </a:xfrm>
          <a:prstGeom prst="rect">
            <a:avLst/>
          </a:prstGeom>
          <a:noFill/>
          <a:ln/>
        </p:spPr>
        <p:txBody>
          <a:bodyPr wrap="square" lIns="25400" tIns="25400" rIns="25400" bIns="25400" rtlCol="0" anchor="t">
            <a:normAutofit/>
          </a:bodyPr>
          <a:lstStyle/>
          <a:p>
            <a:pPr algn="l" indent="0" marL="0">
              <a:buNone/>
            </a:pPr>
            <a:r>
              <a:rPr lang="en-US" sz="1500" b="1" spc="150" kern="0" dirty="0">
                <a:solidFill>
                  <a:srgbClr val="00E1FF"/>
                </a:solidFill>
                <a:latin typeface="Space Grotesk" pitchFamily="34" charset="0"/>
                <a:ea typeface="Space Grotesk" pitchFamily="34" charset="-122"/>
                <a:cs typeface="Space Grotesk" pitchFamily="34" charset="-120"/>
              </a:rPr>
              <a:t>05</a:t>
            </a:r>
            <a:endParaRPr lang="en-US" sz="1500" dirty="0"/>
          </a:p>
        </p:txBody>
      </p:sp>
      <p:sp>
        <p:nvSpPr>
          <p:cNvPr id="22" name="Text 20"/>
          <p:cNvSpPr/>
          <p:nvPr/>
        </p:nvSpPr>
        <p:spPr>
          <a:xfrm>
            <a:off x="6604000" y="5580698"/>
            <a:ext cx="5232400" cy="32289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9" kern="0" dirty="0">
                <a:solidFill>
                  <a:srgbClr val="4D4B4C"/>
                </a:solidFill>
                <a:latin typeface="Space Grotesk" pitchFamily="34" charset="0"/>
                <a:ea typeface="Space Grotesk" pitchFamily="34" charset="-122"/>
                <a:cs typeface="Space Grotesk" pitchFamily="34" charset="-120"/>
              </a:rPr>
              <a:t>APIs habilitadas asíncronas</a:t>
            </a:r>
            <a:endParaRPr lang="en-US" sz="1950" dirty="0"/>
          </a:p>
        </p:txBody>
      </p:sp>
      <p:sp>
        <p:nvSpPr>
          <p:cNvPr id="23" name="Text 21"/>
          <p:cNvSpPr/>
          <p:nvPr/>
        </p:nvSpPr>
        <p:spPr>
          <a:xfrm>
            <a:off x="6604000" y="5979795"/>
            <a:ext cx="5232400"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6B6869"/>
                </a:solidFill>
                <a:latin typeface="Space Grotesk" pitchFamily="34" charset="0"/>
                <a:ea typeface="Space Grotesk" pitchFamily="34" charset="-122"/>
                <a:cs typeface="Space Grotesk" pitchFamily="34" charset="-120"/>
              </a:rPr>
              <a:t>time_sleep de 60 s tras activar APIs elimina fallos esporádicos en el primer terraform apply.</a:t>
            </a:r>
            <a:endParaRPr lang="en-US" sz="1500" dirty="0"/>
          </a:p>
        </p:txBody>
      </p:sp>
      <p:sp>
        <p:nvSpPr>
          <p:cNvPr id="24" name="Shape 22"/>
          <p:cNvSpPr/>
          <p:nvPr/>
        </p:nvSpPr>
        <p:spPr>
          <a:xfrm>
            <a:off x="12065000" y="4999673"/>
            <a:ext cx="5080000" cy="28575"/>
          </a:xfrm>
          <a:prstGeom prst="rect">
            <a:avLst/>
          </a:prstGeom>
          <a:solidFill>
            <a:srgbClr val="00E1FF"/>
          </a:solidFill>
          <a:ln/>
        </p:spPr>
      </p:sp>
      <p:sp>
        <p:nvSpPr>
          <p:cNvPr id="25" name="Text 23"/>
          <p:cNvSpPr/>
          <p:nvPr/>
        </p:nvSpPr>
        <p:spPr>
          <a:xfrm>
            <a:off x="12065000" y="5218748"/>
            <a:ext cx="5232400" cy="285750"/>
          </a:xfrm>
          <a:prstGeom prst="rect">
            <a:avLst/>
          </a:prstGeom>
          <a:noFill/>
          <a:ln/>
        </p:spPr>
        <p:txBody>
          <a:bodyPr wrap="square" lIns="25400" tIns="25400" rIns="25400" bIns="25400" rtlCol="0" anchor="t">
            <a:normAutofit/>
          </a:bodyPr>
          <a:lstStyle/>
          <a:p>
            <a:pPr algn="l" indent="0" marL="0">
              <a:buNone/>
            </a:pPr>
            <a:r>
              <a:rPr lang="en-US" sz="1500" b="1" spc="150" kern="0" dirty="0">
                <a:solidFill>
                  <a:srgbClr val="00E1FF"/>
                </a:solidFill>
                <a:latin typeface="Space Grotesk" pitchFamily="34" charset="0"/>
                <a:ea typeface="Space Grotesk" pitchFamily="34" charset="-122"/>
                <a:cs typeface="Space Grotesk" pitchFamily="34" charset="-120"/>
              </a:rPr>
              <a:t>06</a:t>
            </a:r>
            <a:endParaRPr lang="en-US" sz="1500" dirty="0"/>
          </a:p>
        </p:txBody>
      </p:sp>
      <p:sp>
        <p:nvSpPr>
          <p:cNvPr id="26" name="Text 24"/>
          <p:cNvSpPr/>
          <p:nvPr/>
        </p:nvSpPr>
        <p:spPr>
          <a:xfrm>
            <a:off x="12065000" y="5580698"/>
            <a:ext cx="5232400" cy="322898"/>
          </a:xfrm>
          <a:prstGeom prst="rect">
            <a:avLst/>
          </a:prstGeom>
          <a:noFill/>
          <a:ln/>
        </p:spPr>
        <p:txBody>
          <a:bodyPr wrap="square" lIns="25400" tIns="25400" rIns="25400" bIns="25400" rtlCol="0" anchor="t">
            <a:normAutofit/>
          </a:bodyPr>
          <a:lstStyle/>
          <a:p>
            <a:pPr algn="l" indent="0" marL="0">
              <a:lnSpc>
                <a:spcPct val="115000"/>
              </a:lnSpc>
              <a:buNone/>
            </a:pPr>
            <a:r>
              <a:rPr lang="en-US" sz="1950" b="1" spc="-19" kern="0" dirty="0">
                <a:solidFill>
                  <a:srgbClr val="4D4B4C"/>
                </a:solidFill>
                <a:latin typeface="Space Grotesk" pitchFamily="34" charset="0"/>
                <a:ea typeface="Space Grotesk" pitchFamily="34" charset="-122"/>
                <a:cs typeface="Space Grotesk" pitchFamily="34" charset="-120"/>
              </a:rPr>
              <a:t>Bucket temporal Dataproc</a:t>
            </a:r>
            <a:endParaRPr lang="en-US" sz="1950" dirty="0"/>
          </a:p>
        </p:txBody>
      </p:sp>
      <p:sp>
        <p:nvSpPr>
          <p:cNvPr id="27" name="Text 25"/>
          <p:cNvSpPr/>
          <p:nvPr/>
        </p:nvSpPr>
        <p:spPr>
          <a:xfrm>
            <a:off x="12065000" y="5979795"/>
            <a:ext cx="5232400" cy="590550"/>
          </a:xfrm>
          <a:prstGeom prst="rect">
            <a:avLst/>
          </a:prstGeom>
          <a:noFill/>
          <a:ln/>
        </p:spPr>
        <p:txBody>
          <a:bodyPr wrap="square" lIns="25400" tIns="25400" rIns="25400" bIns="25400" rtlCol="0" anchor="t">
            <a:normAutofit/>
          </a:bodyPr>
          <a:lstStyle/>
          <a:p>
            <a:pPr algn="l" indent="0" marL="0">
              <a:lnSpc>
                <a:spcPct val="145000"/>
              </a:lnSpc>
              <a:buNone/>
            </a:pPr>
            <a:r>
              <a:rPr lang="en-US" sz="1500" dirty="0">
                <a:solidFill>
                  <a:srgbClr val="6B6869"/>
                </a:solidFill>
                <a:latin typeface="Space Grotesk" pitchFamily="34" charset="0"/>
                <a:ea typeface="Space Grotesk" pitchFamily="34" charset="-122"/>
                <a:cs typeface="Space Grotesk" pitchFamily="34" charset="-120"/>
              </a:rPr>
              <a:t>spark-bigquery requiere temporaryGcsBucket dedicado con lifecycle agresivo de 7 días.</a:t>
            </a:r>
            <a:endParaRPr lang="en-US" sz="1500" dirty="0"/>
          </a:p>
        </p:txBody>
      </p:sp>
      <p:sp>
        <p:nvSpPr>
          <p:cNvPr id="28" name="Shape 26"/>
          <p:cNvSpPr/>
          <p:nvPr/>
        </p:nvSpPr>
        <p:spPr>
          <a:xfrm>
            <a:off x="1143000" y="8441055"/>
            <a:ext cx="16002000" cy="988695"/>
          </a:xfrm>
          <a:prstGeom prst="rect">
            <a:avLst/>
          </a:prstGeom>
          <a:solidFill>
            <a:srgbClr val="E0FBFF"/>
          </a:solidFill>
          <a:ln/>
        </p:spPr>
      </p:sp>
      <p:sp>
        <p:nvSpPr>
          <p:cNvPr id="29" name="Text 27"/>
          <p:cNvSpPr/>
          <p:nvPr/>
        </p:nvSpPr>
        <p:spPr>
          <a:xfrm>
            <a:off x="1409700" y="8631555"/>
            <a:ext cx="15948660" cy="645795"/>
          </a:xfrm>
          <a:prstGeom prst="rect">
            <a:avLst/>
          </a:prstGeom>
          <a:noFill/>
          <a:ln/>
        </p:spPr>
        <p:txBody>
          <a:bodyPr wrap="square" lIns="25400" tIns="25400" rIns="25400" bIns="25400" rtlCol="0" anchor="t">
            <a:normAutofit/>
          </a:bodyPr>
          <a:lstStyle/>
          <a:p>
            <a:pPr algn="l" indent="0" marL="0">
              <a:lnSpc>
                <a:spcPct val="145000"/>
              </a:lnSpc>
              <a:buNone/>
            </a:pPr>
            <a:r>
              <a:rPr lang="en-US" sz="1650" b="1" dirty="0">
                <a:solidFill>
                  <a:srgbClr val="4D4B4C"/>
                </a:solidFill>
                <a:latin typeface="Space Grotesk" pitchFamily="34" charset="0"/>
                <a:ea typeface="Space Grotesk" pitchFamily="34" charset="-122"/>
                <a:cs typeface="Space Grotesk" pitchFamily="34" charset="-120"/>
              </a:rPr>
              <a:t>Transversal · </a:t>
            </a:r>
            <a:pPr algn="l" indent="0" marL="0">
              <a:lnSpc>
                <a:spcPct val="145000"/>
              </a:lnSpc>
              <a:buNone/>
            </a:pPr>
            <a:r>
              <a:rPr lang="en-US" sz="1650" dirty="0">
                <a:solidFill>
                  <a:srgbClr val="4D4B4C"/>
                </a:solidFill>
                <a:highlight>
                  <a:srgbClr val="E0FBFF"/>
                </a:highlight>
                <a:latin typeface="Space Grotesk" pitchFamily="34" charset="0"/>
                <a:ea typeface="Space Grotesk" pitchFamily="34" charset="-122"/>
                <a:cs typeface="Space Grotesk" pitchFamily="34" charset="-120"/>
              </a:rPr>
              <a:t>priorizar servicios gestionados, escribir desde el inicio en IaC, documentar IAM dentro de cada módulo, y monitorear consumo con budgets desde el día uno.</a:t>
            </a:r>
            <a:endParaRPr lang="en-US" sz="1650" dirty="0"/>
          </a:p>
        </p:txBody>
      </p:sp>
      <p:pic>
        <p:nvPicPr>
          <p:cNvPr id="30"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31" name="Text 28"/>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1143000" y="1047750"/>
            <a:ext cx="1648206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ROADMAP · SIGUIENTES PASOS</a:t>
            </a:r>
            <a:endParaRPr lang="en-US" sz="1500" dirty="0"/>
          </a:p>
        </p:txBody>
      </p:sp>
      <p:sp>
        <p:nvSpPr>
          <p:cNvPr id="3" name="Text 1"/>
          <p:cNvSpPr/>
          <p:nvPr/>
        </p:nvSpPr>
        <p:spPr>
          <a:xfrm>
            <a:off x="1143000" y="1524000"/>
            <a:ext cx="16482060" cy="866775"/>
          </a:xfrm>
          <a:prstGeom prst="rect">
            <a:avLst/>
          </a:prstGeom>
          <a:noFill/>
          <a:ln/>
        </p:spPr>
        <p:txBody>
          <a:bodyPr wrap="square" lIns="25400" tIns="25400" rIns="25400" bIns="25400" rtlCol="0" anchor="t">
            <a:normAutofit/>
          </a:bodyPr>
          <a:lstStyle/>
          <a:p>
            <a:pPr algn="l" indent="0" marL="0">
              <a:buNone/>
            </a:pPr>
            <a:r>
              <a:rPr lang="en-US" sz="5100" b="1" spc="-76" kern="0" dirty="0">
                <a:solidFill>
                  <a:srgbClr val="4D4B4C"/>
                </a:solidFill>
                <a:latin typeface="Space Grotesk" pitchFamily="34" charset="0"/>
                <a:ea typeface="Space Grotesk" pitchFamily="34" charset="-122"/>
                <a:cs typeface="Space Grotesk" pitchFamily="34" charset="-120"/>
              </a:rPr>
              <a:t>Tres extensiones naturales</a:t>
            </a:r>
            <a:endParaRPr lang="en-US" sz="5100" dirty="0"/>
          </a:p>
        </p:txBody>
      </p:sp>
      <p:sp>
        <p:nvSpPr>
          <p:cNvPr id="4" name="Shape 2"/>
          <p:cNvSpPr/>
          <p:nvPr/>
        </p:nvSpPr>
        <p:spPr>
          <a:xfrm>
            <a:off x="1143000" y="3114675"/>
            <a:ext cx="5181600" cy="5334000"/>
          </a:xfrm>
          <a:prstGeom prst="rect">
            <a:avLst/>
          </a:prstGeom>
          <a:solidFill>
            <a:srgbClr val="00E1FF"/>
          </a:solidFill>
          <a:ln w="19050">
            <a:solidFill>
              <a:srgbClr val="4D4B4C"/>
            </a:solidFill>
            <a:prstDash val="solid"/>
          </a:ln>
        </p:spPr>
      </p:sp>
      <p:sp>
        <p:nvSpPr>
          <p:cNvPr id="5" name="Text 3"/>
          <p:cNvSpPr/>
          <p:nvPr/>
        </p:nvSpPr>
        <p:spPr>
          <a:xfrm>
            <a:off x="1581150" y="3552825"/>
            <a:ext cx="4434459" cy="285750"/>
          </a:xfrm>
          <a:prstGeom prst="rect">
            <a:avLst/>
          </a:prstGeom>
          <a:noFill/>
          <a:ln/>
        </p:spPr>
        <p:txBody>
          <a:bodyPr wrap="square" lIns="25400" tIns="25400" rIns="25400" bIns="25400" rtlCol="0" anchor="t">
            <a:normAutofit/>
          </a:bodyPr>
          <a:lstStyle/>
          <a:p>
            <a:pPr algn="l" indent="0" marL="0">
              <a:buNone/>
            </a:pPr>
            <a:r>
              <a:rPr lang="en-US" sz="1500" b="1" spc="240" kern="0" dirty="0">
                <a:solidFill>
                  <a:srgbClr val="4D4B4C"/>
                </a:solidFill>
                <a:latin typeface="Space Grotesk" pitchFamily="34" charset="0"/>
                <a:ea typeface="Space Grotesk" pitchFamily="34" charset="-122"/>
                <a:cs typeface="Space Grotesk" pitchFamily="34" charset="-120"/>
              </a:rPr>
              <a:t>HORIZONTE · H1</a:t>
            </a:r>
            <a:endParaRPr lang="en-US" sz="1500" dirty="0"/>
          </a:p>
        </p:txBody>
      </p:sp>
      <p:sp>
        <p:nvSpPr>
          <p:cNvPr id="6" name="Text 4"/>
          <p:cNvSpPr/>
          <p:nvPr/>
        </p:nvSpPr>
        <p:spPr>
          <a:xfrm>
            <a:off x="1581150" y="4105275"/>
            <a:ext cx="4434459" cy="819785"/>
          </a:xfrm>
          <a:prstGeom prst="rect">
            <a:avLst/>
          </a:prstGeom>
          <a:noFill/>
          <a:ln/>
        </p:spPr>
        <p:txBody>
          <a:bodyPr wrap="square" lIns="25400" tIns="25400" rIns="25400" bIns="25400" rtlCol="0" anchor="t">
            <a:normAutofit/>
          </a:bodyPr>
          <a:lstStyle/>
          <a:p>
            <a:pPr algn="l" indent="0" marL="0">
              <a:lnSpc>
                <a:spcPct val="107982"/>
              </a:lnSpc>
              <a:buNone/>
            </a:pPr>
            <a:r>
              <a:rPr lang="en-US" sz="2850" b="1" spc="-43" kern="0" dirty="0">
                <a:solidFill>
                  <a:srgbClr val="4D4B4C"/>
                </a:solidFill>
                <a:latin typeface="Space Grotesk" pitchFamily="34" charset="0"/>
                <a:ea typeface="Space Grotesk" pitchFamily="34" charset="-122"/>
                <a:cs typeface="Space Grotesk" pitchFamily="34" charset="-120"/>
              </a:rPr>
              <a:t>Feature Store en Vertex AI</a:t>
            </a:r>
            <a:endParaRPr lang="en-US" sz="2850" dirty="0"/>
          </a:p>
        </p:txBody>
      </p:sp>
      <p:sp>
        <p:nvSpPr>
          <p:cNvPr id="7" name="Text 5"/>
          <p:cNvSpPr/>
          <p:nvPr/>
        </p:nvSpPr>
        <p:spPr>
          <a:xfrm>
            <a:off x="1581150" y="7098982"/>
            <a:ext cx="4434459" cy="949642"/>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4D4B4C"/>
                </a:solidFill>
                <a:latin typeface="Space Grotesk" pitchFamily="34" charset="0"/>
                <a:ea typeface="Space Grotesk" pitchFamily="34" charset="-122"/>
                <a:cs typeface="Space Grotesk" pitchFamily="34" charset="-120"/>
              </a:rPr>
              <a:t>Versionar las features que alimentan el modelo de fraude y evitar drift entre entrenamiento e inferencia.</a:t>
            </a:r>
            <a:endParaRPr lang="en-US" sz="1650" dirty="0"/>
          </a:p>
        </p:txBody>
      </p:sp>
      <p:sp>
        <p:nvSpPr>
          <p:cNvPr id="8" name="Shape 6"/>
          <p:cNvSpPr/>
          <p:nvPr/>
        </p:nvSpPr>
        <p:spPr>
          <a:xfrm>
            <a:off x="6553200" y="3114675"/>
            <a:ext cx="5181600" cy="5334000"/>
          </a:xfrm>
          <a:prstGeom prst="rect">
            <a:avLst/>
          </a:prstGeom>
          <a:solidFill>
            <a:srgbClr val="FFFFFF"/>
          </a:solidFill>
          <a:ln w="19050">
            <a:solidFill>
              <a:srgbClr val="4D4B4C"/>
            </a:solidFill>
            <a:prstDash val="solid"/>
          </a:ln>
        </p:spPr>
      </p:sp>
      <p:sp>
        <p:nvSpPr>
          <p:cNvPr id="9" name="Text 7"/>
          <p:cNvSpPr/>
          <p:nvPr/>
        </p:nvSpPr>
        <p:spPr>
          <a:xfrm>
            <a:off x="6991350" y="3552825"/>
            <a:ext cx="4434459" cy="285750"/>
          </a:xfrm>
          <a:prstGeom prst="rect">
            <a:avLst/>
          </a:prstGeom>
          <a:noFill/>
          <a:ln/>
        </p:spPr>
        <p:txBody>
          <a:bodyPr wrap="square" lIns="25400" tIns="25400" rIns="25400" bIns="25400" rtlCol="0" anchor="t">
            <a:normAutofit/>
          </a:bodyPr>
          <a:lstStyle/>
          <a:p>
            <a:pPr algn="l" indent="0" marL="0">
              <a:buNone/>
            </a:pPr>
            <a:r>
              <a:rPr lang="en-US" sz="1500" b="1" spc="240" kern="0" dirty="0">
                <a:solidFill>
                  <a:srgbClr val="00B8D4"/>
                </a:solidFill>
                <a:latin typeface="Space Grotesk" pitchFamily="34" charset="0"/>
                <a:ea typeface="Space Grotesk" pitchFamily="34" charset="-122"/>
                <a:cs typeface="Space Grotesk" pitchFamily="34" charset="-120"/>
              </a:rPr>
              <a:t>HORIZONTE · H2</a:t>
            </a:r>
            <a:endParaRPr lang="en-US" sz="1500" dirty="0"/>
          </a:p>
        </p:txBody>
      </p:sp>
      <p:sp>
        <p:nvSpPr>
          <p:cNvPr id="10" name="Text 8"/>
          <p:cNvSpPr/>
          <p:nvPr/>
        </p:nvSpPr>
        <p:spPr>
          <a:xfrm>
            <a:off x="6991350" y="4105275"/>
            <a:ext cx="4434459" cy="819785"/>
          </a:xfrm>
          <a:prstGeom prst="rect">
            <a:avLst/>
          </a:prstGeom>
          <a:noFill/>
          <a:ln/>
        </p:spPr>
        <p:txBody>
          <a:bodyPr wrap="square" lIns="25400" tIns="25400" rIns="25400" bIns="25400" rtlCol="0" anchor="t">
            <a:normAutofit/>
          </a:bodyPr>
          <a:lstStyle/>
          <a:p>
            <a:pPr algn="l" indent="0" marL="0">
              <a:lnSpc>
                <a:spcPct val="107982"/>
              </a:lnSpc>
              <a:buNone/>
            </a:pPr>
            <a:r>
              <a:rPr lang="en-US" sz="2850" b="1" spc="-43" kern="0" dirty="0">
                <a:solidFill>
                  <a:srgbClr val="4D4B4C"/>
                </a:solidFill>
                <a:latin typeface="Space Grotesk" pitchFamily="34" charset="0"/>
                <a:ea typeface="Space Grotesk" pitchFamily="34" charset="-122"/>
                <a:cs typeface="Space Grotesk" pitchFamily="34" charset="-120"/>
              </a:rPr>
              <a:t>BigQuery ML + Gemini Pro</a:t>
            </a:r>
            <a:endParaRPr lang="en-US" sz="2850" dirty="0"/>
          </a:p>
        </p:txBody>
      </p:sp>
      <p:sp>
        <p:nvSpPr>
          <p:cNvPr id="11" name="Text 9"/>
          <p:cNvSpPr/>
          <p:nvPr/>
        </p:nvSpPr>
        <p:spPr>
          <a:xfrm>
            <a:off x="6991350" y="6795135"/>
            <a:ext cx="4434459" cy="1253490"/>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B6869"/>
                </a:solidFill>
                <a:latin typeface="Space Grotesk" pitchFamily="34" charset="0"/>
                <a:ea typeface="Space Grotesk" pitchFamily="34" charset="-122"/>
                <a:cs typeface="Space Grotesk" pitchFamily="34" charset="-120"/>
              </a:rPr>
              <a:t>Migrar scoring a queries SQL + LLM. Habilita un agente que responda al regulador directamente contra el warehouse.</a:t>
            </a:r>
            <a:endParaRPr lang="en-US" sz="1650" dirty="0"/>
          </a:p>
        </p:txBody>
      </p:sp>
      <p:sp>
        <p:nvSpPr>
          <p:cNvPr id="12" name="Shape 10"/>
          <p:cNvSpPr/>
          <p:nvPr/>
        </p:nvSpPr>
        <p:spPr>
          <a:xfrm>
            <a:off x="11963400" y="3114675"/>
            <a:ext cx="5181600" cy="5334000"/>
          </a:xfrm>
          <a:prstGeom prst="rect">
            <a:avLst/>
          </a:prstGeom>
          <a:solidFill>
            <a:srgbClr val="FFFFFF"/>
          </a:solidFill>
          <a:ln w="19050">
            <a:solidFill>
              <a:srgbClr val="4D4B4C"/>
            </a:solidFill>
            <a:prstDash val="solid"/>
          </a:ln>
        </p:spPr>
      </p:sp>
      <p:sp>
        <p:nvSpPr>
          <p:cNvPr id="13" name="Text 11"/>
          <p:cNvSpPr/>
          <p:nvPr/>
        </p:nvSpPr>
        <p:spPr>
          <a:xfrm>
            <a:off x="12401550" y="3552825"/>
            <a:ext cx="4434459" cy="285750"/>
          </a:xfrm>
          <a:prstGeom prst="rect">
            <a:avLst/>
          </a:prstGeom>
          <a:noFill/>
          <a:ln/>
        </p:spPr>
        <p:txBody>
          <a:bodyPr wrap="square" lIns="25400" tIns="25400" rIns="25400" bIns="25400" rtlCol="0" anchor="t">
            <a:normAutofit/>
          </a:bodyPr>
          <a:lstStyle/>
          <a:p>
            <a:pPr algn="l" indent="0" marL="0">
              <a:buNone/>
            </a:pPr>
            <a:r>
              <a:rPr lang="en-US" sz="1500" b="1" spc="240" kern="0" dirty="0">
                <a:solidFill>
                  <a:srgbClr val="00B8D4"/>
                </a:solidFill>
                <a:latin typeface="Space Grotesk" pitchFamily="34" charset="0"/>
                <a:ea typeface="Space Grotesk" pitchFamily="34" charset="-122"/>
                <a:cs typeface="Space Grotesk" pitchFamily="34" charset="-120"/>
              </a:rPr>
              <a:t>HORIZONTE · H3</a:t>
            </a:r>
            <a:endParaRPr lang="en-US" sz="1500" dirty="0"/>
          </a:p>
        </p:txBody>
      </p:sp>
      <p:sp>
        <p:nvSpPr>
          <p:cNvPr id="14" name="Text 12"/>
          <p:cNvSpPr/>
          <p:nvPr/>
        </p:nvSpPr>
        <p:spPr>
          <a:xfrm>
            <a:off x="12401550" y="4105275"/>
            <a:ext cx="4434459" cy="819785"/>
          </a:xfrm>
          <a:prstGeom prst="rect">
            <a:avLst/>
          </a:prstGeom>
          <a:noFill/>
          <a:ln/>
        </p:spPr>
        <p:txBody>
          <a:bodyPr wrap="square" lIns="25400" tIns="25400" rIns="25400" bIns="25400" rtlCol="0" anchor="t">
            <a:normAutofit/>
          </a:bodyPr>
          <a:lstStyle/>
          <a:p>
            <a:pPr algn="l" indent="0" marL="0">
              <a:lnSpc>
                <a:spcPct val="107982"/>
              </a:lnSpc>
              <a:buNone/>
            </a:pPr>
            <a:r>
              <a:rPr lang="en-US" sz="2850" b="1" spc="-43" kern="0" dirty="0">
                <a:solidFill>
                  <a:srgbClr val="4D4B4C"/>
                </a:solidFill>
                <a:latin typeface="Space Grotesk" pitchFamily="34" charset="0"/>
                <a:ea typeface="Space Grotesk" pitchFamily="34" charset="-122"/>
                <a:cs typeface="Space Grotesk" pitchFamily="34" charset="-120"/>
              </a:rPr>
              <a:t>Dataplex como capa de gobierno</a:t>
            </a:r>
            <a:endParaRPr lang="en-US" sz="2850" dirty="0"/>
          </a:p>
        </p:txBody>
      </p:sp>
      <p:sp>
        <p:nvSpPr>
          <p:cNvPr id="15" name="Text 13"/>
          <p:cNvSpPr/>
          <p:nvPr/>
        </p:nvSpPr>
        <p:spPr>
          <a:xfrm>
            <a:off x="12401550" y="7098982"/>
            <a:ext cx="4434459" cy="949642"/>
          </a:xfrm>
          <a:prstGeom prst="rect">
            <a:avLst/>
          </a:prstGeom>
          <a:noFill/>
          <a:ln/>
        </p:spPr>
        <p:txBody>
          <a:bodyPr wrap="square" lIns="25400" tIns="25400" rIns="25400" bIns="25400" rtlCol="0" anchor="t">
            <a:normAutofit/>
          </a:bodyPr>
          <a:lstStyle/>
          <a:p>
            <a:pPr algn="l" indent="0" marL="0">
              <a:lnSpc>
                <a:spcPct val="145000"/>
              </a:lnSpc>
              <a:buNone/>
            </a:pPr>
            <a:r>
              <a:rPr lang="en-US" sz="1650" dirty="0">
                <a:solidFill>
                  <a:srgbClr val="6B6869"/>
                </a:solidFill>
                <a:latin typeface="Space Grotesk" pitchFamily="34" charset="0"/>
                <a:ea typeface="Space Grotesk" pitchFamily="34" charset="-122"/>
                <a:cs typeface="Space Grotesk" pitchFamily="34" charset="-120"/>
              </a:rPr>
              <a:t>Linaje automático y políticas de clasificación de PII sobre el data lake y BigQuery, unificando el catálogo.</a:t>
            </a:r>
            <a:endParaRPr lang="en-US" sz="1650" dirty="0"/>
          </a:p>
        </p:txBody>
      </p:sp>
      <p:sp>
        <p:nvSpPr>
          <p:cNvPr id="16" name="Text 14"/>
          <p:cNvSpPr/>
          <p:nvPr/>
        </p:nvSpPr>
        <p:spPr>
          <a:xfrm>
            <a:off x="1143000" y="8905875"/>
            <a:ext cx="13735050" cy="590550"/>
          </a:xfrm>
          <a:prstGeom prst="rect">
            <a:avLst/>
          </a:prstGeom>
          <a:noFill/>
          <a:ln/>
        </p:spPr>
        <p:txBody>
          <a:bodyPr wrap="square" lIns="25400" tIns="25400" rIns="25400" bIns="25400" rtlCol="0" anchor="t">
            <a:normAutofit/>
          </a:bodyPr>
          <a:lstStyle/>
          <a:p>
            <a:pPr algn="l" indent="0" marL="0">
              <a:buNone/>
            </a:pPr>
            <a:r>
              <a:rPr lang="en-US" sz="1650" dirty="0">
                <a:solidFill>
                  <a:srgbClr val="6B6869"/>
                </a:solidFill>
                <a:latin typeface="Space Grotesk" pitchFamily="34" charset="0"/>
                <a:ea typeface="Space Grotesk" pitchFamily="34" charset="-122"/>
                <a:cs typeface="Space Grotesk" pitchFamily="34" charset="-120"/>
              </a:rPr>
              <a:t>Cada fase agrega capacidades sin invalidar las anteriores. Apache Beam, Spark, Redis, Parquet y Docker protegen la inversión frente a cualquier cambio futuro de proveedor.</a:t>
            </a:r>
            <a:endParaRPr lang="en-US" sz="1650" dirty="0"/>
          </a:p>
        </p:txBody>
      </p:sp>
      <p:pic>
        <p:nvPicPr>
          <p:cNvPr id="17"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18" name="Text 15"/>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7F7"/>
        </a:solidFill>
      </p:bgPr>
    </p:bg>
    <p:spTree>
      <p:nvGrpSpPr>
        <p:cNvPr id="1" name=""/>
        <p:cNvGrpSpPr/>
        <p:nvPr/>
      </p:nvGrpSpPr>
      <p:grpSpPr>
        <a:xfrm>
          <a:off x="0" y="0"/>
          <a:ext cx="0" cy="0"/>
          <a:chOff x="0" y="0"/>
          <a:chExt cx="0" cy="0"/>
        </a:xfrm>
      </p:grpSpPr>
      <p:sp>
        <p:nvSpPr>
          <p:cNvPr id="2" name="Text 0"/>
          <p:cNvSpPr/>
          <p:nvPr/>
        </p:nvSpPr>
        <p:spPr>
          <a:xfrm>
            <a:off x="1143000" y="1047750"/>
            <a:ext cx="16482060" cy="285750"/>
          </a:xfrm>
          <a:prstGeom prst="rect">
            <a:avLst/>
          </a:prstGeom>
          <a:noFill/>
          <a:ln/>
        </p:spPr>
        <p:txBody>
          <a:bodyPr wrap="square" lIns="25400" tIns="25400" rIns="25400" bIns="25400" rtlCol="0" anchor="t">
            <a:normAutofit/>
          </a:bodyPr>
          <a:lstStyle/>
          <a:p>
            <a:pPr algn="l" indent="0" marL="0">
              <a:buNone/>
            </a:pPr>
            <a:r>
              <a:rPr lang="en-US" sz="1500" spc="330" kern="0" dirty="0">
                <a:solidFill>
                  <a:srgbClr val="4D4B4C"/>
                </a:solidFill>
                <a:latin typeface="Space Grotesk" pitchFamily="34" charset="0"/>
                <a:ea typeface="Space Grotesk" pitchFamily="34" charset="-122"/>
                <a:cs typeface="Space Grotesk" pitchFamily="34" charset="-120"/>
              </a:rPr>
              <a:t>CONCLUSIONES</a:t>
            </a:r>
            <a:endParaRPr lang="en-US" sz="1500" dirty="0"/>
          </a:p>
        </p:txBody>
      </p:sp>
      <p:sp>
        <p:nvSpPr>
          <p:cNvPr id="3" name="Text 1"/>
          <p:cNvSpPr/>
          <p:nvPr/>
        </p:nvSpPr>
        <p:spPr>
          <a:xfrm>
            <a:off x="1143000" y="1524000"/>
            <a:ext cx="14716125" cy="1695450"/>
          </a:xfrm>
          <a:prstGeom prst="rect">
            <a:avLst/>
          </a:prstGeom>
          <a:noFill/>
          <a:ln/>
        </p:spPr>
        <p:txBody>
          <a:bodyPr wrap="square" lIns="25400" tIns="25400" rIns="25400" bIns="25400" rtlCol="0" anchor="t">
            <a:normAutofit/>
          </a:bodyPr>
          <a:lstStyle/>
          <a:p>
            <a:pPr algn="l" indent="0" marL="0">
              <a:buNone/>
            </a:pPr>
            <a:r>
              <a:rPr lang="en-US" sz="5100" b="1" spc="-76" kern="0" dirty="0">
                <a:solidFill>
                  <a:srgbClr val="4D4B4C"/>
                </a:solidFill>
                <a:latin typeface="Space Grotesk" pitchFamily="34" charset="0"/>
                <a:ea typeface="Space Grotesk" pitchFamily="34" charset="-122"/>
                <a:cs typeface="Space Grotesk" pitchFamily="34" charset="-120"/>
              </a:rPr>
              <a:t>Lumina Bank no es solo una plataforma técnica</a:t>
            </a:r>
            <a:endParaRPr lang="en-US" sz="5100" dirty="0"/>
          </a:p>
        </p:txBody>
      </p:sp>
      <p:sp>
        <p:nvSpPr>
          <p:cNvPr id="4" name="Text 2"/>
          <p:cNvSpPr/>
          <p:nvPr/>
        </p:nvSpPr>
        <p:spPr>
          <a:xfrm>
            <a:off x="1143000" y="3486150"/>
            <a:ext cx="14716125" cy="861060"/>
          </a:xfrm>
          <a:prstGeom prst="rect">
            <a:avLst/>
          </a:prstGeom>
          <a:noFill/>
          <a:ln/>
        </p:spPr>
        <p:txBody>
          <a:bodyPr wrap="square" lIns="25400" tIns="25400" rIns="25400" bIns="25400" rtlCol="0" anchor="t">
            <a:normAutofit/>
          </a:bodyPr>
          <a:lstStyle/>
          <a:p>
            <a:pPr algn="l" indent="0" marL="0">
              <a:lnSpc>
                <a:spcPct val="135000"/>
              </a:lnSpc>
              <a:buNone/>
            </a:pPr>
            <a:r>
              <a:rPr lang="en-US" sz="2400" dirty="0">
                <a:solidFill>
                  <a:srgbClr val="6B6869"/>
                </a:solidFill>
                <a:latin typeface="Space Grotesk" pitchFamily="34" charset="0"/>
                <a:ea typeface="Space Grotesk" pitchFamily="34" charset="-122"/>
                <a:cs typeface="Space Grotesk" pitchFamily="34" charset="-120"/>
              </a:rPr>
              <a:t>Es la fundación sobre la cual DataLandia puede construir su sistema financiero de próxima generación.</a:t>
            </a:r>
            <a:endParaRPr lang="en-US" sz="2400" dirty="0"/>
          </a:p>
        </p:txBody>
      </p:sp>
      <p:sp>
        <p:nvSpPr>
          <p:cNvPr id="5" name="Shape 3"/>
          <p:cNvSpPr/>
          <p:nvPr/>
        </p:nvSpPr>
        <p:spPr>
          <a:xfrm>
            <a:off x="1143000" y="4994910"/>
            <a:ext cx="3771900" cy="28575"/>
          </a:xfrm>
          <a:prstGeom prst="rect">
            <a:avLst/>
          </a:prstGeom>
          <a:solidFill>
            <a:srgbClr val="00E1FF"/>
          </a:solidFill>
          <a:ln/>
        </p:spPr>
      </p:sp>
      <p:sp>
        <p:nvSpPr>
          <p:cNvPr id="6" name="Text 4"/>
          <p:cNvSpPr/>
          <p:nvPr/>
        </p:nvSpPr>
        <p:spPr>
          <a:xfrm>
            <a:off x="1143000" y="5213985"/>
            <a:ext cx="3885057" cy="300990"/>
          </a:xfrm>
          <a:prstGeom prst="rect">
            <a:avLst/>
          </a:prstGeom>
          <a:noFill/>
          <a:ln/>
        </p:spPr>
        <p:txBody>
          <a:bodyPr wrap="square" lIns="25400" tIns="25400" rIns="25400" bIns="25400" rtlCol="0" anchor="t">
            <a:normAutofit/>
          </a:bodyPr>
          <a:lstStyle/>
          <a:p>
            <a:pPr algn="l" indent="0" marL="0">
              <a:lnSpc>
                <a:spcPct val="115000"/>
              </a:lnSpc>
              <a:buNone/>
            </a:pPr>
            <a:r>
              <a:rPr lang="en-US" sz="1800" b="1" spc="-18" kern="0" dirty="0">
                <a:solidFill>
                  <a:srgbClr val="4D4B4C"/>
                </a:solidFill>
                <a:latin typeface="Space Grotesk" pitchFamily="34" charset="0"/>
                <a:ea typeface="Space Grotesk" pitchFamily="34" charset="-122"/>
                <a:cs typeface="Space Grotesk" pitchFamily="34" charset="-120"/>
              </a:rPr>
              <a:t>Exactly-once sin Kafka</a:t>
            </a:r>
            <a:endParaRPr lang="en-US" sz="1800" dirty="0"/>
          </a:p>
        </p:txBody>
      </p:sp>
      <p:sp>
        <p:nvSpPr>
          <p:cNvPr id="7" name="Text 5"/>
          <p:cNvSpPr/>
          <p:nvPr/>
        </p:nvSpPr>
        <p:spPr>
          <a:xfrm>
            <a:off x="1143000" y="5572125"/>
            <a:ext cx="3885057"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B6869"/>
                </a:solidFill>
                <a:latin typeface="Space Grotesk" pitchFamily="34" charset="0"/>
                <a:ea typeface="Space Grotesk" pitchFamily="34" charset="-122"/>
                <a:cs typeface="Space Grotesk" pitchFamily="34" charset="-120"/>
              </a:rPr>
              <a:t>Pub/Sub + Dataflow absorben picos sin intervención manual.</a:t>
            </a:r>
            <a:endParaRPr lang="en-US" sz="1500" dirty="0"/>
          </a:p>
        </p:txBody>
      </p:sp>
      <p:sp>
        <p:nvSpPr>
          <p:cNvPr id="8" name="Shape 6"/>
          <p:cNvSpPr/>
          <p:nvPr/>
        </p:nvSpPr>
        <p:spPr>
          <a:xfrm>
            <a:off x="5219700" y="4994910"/>
            <a:ext cx="3771900" cy="28575"/>
          </a:xfrm>
          <a:prstGeom prst="rect">
            <a:avLst/>
          </a:prstGeom>
          <a:solidFill>
            <a:srgbClr val="00E1FF"/>
          </a:solidFill>
          <a:ln/>
        </p:spPr>
      </p:sp>
      <p:sp>
        <p:nvSpPr>
          <p:cNvPr id="9" name="Text 7"/>
          <p:cNvSpPr/>
          <p:nvPr/>
        </p:nvSpPr>
        <p:spPr>
          <a:xfrm>
            <a:off x="5219700" y="5213985"/>
            <a:ext cx="3885057" cy="300990"/>
          </a:xfrm>
          <a:prstGeom prst="rect">
            <a:avLst/>
          </a:prstGeom>
          <a:noFill/>
          <a:ln/>
        </p:spPr>
        <p:txBody>
          <a:bodyPr wrap="square" lIns="25400" tIns="25400" rIns="25400" bIns="25400" rtlCol="0" anchor="t">
            <a:normAutofit/>
          </a:bodyPr>
          <a:lstStyle/>
          <a:p>
            <a:pPr algn="l" indent="0" marL="0">
              <a:lnSpc>
                <a:spcPct val="115000"/>
              </a:lnSpc>
              <a:buNone/>
            </a:pPr>
            <a:r>
              <a:rPr lang="en-US" sz="1800" b="1" spc="-18" kern="0" dirty="0">
                <a:solidFill>
                  <a:srgbClr val="4D4B4C"/>
                </a:solidFill>
                <a:latin typeface="Space Grotesk" pitchFamily="34" charset="0"/>
                <a:ea typeface="Space Grotesk" pitchFamily="34" charset="-122"/>
                <a:cs typeface="Space Grotesk" pitchFamily="34" charset="-120"/>
              </a:rPr>
              <a:t>Fan-out elegante</a:t>
            </a:r>
            <a:endParaRPr lang="en-US" sz="1800" dirty="0"/>
          </a:p>
        </p:txBody>
      </p:sp>
      <p:sp>
        <p:nvSpPr>
          <p:cNvPr id="10" name="Text 8"/>
          <p:cNvSpPr/>
          <p:nvPr/>
        </p:nvSpPr>
        <p:spPr>
          <a:xfrm>
            <a:off x="5219700" y="5572125"/>
            <a:ext cx="3885057"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B6869"/>
                </a:solidFill>
                <a:latin typeface="Space Grotesk" pitchFamily="34" charset="0"/>
                <a:ea typeface="Space Grotesk" pitchFamily="34" charset="-122"/>
                <a:cs typeface="Space Grotesk" pitchFamily="34" charset="-120"/>
              </a:rPr>
              <a:t>12 suscripciones filtradas resuelven la fragmentación sin acoplamientos.</a:t>
            </a:r>
            <a:endParaRPr lang="en-US" sz="1500" dirty="0"/>
          </a:p>
        </p:txBody>
      </p:sp>
      <p:sp>
        <p:nvSpPr>
          <p:cNvPr id="11" name="Shape 9"/>
          <p:cNvSpPr/>
          <p:nvPr/>
        </p:nvSpPr>
        <p:spPr>
          <a:xfrm>
            <a:off x="9296400" y="4994910"/>
            <a:ext cx="3771900" cy="28575"/>
          </a:xfrm>
          <a:prstGeom prst="rect">
            <a:avLst/>
          </a:prstGeom>
          <a:solidFill>
            <a:srgbClr val="00E1FF"/>
          </a:solidFill>
          <a:ln/>
        </p:spPr>
      </p:sp>
      <p:sp>
        <p:nvSpPr>
          <p:cNvPr id="12" name="Text 10"/>
          <p:cNvSpPr/>
          <p:nvPr/>
        </p:nvSpPr>
        <p:spPr>
          <a:xfrm>
            <a:off x="9296400" y="5213985"/>
            <a:ext cx="3885057" cy="300990"/>
          </a:xfrm>
          <a:prstGeom prst="rect">
            <a:avLst/>
          </a:prstGeom>
          <a:noFill/>
          <a:ln/>
        </p:spPr>
        <p:txBody>
          <a:bodyPr wrap="square" lIns="25400" tIns="25400" rIns="25400" bIns="25400" rtlCol="0" anchor="t">
            <a:normAutofit/>
          </a:bodyPr>
          <a:lstStyle/>
          <a:p>
            <a:pPr algn="l" indent="0" marL="0">
              <a:lnSpc>
                <a:spcPct val="115000"/>
              </a:lnSpc>
              <a:buNone/>
            </a:pPr>
            <a:r>
              <a:rPr lang="en-US" sz="1800" b="1" spc="-18" kern="0" dirty="0">
                <a:solidFill>
                  <a:srgbClr val="4D4B4C"/>
                </a:solidFill>
                <a:latin typeface="Space Grotesk" pitchFamily="34" charset="0"/>
                <a:ea typeface="Space Grotesk" pitchFamily="34" charset="-122"/>
                <a:cs typeface="Space Grotesk" pitchFamily="34" charset="-120"/>
              </a:rPr>
              <a:t>Polilítico intencional</a:t>
            </a:r>
            <a:endParaRPr lang="en-US" sz="1800" dirty="0"/>
          </a:p>
        </p:txBody>
      </p:sp>
      <p:sp>
        <p:nvSpPr>
          <p:cNvPr id="13" name="Text 11"/>
          <p:cNvSpPr/>
          <p:nvPr/>
        </p:nvSpPr>
        <p:spPr>
          <a:xfrm>
            <a:off x="9296400" y="5572125"/>
            <a:ext cx="3885057"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B6869"/>
                </a:solidFill>
                <a:latin typeface="Space Grotesk" pitchFamily="34" charset="0"/>
                <a:ea typeface="Space Grotesk" pitchFamily="34" charset="-122"/>
                <a:cs typeface="Space Grotesk" pitchFamily="34" charset="-120"/>
              </a:rPr>
              <a:t>Cada base en su sweet spot de latencia y costo — no dogmatismo.</a:t>
            </a:r>
            <a:endParaRPr lang="en-US" sz="1500" dirty="0"/>
          </a:p>
        </p:txBody>
      </p:sp>
      <p:sp>
        <p:nvSpPr>
          <p:cNvPr id="14" name="Shape 12"/>
          <p:cNvSpPr/>
          <p:nvPr/>
        </p:nvSpPr>
        <p:spPr>
          <a:xfrm>
            <a:off x="13373100" y="4994910"/>
            <a:ext cx="3771900" cy="28575"/>
          </a:xfrm>
          <a:prstGeom prst="rect">
            <a:avLst/>
          </a:prstGeom>
          <a:solidFill>
            <a:srgbClr val="00E1FF"/>
          </a:solidFill>
          <a:ln/>
        </p:spPr>
      </p:sp>
      <p:sp>
        <p:nvSpPr>
          <p:cNvPr id="15" name="Text 13"/>
          <p:cNvSpPr/>
          <p:nvPr/>
        </p:nvSpPr>
        <p:spPr>
          <a:xfrm>
            <a:off x="13373100" y="5213985"/>
            <a:ext cx="3885057" cy="300990"/>
          </a:xfrm>
          <a:prstGeom prst="rect">
            <a:avLst/>
          </a:prstGeom>
          <a:noFill/>
          <a:ln/>
        </p:spPr>
        <p:txBody>
          <a:bodyPr wrap="square" lIns="25400" tIns="25400" rIns="25400" bIns="25400" rtlCol="0" anchor="t">
            <a:normAutofit/>
          </a:bodyPr>
          <a:lstStyle/>
          <a:p>
            <a:pPr algn="l" indent="0" marL="0">
              <a:lnSpc>
                <a:spcPct val="115000"/>
              </a:lnSpc>
              <a:buNone/>
            </a:pPr>
            <a:r>
              <a:rPr lang="en-US" sz="1800" b="1" spc="-18" kern="0" dirty="0">
                <a:solidFill>
                  <a:srgbClr val="4D4B4C"/>
                </a:solidFill>
                <a:latin typeface="Space Grotesk" pitchFamily="34" charset="0"/>
                <a:ea typeface="Space Grotesk" pitchFamily="34" charset="-122"/>
                <a:cs typeface="Space Grotesk" pitchFamily="34" charset="-120"/>
              </a:rPr>
              <a:t>IaC reproducible</a:t>
            </a:r>
            <a:endParaRPr lang="en-US" sz="1800" dirty="0"/>
          </a:p>
        </p:txBody>
      </p:sp>
      <p:sp>
        <p:nvSpPr>
          <p:cNvPr id="16" name="Text 14"/>
          <p:cNvSpPr/>
          <p:nvPr/>
        </p:nvSpPr>
        <p:spPr>
          <a:xfrm>
            <a:off x="13373100" y="5572125"/>
            <a:ext cx="3885057" cy="571500"/>
          </a:xfrm>
          <a:prstGeom prst="rect">
            <a:avLst/>
          </a:prstGeom>
          <a:noFill/>
          <a:ln/>
        </p:spPr>
        <p:txBody>
          <a:bodyPr wrap="square" lIns="25400" tIns="25400" rIns="25400" bIns="25400" rtlCol="0" anchor="t">
            <a:normAutofit/>
          </a:bodyPr>
          <a:lstStyle/>
          <a:p>
            <a:pPr algn="l" indent="0" marL="0">
              <a:lnSpc>
                <a:spcPct val="140000"/>
              </a:lnSpc>
              <a:buNone/>
            </a:pPr>
            <a:r>
              <a:rPr lang="en-US" sz="1500" dirty="0">
                <a:solidFill>
                  <a:srgbClr val="6B6869"/>
                </a:solidFill>
                <a:latin typeface="Space Grotesk" pitchFamily="34" charset="0"/>
                <a:ea typeface="Space Grotesk" pitchFamily="34" charset="-122"/>
                <a:cs typeface="Space Grotesk" pitchFamily="34" charset="-120"/>
              </a:rPr>
              <a:t>Destruir y recrear toda la infra en menos de 20 minutos.</a:t>
            </a:r>
            <a:endParaRPr lang="en-US" sz="1500" dirty="0"/>
          </a:p>
        </p:txBody>
      </p:sp>
      <p:pic>
        <p:nvPicPr>
          <p:cNvPr id="17" name="Image 0" descr="preencoded.png">    </p:cNvPr>
          <p:cNvPicPr>
            <a:picLocks noChangeAspect="1"/>
          </p:cNvPicPr>
          <p:nvPr/>
        </p:nvPicPr>
        <p:blipFill>
          <a:blip r:embed="rId1"/>
          <a:stretch>
            <a:fillRect/>
          </a:stretch>
        </p:blipFill>
        <p:spPr>
          <a:xfrm>
            <a:off x="533400" y="9563100"/>
            <a:ext cx="255270" cy="304800"/>
          </a:xfrm>
          <a:prstGeom prst="rect">
            <a:avLst/>
          </a:prstGeom>
        </p:spPr>
      </p:pic>
      <p:sp>
        <p:nvSpPr>
          <p:cNvPr id="18" name="Text 15"/>
          <p:cNvSpPr/>
          <p:nvPr/>
        </p:nvSpPr>
        <p:spPr>
          <a:xfrm>
            <a:off x="922020" y="9620250"/>
            <a:ext cx="2927201" cy="228600"/>
          </a:xfrm>
          <a:prstGeom prst="rect">
            <a:avLst/>
          </a:prstGeom>
          <a:noFill/>
          <a:ln/>
        </p:spPr>
        <p:txBody>
          <a:bodyPr wrap="square" lIns="25400" tIns="25400" rIns="25400" bIns="25400" rtlCol="0" anchor="t">
            <a:normAutofit/>
          </a:bodyPr>
          <a:lstStyle/>
          <a:p>
            <a:pPr algn="l" indent="0" marL="0">
              <a:buNone/>
            </a:pPr>
            <a:r>
              <a:rPr lang="en-US" sz="1125" spc="203" kern="0" dirty="0">
                <a:solidFill>
                  <a:srgbClr val="4D4B4C"/>
                </a:solidFill>
                <a:latin typeface="Space Grotesk" pitchFamily="34" charset="0"/>
                <a:ea typeface="Space Grotesk" pitchFamily="34" charset="-122"/>
                <a:cs typeface="Space Grotesk" pitchFamily="34" charset="-120"/>
              </a:rPr>
              <a:t>POSGRADO UTEC · LUMINA BANK</a:t>
            </a:r>
            <a:endParaRPr lang="en-US" sz="1125"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8288000" cy="10287000"/>
          </a:xfrm>
          <a:prstGeom prst="rect">
            <a:avLst/>
          </a:prstGeom>
          <a:solidFill>
            <a:srgbClr val="0A0A0A"/>
          </a:solidFill>
          <a:ln/>
        </p:spPr>
      </p:sp>
      <p:sp>
        <p:nvSpPr>
          <p:cNvPr id="3" name="Text 1"/>
          <p:cNvSpPr/>
          <p:nvPr/>
        </p:nvSpPr>
        <p:spPr>
          <a:xfrm>
            <a:off x="1143000" y="1524000"/>
            <a:ext cx="8814305" cy="314325"/>
          </a:xfrm>
          <a:prstGeom prst="rect">
            <a:avLst/>
          </a:prstGeom>
          <a:noFill/>
          <a:ln/>
        </p:spPr>
        <p:txBody>
          <a:bodyPr wrap="square" lIns="25400" tIns="25400" rIns="25400" bIns="25400" rtlCol="0" anchor="t">
            <a:normAutofit/>
          </a:bodyPr>
          <a:lstStyle/>
          <a:p>
            <a:pPr algn="l" indent="0" marL="0">
              <a:buNone/>
            </a:pPr>
            <a:r>
              <a:rPr lang="en-US" sz="1650" spc="297" kern="0" dirty="0">
                <a:solidFill>
                  <a:srgbClr val="00E1FF"/>
                </a:solidFill>
                <a:latin typeface="Space Grotesk" pitchFamily="34" charset="0"/>
                <a:ea typeface="Space Grotesk" pitchFamily="34" charset="-122"/>
                <a:cs typeface="Space Grotesk" pitchFamily="34" charset="-120"/>
              </a:rPr>
              <a:t>POSGRADO UTEC · LUMINA BANK</a:t>
            </a:r>
            <a:endParaRPr lang="en-US" sz="1650" dirty="0"/>
          </a:p>
        </p:txBody>
      </p:sp>
      <p:sp>
        <p:nvSpPr>
          <p:cNvPr id="4" name="Text 2"/>
          <p:cNvSpPr/>
          <p:nvPr/>
        </p:nvSpPr>
        <p:spPr>
          <a:xfrm>
            <a:off x="1143000" y="2486025"/>
            <a:ext cx="8814305" cy="2266950"/>
          </a:xfrm>
          <a:prstGeom prst="rect">
            <a:avLst/>
          </a:prstGeom>
          <a:noFill/>
          <a:ln/>
        </p:spPr>
        <p:txBody>
          <a:bodyPr wrap="square" lIns="25400" tIns="25400" rIns="25400" bIns="25400" rtlCol="0" anchor="t">
            <a:normAutofit/>
          </a:bodyPr>
          <a:lstStyle/>
          <a:p>
            <a:pPr algn="l" indent="0" marL="0">
              <a:lnSpc>
                <a:spcPct val="90000"/>
              </a:lnSpc>
              <a:buNone/>
            </a:pPr>
            <a:r>
              <a:rPr lang="en-US" sz="19500" spc="-780" kern="0" dirty="0">
                <a:solidFill>
                  <a:srgbClr val="FFFFFF"/>
                </a:solidFill>
                <a:latin typeface="Space Grotesk" pitchFamily="34" charset="0"/>
                <a:ea typeface="Space Grotesk" pitchFamily="34" charset="-122"/>
                <a:cs typeface="Space Grotesk" pitchFamily="34" charset="-120"/>
              </a:rPr>
              <a:t>Gracias.</a:t>
            </a:r>
            <a:endParaRPr lang="en-US" sz="19500" dirty="0"/>
          </a:p>
        </p:txBody>
      </p:sp>
      <p:sp>
        <p:nvSpPr>
          <p:cNvPr id="5" name="Text 3"/>
          <p:cNvSpPr/>
          <p:nvPr/>
        </p:nvSpPr>
        <p:spPr>
          <a:xfrm>
            <a:off x="1143000" y="5248275"/>
            <a:ext cx="8814305" cy="464820"/>
          </a:xfrm>
          <a:prstGeom prst="rect">
            <a:avLst/>
          </a:prstGeom>
          <a:noFill/>
          <a:ln/>
        </p:spPr>
        <p:txBody>
          <a:bodyPr wrap="square" lIns="25400" tIns="25400" rIns="25400" bIns="25400" rtlCol="0" anchor="t">
            <a:normAutofit/>
          </a:bodyPr>
          <a:lstStyle/>
          <a:p>
            <a:pPr algn="l" indent="0" marL="0">
              <a:lnSpc>
                <a:spcPct val="140000"/>
              </a:lnSpc>
              <a:buNone/>
            </a:pPr>
            <a:r>
              <a:rPr lang="en-US" sz="2400" dirty="0">
                <a:solidFill>
                  <a:srgbClr val="FFFFFF">
                    <a:alpha val="75000"/>
                  </a:srgbClr>
                </a:solidFill>
                <a:latin typeface="Space Grotesk" pitchFamily="34" charset="0"/>
                <a:ea typeface="Space Grotesk" pitchFamily="34" charset="-122"/>
                <a:cs typeface="Space Grotesk" pitchFamily="34" charset="-120"/>
              </a:rPr>
              <a:t>Preguntas del comité.</a:t>
            </a:r>
            <a:endParaRPr lang="en-US" sz="2400" dirty="0"/>
          </a:p>
        </p:txBody>
      </p:sp>
      <p:pic>
        <p:nvPicPr>
          <p:cNvPr id="6" name="Image 0" descr="preencoded.png">    </p:cNvPr>
          <p:cNvPicPr>
            <a:picLocks noChangeAspect="1"/>
          </p:cNvPicPr>
          <p:nvPr/>
        </p:nvPicPr>
        <p:blipFill>
          <a:blip r:embed="rId1"/>
          <a:stretch>
            <a:fillRect/>
          </a:stretch>
        </p:blipFill>
        <p:spPr>
          <a:xfrm>
            <a:off x="1143000" y="8362950"/>
            <a:ext cx="2079466" cy="400050"/>
          </a:xfrm>
          <a:prstGeom prst="rect">
            <a:avLst/>
          </a:prstGeom>
        </p:spPr>
      </p:pic>
      <p:sp>
        <p:nvSpPr>
          <p:cNvPr id="7" name="Text 4"/>
          <p:cNvSpPr/>
          <p:nvPr/>
        </p:nvSpPr>
        <p:spPr>
          <a:xfrm>
            <a:off x="3679666" y="8439150"/>
            <a:ext cx="5473091" cy="285750"/>
          </a:xfrm>
          <a:prstGeom prst="rect">
            <a:avLst/>
          </a:prstGeom>
          <a:noFill/>
          <a:ln/>
        </p:spPr>
        <p:txBody>
          <a:bodyPr wrap="square" lIns="25400" tIns="25400" rIns="25400" bIns="25400" rtlCol="0" anchor="t">
            <a:normAutofit/>
          </a:bodyPr>
          <a:lstStyle/>
          <a:p>
            <a:pPr algn="l" indent="0" marL="0">
              <a:buNone/>
            </a:pPr>
            <a:r>
              <a:rPr lang="en-US" sz="1500" spc="180" kern="0" dirty="0">
                <a:solidFill>
                  <a:srgbClr val="FFFFFF">
                    <a:alpha val="55000"/>
                  </a:srgbClr>
                </a:solidFill>
                <a:latin typeface="Space Grotesk" pitchFamily="34" charset="0"/>
                <a:ea typeface="Space Grotesk" pitchFamily="34" charset="-122"/>
                <a:cs typeface="Space Grotesk" pitchFamily="34" charset="-120"/>
              </a:rPr>
              <a:t>BRAJAN NIETO · SEBASTIÁN LÓPEZ · MATEO TAPIA</a:t>
            </a:r>
            <a:endParaRPr lang="en-US" sz="1500" dirty="0"/>
          </a:p>
        </p:txBody>
      </p:sp>
      <p:sp>
        <p:nvSpPr>
          <p:cNvPr id="8" name="Shape 5"/>
          <p:cNvSpPr/>
          <p:nvPr/>
        </p:nvSpPr>
        <p:spPr>
          <a:xfrm>
            <a:off x="10843578" y="0"/>
            <a:ext cx="7444422" cy="10287000"/>
          </a:xfrm>
          <a:prstGeom prst="rect">
            <a:avLst/>
          </a:prstGeom>
          <a:solidFill>
            <a:srgbClr val="00E1FF"/>
          </a:solidFill>
          <a:ln/>
        </p:spPr>
      </p:sp>
      <p:pic>
        <p:nvPicPr>
          <p:cNvPr id="9" name="Image 1" descr="preencoded.png">    </p:cNvPr>
          <p:cNvPicPr>
            <a:picLocks noChangeAspect="1"/>
          </p:cNvPicPr>
          <p:nvPr/>
        </p:nvPicPr>
        <p:blipFill>
          <a:blip r:embed="rId2"/>
          <a:srcRect l="0" r="0" t="0" b="0"/>
          <a:stretch/>
        </p:blipFill>
        <p:spPr>
          <a:xfrm>
            <a:off x="11587957" y="2165668"/>
            <a:ext cx="5955506" cy="5955506"/>
          </a:xfrm>
          <a:prstGeom prst="rect">
            <a:avLst/>
          </a:prstGeom>
        </p:spPr>
      </p:pic>
      <p:sp>
        <p:nvSpPr>
          <p:cNvPr id="10" name="Text 6"/>
          <p:cNvSpPr/>
          <p:nvPr/>
        </p:nvSpPr>
        <p:spPr>
          <a:xfrm>
            <a:off x="15430977" y="8250873"/>
            <a:ext cx="2387282" cy="1159827"/>
          </a:xfrm>
          <a:prstGeom prst="rect">
            <a:avLst/>
          </a:prstGeom>
          <a:noFill/>
          <a:ln/>
        </p:spPr>
        <p:txBody>
          <a:bodyPr wrap="square" lIns="25400" tIns="25400" rIns="25400" bIns="25400" rtlCol="0" anchor="t">
            <a:normAutofit/>
          </a:bodyPr>
          <a:lstStyle/>
          <a:p>
            <a:pPr algn="l" indent="0" marL="0">
              <a:lnSpc>
                <a:spcPct val="92005"/>
              </a:lnSpc>
              <a:buNone/>
            </a:pPr>
            <a:r>
              <a:rPr lang="en-US" sz="4800" b="1" spc="96" kern="0" dirty="0">
                <a:solidFill>
                  <a:srgbClr val="4D4B4C"/>
                </a:solidFill>
                <a:latin typeface="Space Grotesk" pitchFamily="34" charset="0"/>
                <a:ea typeface="Space Grotesk" pitchFamily="34" charset="-122"/>
                <a:cs typeface="Space Grotesk" pitchFamily="34" charset="-120"/>
              </a:rPr>
              <a:t>HANDS ON.</a:t>
            </a:r>
            <a:endParaRPr lang="en-US" sz="4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26</Slides>
  <Notes>26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26</vt:i4>
      </vt:variant>
    </vt:vector>
  </HeadingPairs>
  <TitlesOfParts>
    <vt:vector size="29"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2026-04-18T14:05:50Z</dcterms:created>
  <dcterms:modified xsi:type="dcterms:W3CDTF">2026-04-18T14:05:50Z</dcterms:modified>
</cp:coreProperties>
</file>