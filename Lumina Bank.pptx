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3" r:id="rId13"/>
    <p:sldId id="268" r:id="rId14"/>
    <p:sldId id="280" r:id="rId15"/>
    <p:sldId id="281" r:id="rId16"/>
    <p:sldId id="282" r:id="rId17"/>
    <p:sldId id="272" r:id="rId18"/>
    <p:sldId id="273" r:id="rId19"/>
    <p:sldId id="285" r:id="rId20"/>
    <p:sldId id="286" r:id="rId21"/>
    <p:sldId id="276" r:id="rId22"/>
    <p:sldId id="284" r:id="rId23"/>
    <p:sldId id="278" r:id="rId24"/>
  </p:sldIdLst>
  <p:sldSz cx="12192000" cy="6858000"/>
  <p:notesSz cx="6858000" cy="9144000"/>
  <p:embeddedFontLst>
    <p:embeddedFont>
      <p:font typeface="Consolas" panose="020B0609020204030204" pitchFamily="49" charset="0"/>
      <p:regular r:id="rId26"/>
      <p:bold r:id="rId27"/>
      <p:italic r:id="rId28"/>
      <p:boldItalic r:id="rId29"/>
    </p:embeddedFont>
    <p:embeddedFont>
      <p:font typeface="Space Grotesk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0FFE32-FB1A-4265-AAB2-1A00FC435DC5}">
  <a:tblStyle styleId="{B70FFE32-FB1A-4265-AAB2-1A00FC435DC5}" styleName="Table_0">
    <a:wholeTbl>
      <a:tcTxStyle b="off" i="off">
        <a:font>
          <a:latin typeface="Tenorite"/>
          <a:ea typeface="Tenorite"/>
          <a:cs typeface="Tenorite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BFAF9"/>
          </a:solidFill>
        </a:fill>
      </a:tcStyle>
    </a:wholeTbl>
    <a:band1H>
      <a:tcTxStyle b="off" i="off"/>
      <a:tcStyle>
        <a:tcBdr/>
        <a:fill>
          <a:solidFill>
            <a:srgbClr val="F6F5F3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6F5F3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Tenorite"/>
          <a:ea typeface="Tenorite"/>
          <a:cs typeface="Tenorite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enorite"/>
          <a:ea typeface="Tenorite"/>
          <a:cs typeface="Tenorite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enorite"/>
          <a:ea typeface="Tenorite"/>
          <a:cs typeface="Tenorite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Tenorite"/>
          <a:ea typeface="Tenorite"/>
          <a:cs typeface="Tenorite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2435763-9C17-43DC-80A8-A50D2EDA7CB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94691"/>
  </p:normalViewPr>
  <p:slideViewPr>
    <p:cSldViewPr snapToGrid="0">
      <p:cViewPr varScale="1">
        <p:scale>
          <a:sx n="213" d="100"/>
          <a:sy n="213" d="100"/>
        </p:scale>
        <p:origin x="1064" y="18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Eventos transaccionales vía HTTPS desde 12 entidades bancarias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Validación de contrato de datos en Cloud Run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Pub/Sub con retención 31 días y Dead Letter Topic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Batch a las 2 AM: Cloud Function extrae cierres contables de 12 bancos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s-ES" sz="1400">
                <a:latin typeface="Arial"/>
                <a:ea typeface="Arial"/>
                <a:cs typeface="Arial"/>
                <a:sym typeface="Arial"/>
              </a:rPr>
              <a:t>Garantía at-least-once con captura automática de mensajes fallidos</a:t>
            </a:r>
            <a:endParaRPr/>
          </a:p>
        </p:txBody>
      </p:sp>
      <p:sp>
        <p:nvSpPr>
          <p:cNvPr id="144" name="Google Shape;144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1" name="Google Shape;2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ff4669a02_6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4" name="Google Shape;244;g3dff4669a02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1">
  <p:cSld name="Título 1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6096000" y="2773681"/>
            <a:ext cx="567436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-1" y="0"/>
            <a:ext cx="8264995" cy="53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ción">
  <p:cSld name="Introdu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 rot="5400000">
            <a:off x="7851419" y="-1244552"/>
            <a:ext cx="3096029" cy="5585137"/>
          </a:xfrm>
          <a:custGeom>
            <a:avLst/>
            <a:gdLst/>
            <a:ahLst/>
            <a:cxnLst/>
            <a:rect l="l" t="t" r="r" b="b"/>
            <a:pathLst>
              <a:path w="1756624" h="6858000" extrusionOk="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3"/>
          <p:cNvSpPr/>
          <p:nvPr/>
        </p:nvSpPr>
        <p:spPr>
          <a:xfrm>
            <a:off x="7010400" y="0"/>
            <a:ext cx="51816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914400" y="315533"/>
            <a:ext cx="5181600" cy="2376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914400" y="2844800"/>
            <a:ext cx="5181600" cy="3128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de sección">
  <p:cSld name="Título de sección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-1"/>
            <a:ext cx="4239206" cy="3776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14400" y="2580640"/>
            <a:ext cx="5181600" cy="3368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>
            <a:spLocks noGrp="1"/>
          </p:cNvSpPr>
          <p:nvPr>
            <p:ph type="pic" idx="2"/>
          </p:nvPr>
        </p:nvSpPr>
        <p:spPr>
          <a:xfrm>
            <a:off x="6085840" y="-10159"/>
            <a:ext cx="6116320" cy="686816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formación general">
  <p:cSld name="Información general">
    <p:bg>
      <p:bgPr>
        <a:solidFill>
          <a:schemeClr val="accent1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 rot="10800000">
            <a:off x="6324600" y="0"/>
            <a:ext cx="5867400" cy="164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6126480" y="1310639"/>
            <a:ext cx="4805997" cy="2689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>
            <a:spLocks noGrp="1"/>
          </p:cNvSpPr>
          <p:nvPr>
            <p:ph type="pic" idx="2"/>
          </p:nvPr>
        </p:nvSpPr>
        <p:spPr>
          <a:xfrm>
            <a:off x="0" y="-1016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6126163" y="4172990"/>
            <a:ext cx="4805997" cy="2389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contenido">
  <p:cSld name="Título y contenid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 flipH="1">
            <a:off x="9135414" y="0"/>
            <a:ext cx="3056586" cy="6858000"/>
          </a:xfrm>
          <a:custGeom>
            <a:avLst/>
            <a:gdLst/>
            <a:ahLst/>
            <a:cxnLst/>
            <a:rect l="l" t="t" r="r" b="b"/>
            <a:pathLst>
              <a:path w="4284372" h="6858000" extrusionOk="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6"/>
          <p:cNvSpPr/>
          <p:nvPr/>
        </p:nvSpPr>
        <p:spPr>
          <a:xfrm>
            <a:off x="7810500" y="3025140"/>
            <a:ext cx="4381500" cy="383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914399" y="2011363"/>
            <a:ext cx="7273638" cy="415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, contenido e imagen a la izquierda 1">
  <p:cSld name="Título, contenido e imagen a la izquierda 1">
    <p:bg>
      <p:bgPr>
        <a:solidFill>
          <a:schemeClr val="dk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 rot="-5400000">
            <a:off x="8039100" y="228600"/>
            <a:ext cx="4381500" cy="3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>
            <a:spLocks noGrp="1"/>
          </p:cNvSpPr>
          <p:nvPr>
            <p:ph type="pic" idx="2"/>
          </p:nvPr>
        </p:nvSpPr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6096000" y="4172990"/>
            <a:ext cx="4896677" cy="2309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dos contenidos 1">
  <p:cSld name="Título y dos contenidos 1">
    <p:bg>
      <p:bgPr>
        <a:solidFill>
          <a:schemeClr val="accen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/>
          <p:nvPr/>
        </p:nvSpPr>
        <p:spPr>
          <a:xfrm rot="10800000">
            <a:off x="9198864" y="-5"/>
            <a:ext cx="2993136" cy="1517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8"/>
          <p:cNvSpPr/>
          <p:nvPr/>
        </p:nvSpPr>
        <p:spPr>
          <a:xfrm rot="-5400000">
            <a:off x="961221" y="4525179"/>
            <a:ext cx="1371600" cy="329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914399" y="2022250"/>
            <a:ext cx="4992709" cy="374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6284891" y="2022250"/>
            <a:ext cx="4992709" cy="374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dos contenidos 2">
  <p:cSld name="Título y dos contenidos 2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 flipH="1">
            <a:off x="-26830" y="5950040"/>
            <a:ext cx="251352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9"/>
          <p:cNvSpPr/>
          <p:nvPr/>
        </p:nvSpPr>
        <p:spPr>
          <a:xfrm rot="5400000">
            <a:off x="9553763" y="-952310"/>
            <a:ext cx="1685928" cy="3590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1"/>
          </p:nvPr>
        </p:nvSpPr>
        <p:spPr>
          <a:xfrm>
            <a:off x="914399" y="2022250"/>
            <a:ext cx="3310129" cy="374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1"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/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1"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1"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1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2"/>
          </p:nvPr>
        </p:nvSpPr>
        <p:spPr>
          <a:xfrm>
            <a:off x="4602310" y="2018120"/>
            <a:ext cx="6751489" cy="374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, contenido e imagen a la derecha">
  <p:cSld name="Título, contenido e imagen a la derecha">
    <p:bg>
      <p:bgPr>
        <a:solidFill>
          <a:schemeClr val="accent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 rot="5400000">
            <a:off x="-115162" y="115164"/>
            <a:ext cx="1895058" cy="166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title"/>
          </p:nvPr>
        </p:nvSpPr>
        <p:spPr>
          <a:xfrm>
            <a:off x="916385" y="446313"/>
            <a:ext cx="5179615" cy="1448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914399" y="2022250"/>
            <a:ext cx="5181600" cy="374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0"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0"/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0"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6076950" y="0"/>
            <a:ext cx="6115050" cy="686888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y tabla del título 1">
  <p:cSld name="Contenido y tabla del título 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/>
          <p:nvPr/>
        </p:nvSpPr>
        <p:spPr>
          <a:xfrm>
            <a:off x="9229725" y="1835240"/>
            <a:ext cx="2962275" cy="5022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1"/>
          <p:cNvSpPr/>
          <p:nvPr/>
        </p:nvSpPr>
        <p:spPr>
          <a:xfrm rot="-5400000">
            <a:off x="149650" y="-149653"/>
            <a:ext cx="1672375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10363202" cy="1603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>
            <a:off x="914399" y="2022250"/>
            <a:ext cx="3299013" cy="391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0"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0"/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0"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dos contenidos 3">
  <p:cSld name="Título y dos contenidos 3">
    <p:bg>
      <p:bgPr>
        <a:solidFill>
          <a:schemeClr val="accen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/>
          <p:nvPr/>
        </p:nvSpPr>
        <p:spPr>
          <a:xfrm rot="10800000">
            <a:off x="10506072" y="3984078"/>
            <a:ext cx="1685928" cy="2873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2"/>
          <p:cNvSpPr/>
          <p:nvPr/>
        </p:nvSpPr>
        <p:spPr>
          <a:xfrm rot="-5400000" flipH="1">
            <a:off x="9781526" y="-311511"/>
            <a:ext cx="2098964" cy="272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title"/>
          </p:nvPr>
        </p:nvSpPr>
        <p:spPr>
          <a:xfrm>
            <a:off x="891990" y="434225"/>
            <a:ext cx="9524998" cy="149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body" idx="1"/>
          </p:nvPr>
        </p:nvSpPr>
        <p:spPr>
          <a:xfrm>
            <a:off x="914399" y="2022250"/>
            <a:ext cx="6257366" cy="391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0"/>
            </a:lvl1pPr>
            <a:lvl2pPr marL="914400" lvl="1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0"/>
            </a:lvl2pPr>
            <a:lvl3pPr marL="1371600" lvl="2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0"/>
            </a:lvl3pPr>
            <a:lvl4pPr marL="1828800" lvl="3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/>
            </a:lvl4pPr>
            <a:lvl5pPr marL="2286000" lvl="4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0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2"/>
          </p:nvPr>
        </p:nvSpPr>
        <p:spPr>
          <a:xfrm>
            <a:off x="7967475" y="2018119"/>
            <a:ext cx="2449514" cy="3931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 b="1"/>
            </a:lvl1pPr>
            <a:lvl2pPr marL="914400" lvl="1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/>
            </a:lvl2pPr>
            <a:lvl3pPr marL="1371600" lvl="2" indent="-330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 b="1"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1"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 b="1"/>
            </a:lvl5pPr>
            <a:lvl6pPr marL="2743200" lvl="5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sa">
  <p:cSld name="Mesa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/>
          <p:nvPr/>
        </p:nvSpPr>
        <p:spPr>
          <a:xfrm rot="5400000">
            <a:off x="9553763" y="-952310"/>
            <a:ext cx="1685928" cy="3590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923545" y="584477"/>
            <a:ext cx="10354052" cy="1209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 2">
  <p:cSld name="Cierre 2">
    <p:bg>
      <p:bgPr>
        <a:solidFill>
          <a:schemeClr val="dk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6091514" y="4172989"/>
            <a:ext cx="5057103" cy="251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/>
          <p:nvPr/>
        </p:nvSpPr>
        <p:spPr>
          <a:xfrm flipH="1">
            <a:off x="0" y="0"/>
            <a:ext cx="51816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6016375" y="2173475"/>
            <a:ext cx="6032100" cy="3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s-ES"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LUMINA BANK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s-ES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ARQUITECTURA DE DATOS END-TO-END SOBRE GOOGLE CLOUD PLATFORM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SISTEMA FINANCIERO UNIFICADO DE DATALANDIA |</a:t>
            </a:r>
            <a:endParaRPr sz="14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/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ES" sz="1400"/>
              <a:t>Lopez Medina, Sebastián</a:t>
            </a:r>
            <a:endParaRPr sz="1400"/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ES" sz="1400"/>
              <a:t>Nieto Espinoza, Brajan</a:t>
            </a:r>
            <a:endParaRPr sz="1400"/>
          </a:p>
          <a:p>
            <a:pPr marL="457200" marR="0" lvl="0" indent="-3175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-ES" sz="1400"/>
              <a:t>Tapia Chasquibol, Mateo </a:t>
            </a:r>
            <a:endParaRPr sz="1400"/>
          </a:p>
        </p:txBody>
      </p:sp>
      <p:sp>
        <p:nvSpPr>
          <p:cNvPr id="92" name="Google Shape;92;p15"/>
          <p:cNvSpPr/>
          <p:nvPr/>
        </p:nvSpPr>
        <p:spPr>
          <a:xfrm>
            <a:off x="-494550" y="-245175"/>
            <a:ext cx="8898723" cy="6040965"/>
          </a:xfrm>
          <a:custGeom>
            <a:avLst/>
            <a:gdLst/>
            <a:ahLst/>
            <a:cxnLst/>
            <a:rect l="l" t="t" r="r" b="b"/>
            <a:pathLst>
              <a:path w="362732" h="240604" extrusionOk="0">
                <a:moveTo>
                  <a:pt x="18789" y="171189"/>
                </a:moveTo>
                <a:lnTo>
                  <a:pt x="130479" y="240604"/>
                </a:lnTo>
                <a:lnTo>
                  <a:pt x="242169" y="192588"/>
                </a:lnTo>
                <a:lnTo>
                  <a:pt x="189978" y="1044"/>
                </a:lnTo>
                <a:lnTo>
                  <a:pt x="0" y="104384"/>
                </a:lnTo>
                <a:lnTo>
                  <a:pt x="4697" y="77766"/>
                </a:lnTo>
                <a:lnTo>
                  <a:pt x="74112" y="183193"/>
                </a:lnTo>
                <a:lnTo>
                  <a:pt x="287576" y="140918"/>
                </a:lnTo>
                <a:lnTo>
                  <a:pt x="312628" y="6263"/>
                </a:lnTo>
                <a:lnTo>
                  <a:pt x="260958" y="2088"/>
                </a:lnTo>
                <a:lnTo>
                  <a:pt x="210854" y="117954"/>
                </a:lnTo>
                <a:lnTo>
                  <a:pt x="109080" y="104906"/>
                </a:lnTo>
                <a:lnTo>
                  <a:pt x="15135" y="23487"/>
                </a:lnTo>
                <a:lnTo>
                  <a:pt x="12526" y="62109"/>
                </a:lnTo>
                <a:lnTo>
                  <a:pt x="128913" y="127348"/>
                </a:lnTo>
                <a:lnTo>
                  <a:pt x="362732" y="2088"/>
                </a:lnTo>
                <a:lnTo>
                  <a:pt x="257305" y="1044"/>
                </a:lnTo>
                <a:lnTo>
                  <a:pt x="141439" y="89770"/>
                </a:lnTo>
                <a:lnTo>
                  <a:pt x="151878" y="4698"/>
                </a:lnTo>
                <a:lnTo>
                  <a:pt x="31837" y="2088"/>
                </a:lnTo>
                <a:lnTo>
                  <a:pt x="54801" y="41754"/>
                </a:lnTo>
                <a:lnTo>
                  <a:pt x="134132" y="1044"/>
                </a:lnTo>
                <a:lnTo>
                  <a:pt x="53757" y="0"/>
                </a:lnTo>
                <a:lnTo>
                  <a:pt x="92379" y="69415"/>
                </a:lnTo>
                <a:lnTo>
                  <a:pt x="228078" y="41754"/>
                </a:lnTo>
                <a:lnTo>
                  <a:pt x="205635" y="2610"/>
                </a:lnTo>
                <a:lnTo>
                  <a:pt x="243213" y="0"/>
                </a:lnTo>
                <a:lnTo>
                  <a:pt x="148746" y="62109"/>
                </a:lnTo>
                <a:lnTo>
                  <a:pt x="88204" y="5741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PE"/>
          </a:p>
        </p:txBody>
      </p:sp>
      <p:pic>
        <p:nvPicPr>
          <p:cNvPr id="93" name="Google Shape;9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00423" y="-245175"/>
            <a:ext cx="2491566" cy="186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>
            <a:spLocks noGrp="1"/>
          </p:cNvSpPr>
          <p:nvPr>
            <p:ph type="title"/>
          </p:nvPr>
        </p:nvSpPr>
        <p:spPr>
          <a:xfrm>
            <a:off x="1357425" y="684558"/>
            <a:ext cx="5181600" cy="23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SOBRE LUMINA BANK</a:t>
            </a:r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1"/>
          </p:nvPr>
        </p:nvSpPr>
        <p:spPr>
          <a:xfrm>
            <a:off x="1357425" y="3466578"/>
            <a:ext cx="5181600" cy="22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Lumina Bank es una alianza público-privada creada para unificar el sistema financiero de DataLandia, una región metropolitana donde operan de forma independiente doce instituciones bancarias que atienden a más de nueve millones de clientes.</a:t>
            </a:r>
            <a:endParaRPr sz="2400"/>
          </a:p>
        </p:txBody>
      </p:sp>
      <p:sp>
        <p:nvSpPr>
          <p:cNvPr id="101" name="Google Shape;101;p16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6" title="Lumina1.png"/>
          <p:cNvPicPr preferRelativeResize="0"/>
          <p:nvPr/>
        </p:nvPicPr>
        <p:blipFill rotWithShape="1">
          <a:blip r:embed="rId3">
            <a:alphaModFix/>
          </a:blip>
          <a:srcRect t="13157"/>
          <a:stretch/>
        </p:blipFill>
        <p:spPr>
          <a:xfrm>
            <a:off x="7907800" y="1868188"/>
            <a:ext cx="2632350" cy="4604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/>
          <p:nvPr/>
        </p:nvSpPr>
        <p:spPr>
          <a:xfrm>
            <a:off x="-3497701" y="-2033352"/>
            <a:ext cx="6791250" cy="5022007"/>
          </a:xfrm>
          <a:custGeom>
            <a:avLst/>
            <a:gdLst/>
            <a:ahLst/>
            <a:cxnLst/>
            <a:rect l="l" t="t" r="r" b="b"/>
            <a:pathLst>
              <a:path w="362732" h="240604" extrusionOk="0">
                <a:moveTo>
                  <a:pt x="18789" y="171189"/>
                </a:moveTo>
                <a:lnTo>
                  <a:pt x="130479" y="240604"/>
                </a:lnTo>
                <a:lnTo>
                  <a:pt x="242169" y="192588"/>
                </a:lnTo>
                <a:lnTo>
                  <a:pt x="189978" y="1044"/>
                </a:lnTo>
                <a:lnTo>
                  <a:pt x="0" y="104384"/>
                </a:lnTo>
                <a:lnTo>
                  <a:pt x="4697" y="77766"/>
                </a:lnTo>
                <a:lnTo>
                  <a:pt x="74112" y="183193"/>
                </a:lnTo>
                <a:lnTo>
                  <a:pt x="287576" y="140918"/>
                </a:lnTo>
                <a:lnTo>
                  <a:pt x="312628" y="6263"/>
                </a:lnTo>
                <a:lnTo>
                  <a:pt x="260958" y="2088"/>
                </a:lnTo>
                <a:lnTo>
                  <a:pt x="210854" y="117954"/>
                </a:lnTo>
                <a:lnTo>
                  <a:pt x="109080" y="104906"/>
                </a:lnTo>
                <a:lnTo>
                  <a:pt x="15135" y="23487"/>
                </a:lnTo>
                <a:lnTo>
                  <a:pt x="12526" y="62109"/>
                </a:lnTo>
                <a:lnTo>
                  <a:pt x="128913" y="127348"/>
                </a:lnTo>
                <a:lnTo>
                  <a:pt x="362732" y="2088"/>
                </a:lnTo>
                <a:lnTo>
                  <a:pt x="257305" y="1044"/>
                </a:lnTo>
                <a:lnTo>
                  <a:pt x="141439" y="89770"/>
                </a:lnTo>
                <a:lnTo>
                  <a:pt x="151878" y="4698"/>
                </a:lnTo>
                <a:lnTo>
                  <a:pt x="31837" y="2088"/>
                </a:lnTo>
                <a:lnTo>
                  <a:pt x="54801" y="41754"/>
                </a:lnTo>
                <a:lnTo>
                  <a:pt x="134132" y="1044"/>
                </a:lnTo>
                <a:lnTo>
                  <a:pt x="53757" y="0"/>
                </a:lnTo>
                <a:lnTo>
                  <a:pt x="92379" y="69415"/>
                </a:lnTo>
                <a:lnTo>
                  <a:pt x="228078" y="41754"/>
                </a:lnTo>
                <a:lnTo>
                  <a:pt x="205635" y="2610"/>
                </a:lnTo>
                <a:lnTo>
                  <a:pt x="243213" y="0"/>
                </a:lnTo>
                <a:lnTo>
                  <a:pt x="148746" y="62109"/>
                </a:lnTo>
                <a:lnTo>
                  <a:pt x="88204" y="5741"/>
                </a:lnTo>
              </a:path>
            </a:pathLst>
          </a:cu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PE"/>
          </a:p>
        </p:txBody>
      </p:sp>
      <p:sp>
        <p:nvSpPr>
          <p:cNvPr id="104" name="Google Shape;104;p16"/>
          <p:cNvSpPr txBox="1"/>
          <p:nvPr/>
        </p:nvSpPr>
        <p:spPr>
          <a:xfrm>
            <a:off x="7066375" y="769600"/>
            <a:ext cx="4315200" cy="10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</a:rPr>
              <a:t>La plataforma consolida en un único sistema compartido, eficiente e integrado sobre Google Cloud Platform.</a:t>
            </a:r>
            <a:endParaRPr sz="2000">
              <a:solidFill>
                <a:schemeClr val="dk1"/>
              </a:solidFill>
            </a:endParaRPr>
          </a:p>
        </p:txBody>
      </p:sp>
      <p:cxnSp>
        <p:nvCxnSpPr>
          <p:cNvPr id="105" name="Google Shape;105;p16"/>
          <p:cNvCxnSpPr/>
          <p:nvPr/>
        </p:nvCxnSpPr>
        <p:spPr>
          <a:xfrm>
            <a:off x="6946425" y="1383675"/>
            <a:ext cx="0" cy="5016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914400" y="2580640"/>
            <a:ext cx="5063067" cy="3368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s-ES"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PROBLEMÁTICA Y OBJETIVOS DEL NEGOCIO</a:t>
            </a:r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7093125" y="1139169"/>
            <a:ext cx="4380600" cy="12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s-ES" sz="3700" b="0" i="0" u="none" strike="noStrike" cap="none">
                <a:latin typeface="Arial"/>
                <a:ea typeface="Arial"/>
                <a:cs typeface="Arial"/>
                <a:sym typeface="Arial"/>
              </a:rPr>
              <a:t>4 PUNTOS DE DOLOR CRÍTICOS</a:t>
            </a:r>
            <a:endParaRPr sz="3700"/>
          </a:p>
        </p:txBody>
      </p:sp>
      <p:cxnSp>
        <p:nvCxnSpPr>
          <p:cNvPr id="113" name="Google Shape;113;p17"/>
          <p:cNvCxnSpPr/>
          <p:nvPr/>
        </p:nvCxnSpPr>
        <p:spPr>
          <a:xfrm>
            <a:off x="6096000" y="1230600"/>
            <a:ext cx="0" cy="50163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" name="Google Shape;114;p17"/>
          <p:cNvSpPr txBox="1">
            <a:spLocks noGrp="1"/>
          </p:cNvSpPr>
          <p:nvPr>
            <p:ph type="body" idx="4294967295"/>
          </p:nvPr>
        </p:nvSpPr>
        <p:spPr>
          <a:xfrm>
            <a:off x="6395501" y="3192369"/>
            <a:ext cx="5571300" cy="207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s-E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Congestión de procesamiento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  <a:p>
            <a:pPr marL="457200" marR="0" lvl="0" indent="-3810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ES" sz="2400">
                <a:solidFill>
                  <a:schemeClr val="lt1"/>
                </a:solidFill>
              </a:rPr>
              <a:t>F</a:t>
            </a:r>
            <a:r>
              <a:rPr lang="es-E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ragmentación entre 12 bancos</a:t>
            </a:r>
            <a:endParaRPr sz="2400">
              <a:solidFill>
                <a:schemeClr val="lt1"/>
              </a:solidFill>
            </a:endParaRPr>
          </a:p>
          <a:p>
            <a:pPr marL="45720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  <a:p>
            <a:pPr marL="457200" marR="0" lvl="0" indent="-3810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ES" sz="2400">
                <a:solidFill>
                  <a:schemeClr val="lt1"/>
                </a:solidFill>
              </a:rPr>
              <a:t>D</a:t>
            </a:r>
            <a:r>
              <a:rPr lang="es-E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esajuste de infraestructura física </a:t>
            </a:r>
            <a:endParaRPr sz="2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</a:endParaRPr>
          </a:p>
          <a:p>
            <a:pPr marL="457200" marR="0" lvl="0" indent="-38100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s-ES" sz="2400">
                <a:solidFill>
                  <a:schemeClr val="lt1"/>
                </a:solidFill>
              </a:rPr>
              <a:t>A</a:t>
            </a:r>
            <a:r>
              <a:rPr lang="es-ES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usencia de analítica en tiempo real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6428150" y="3203118"/>
            <a:ext cx="352800" cy="23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6395500" y="3721268"/>
            <a:ext cx="352800" cy="23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6395500" y="4239418"/>
            <a:ext cx="352800" cy="23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6395500" y="4757568"/>
            <a:ext cx="352800" cy="23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-2117775" y="-2463325"/>
            <a:ext cx="8898723" cy="6040965"/>
          </a:xfrm>
          <a:custGeom>
            <a:avLst/>
            <a:gdLst/>
            <a:ahLst/>
            <a:cxnLst/>
            <a:rect l="l" t="t" r="r" b="b"/>
            <a:pathLst>
              <a:path w="362732" h="240604" extrusionOk="0">
                <a:moveTo>
                  <a:pt x="18789" y="171189"/>
                </a:moveTo>
                <a:lnTo>
                  <a:pt x="130479" y="240604"/>
                </a:lnTo>
                <a:lnTo>
                  <a:pt x="242169" y="192588"/>
                </a:lnTo>
                <a:lnTo>
                  <a:pt x="189978" y="1044"/>
                </a:lnTo>
                <a:lnTo>
                  <a:pt x="0" y="104384"/>
                </a:lnTo>
                <a:lnTo>
                  <a:pt x="4697" y="77766"/>
                </a:lnTo>
                <a:lnTo>
                  <a:pt x="74112" y="183193"/>
                </a:lnTo>
                <a:lnTo>
                  <a:pt x="287576" y="140918"/>
                </a:lnTo>
                <a:lnTo>
                  <a:pt x="312628" y="6263"/>
                </a:lnTo>
                <a:lnTo>
                  <a:pt x="260958" y="2088"/>
                </a:lnTo>
                <a:lnTo>
                  <a:pt x="210854" y="117954"/>
                </a:lnTo>
                <a:lnTo>
                  <a:pt x="109080" y="104906"/>
                </a:lnTo>
                <a:lnTo>
                  <a:pt x="15135" y="23487"/>
                </a:lnTo>
                <a:lnTo>
                  <a:pt x="12526" y="62109"/>
                </a:lnTo>
                <a:lnTo>
                  <a:pt x="128913" y="127348"/>
                </a:lnTo>
                <a:lnTo>
                  <a:pt x="362732" y="2088"/>
                </a:lnTo>
                <a:lnTo>
                  <a:pt x="257305" y="1044"/>
                </a:lnTo>
                <a:lnTo>
                  <a:pt x="141439" y="89770"/>
                </a:lnTo>
                <a:lnTo>
                  <a:pt x="151878" y="4698"/>
                </a:lnTo>
                <a:lnTo>
                  <a:pt x="31837" y="2088"/>
                </a:lnTo>
                <a:lnTo>
                  <a:pt x="54801" y="41754"/>
                </a:lnTo>
                <a:lnTo>
                  <a:pt x="134132" y="1044"/>
                </a:lnTo>
                <a:lnTo>
                  <a:pt x="53757" y="0"/>
                </a:lnTo>
                <a:lnTo>
                  <a:pt x="92379" y="69415"/>
                </a:lnTo>
                <a:lnTo>
                  <a:pt x="228078" y="41754"/>
                </a:lnTo>
                <a:lnTo>
                  <a:pt x="205635" y="2610"/>
                </a:lnTo>
                <a:lnTo>
                  <a:pt x="243213" y="0"/>
                </a:lnTo>
                <a:lnTo>
                  <a:pt x="148746" y="62109"/>
                </a:lnTo>
                <a:lnTo>
                  <a:pt x="88204" y="5741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P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xfrm>
            <a:off x="5444475" y="427100"/>
            <a:ext cx="5548200" cy="15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s-ES"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OBJETIVOS DEL PROYECTO</a:t>
            </a:r>
            <a:endParaRPr/>
          </a:p>
        </p:txBody>
      </p:sp>
      <p:sp>
        <p:nvSpPr>
          <p:cNvPr id="126" name="Google Shape;126;p18"/>
          <p:cNvSpPr txBox="1">
            <a:spLocks noGrp="1"/>
          </p:cNvSpPr>
          <p:nvPr>
            <p:ph type="body" idx="1"/>
          </p:nvPr>
        </p:nvSpPr>
        <p:spPr>
          <a:xfrm>
            <a:off x="4644975" y="2199950"/>
            <a:ext cx="6347700" cy="7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s-ES" sz="1800" i="0" u="none" strike="noStrike" cap="none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Plataforma unificada sobre GCP que consolide las 12 entidades en un sistema compartido con decisiones en tiempo real y analítica consistente</a:t>
            </a:r>
            <a:r>
              <a:rPr lang="es-E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400"/>
          </a:p>
        </p:txBody>
      </p:sp>
      <p:sp>
        <p:nvSpPr>
          <p:cNvPr id="127" name="Google Shape;127;p18"/>
          <p:cNvSpPr/>
          <p:nvPr/>
        </p:nvSpPr>
        <p:spPr>
          <a:xfrm>
            <a:off x="-2117775" y="-2463325"/>
            <a:ext cx="8898723" cy="6040965"/>
          </a:xfrm>
          <a:custGeom>
            <a:avLst/>
            <a:gdLst/>
            <a:ahLst/>
            <a:cxnLst/>
            <a:rect l="l" t="t" r="r" b="b"/>
            <a:pathLst>
              <a:path w="362732" h="240604" extrusionOk="0">
                <a:moveTo>
                  <a:pt x="18789" y="171189"/>
                </a:moveTo>
                <a:lnTo>
                  <a:pt x="130479" y="240604"/>
                </a:lnTo>
                <a:lnTo>
                  <a:pt x="242169" y="192588"/>
                </a:lnTo>
                <a:lnTo>
                  <a:pt x="189978" y="1044"/>
                </a:lnTo>
                <a:lnTo>
                  <a:pt x="0" y="104384"/>
                </a:lnTo>
                <a:lnTo>
                  <a:pt x="4697" y="77766"/>
                </a:lnTo>
                <a:lnTo>
                  <a:pt x="74112" y="183193"/>
                </a:lnTo>
                <a:lnTo>
                  <a:pt x="287576" y="140918"/>
                </a:lnTo>
                <a:lnTo>
                  <a:pt x="312628" y="6263"/>
                </a:lnTo>
                <a:lnTo>
                  <a:pt x="260958" y="2088"/>
                </a:lnTo>
                <a:lnTo>
                  <a:pt x="210854" y="117954"/>
                </a:lnTo>
                <a:lnTo>
                  <a:pt x="109080" y="104906"/>
                </a:lnTo>
                <a:lnTo>
                  <a:pt x="15135" y="23487"/>
                </a:lnTo>
                <a:lnTo>
                  <a:pt x="12526" y="62109"/>
                </a:lnTo>
                <a:lnTo>
                  <a:pt x="128913" y="127348"/>
                </a:lnTo>
                <a:lnTo>
                  <a:pt x="362732" y="2088"/>
                </a:lnTo>
                <a:lnTo>
                  <a:pt x="257305" y="1044"/>
                </a:lnTo>
                <a:lnTo>
                  <a:pt x="141439" y="89770"/>
                </a:lnTo>
                <a:lnTo>
                  <a:pt x="151878" y="4698"/>
                </a:lnTo>
                <a:lnTo>
                  <a:pt x="31837" y="2088"/>
                </a:lnTo>
                <a:lnTo>
                  <a:pt x="54801" y="41754"/>
                </a:lnTo>
                <a:lnTo>
                  <a:pt x="134132" y="1044"/>
                </a:lnTo>
                <a:lnTo>
                  <a:pt x="53757" y="0"/>
                </a:lnTo>
                <a:lnTo>
                  <a:pt x="92379" y="69415"/>
                </a:lnTo>
                <a:lnTo>
                  <a:pt x="228078" y="41754"/>
                </a:lnTo>
                <a:lnTo>
                  <a:pt x="205635" y="2610"/>
                </a:lnTo>
                <a:lnTo>
                  <a:pt x="243213" y="0"/>
                </a:lnTo>
                <a:lnTo>
                  <a:pt x="148746" y="62109"/>
                </a:lnTo>
                <a:lnTo>
                  <a:pt x="88204" y="5741"/>
                </a:ln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PE"/>
          </a:p>
        </p:txBody>
      </p:sp>
      <p:sp>
        <p:nvSpPr>
          <p:cNvPr id="128" name="Google Shape;128;p18"/>
          <p:cNvSpPr txBox="1"/>
          <p:nvPr/>
        </p:nvSpPr>
        <p:spPr>
          <a:xfrm>
            <a:off x="1603950" y="3763875"/>
            <a:ext cx="10106700" cy="25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Char char="●"/>
            </a:pPr>
            <a:r>
              <a:rPr lang="es-ES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Evaluar el riesgo de fraude de cada transacción y devolver al core bancario de origen la decisión de aprobación o bloqueo.</a:t>
            </a:r>
            <a:endParaRPr sz="18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Char char="●"/>
            </a:pPr>
            <a:r>
              <a:rPr lang="es-ES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Distribuir las transacciones aprobadas a cada banco mediante un patrón fan-out que respete los ritmos y los sistemas internos de cada entidad.</a:t>
            </a:r>
            <a:endParaRPr sz="180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Char char="●"/>
            </a:pPr>
            <a:r>
              <a:rPr lang="es-ES" sz="1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Generar diariamente pronósticos de liquidez por banco, métricas de utilización de la red física y modelos de scoring actualizados con los últimos noventa días de historia.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1619591" y="3933957"/>
            <a:ext cx="352800" cy="23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1586941" y="5540678"/>
            <a:ext cx="352800" cy="23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1586941" y="4732132"/>
            <a:ext cx="352800" cy="235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ARQUITECTURA DE LA SOLUCIÓN — 4 FASES</a:t>
            </a:r>
            <a:endParaRPr/>
          </a:p>
        </p:txBody>
      </p:sp>
      <p:sp>
        <p:nvSpPr>
          <p:cNvPr id="138" name="Google Shape;138;p19"/>
          <p:cNvSpPr txBox="1">
            <a:spLocks noGrp="1"/>
          </p:cNvSpPr>
          <p:nvPr>
            <p:ph type="body" idx="1"/>
          </p:nvPr>
        </p:nvSpPr>
        <p:spPr>
          <a:xfrm>
            <a:off x="914400" y="2022250"/>
            <a:ext cx="4817534" cy="374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Fase 1 — Ingesta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Streaming vía Cloud Run + Pub/Sub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Batch vía Cloud Function + Scheduler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ED7D31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Fase 2 — Procesamiento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Apache Beam sobre Dataflow (streaming)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PySpark sobre Dataproc (batch)</a:t>
            </a:r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body" idx="2"/>
          </p:nvPr>
        </p:nvSpPr>
        <p:spPr>
          <a:xfrm>
            <a:off x="6284891" y="2022250"/>
            <a:ext cx="4992709" cy="374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Fase 3 — Almacenamiento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BigQuery, Bigtable, Redis, Cloud Storage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Fan-out Pub/Sub con 12 suscripciones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ED7D31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Fase 4 — Servicio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 Run API + BFF + Looker Studio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Vertex AI Endpoints para ML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FASE 1 — INGESTA</a:t>
            </a:r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body" idx="1"/>
          </p:nvPr>
        </p:nvSpPr>
        <p:spPr>
          <a:xfrm>
            <a:off x="7671662" y="3470150"/>
            <a:ext cx="3830700" cy="9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600"/>
              <a:buFont typeface="Arial"/>
              <a:buChar char="•"/>
            </a:pPr>
            <a:r>
              <a:rPr lang="es-ES" sz="1600" b="1" i="0" u="none" strike="noStrike" cap="non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Streaming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 → Cloud Run → Pub/Sub</a:t>
            </a:r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20" title="Lumina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382438"/>
            <a:ext cx="10056138" cy="531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/>
          <p:nvPr/>
        </p:nvSpPr>
        <p:spPr>
          <a:xfrm>
            <a:off x="7617250" y="5495775"/>
            <a:ext cx="40212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-1651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</a:pPr>
            <a:r>
              <a:rPr lang="es-ES" sz="1600" b="1">
                <a:solidFill>
                  <a:schemeClr val="accent2"/>
                </a:solidFill>
              </a:rPr>
              <a:t>Batch</a:t>
            </a:r>
            <a:endParaRPr sz="2000" b="1">
              <a:solidFill>
                <a:schemeClr val="dk1"/>
              </a:solidFill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es-ES" b="1">
                <a:solidFill>
                  <a:schemeClr val="dk1"/>
                </a:solidFill>
              </a:rPr>
              <a:t>Scheduler → Cloud Function → GCS</a:t>
            </a:r>
            <a:endParaRPr sz="20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916385" y="446313"/>
            <a:ext cx="5628348" cy="1448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FASE 2 — PROCESAMIENTO</a:t>
            </a:r>
            <a:endParaRPr/>
          </a:p>
        </p:txBody>
      </p:sp>
      <p:sp>
        <p:nvSpPr>
          <p:cNvPr id="157" name="Google Shape;157;p21"/>
          <p:cNvSpPr txBox="1">
            <a:spLocks noGrp="1"/>
          </p:cNvSpPr>
          <p:nvPr>
            <p:ph type="body" idx="1"/>
          </p:nvPr>
        </p:nvSpPr>
        <p:spPr>
          <a:xfrm>
            <a:off x="914399" y="2022250"/>
            <a:ext cx="4817400" cy="3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Streaming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Apache Beam / Dataflow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Fraude &lt; 200 ms con Vertex AI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Exactly-once garantizado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ED7D31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Batch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PySpark / Dataproc efímero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GBT con Spark MLlib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90 días de historial</a:t>
            </a:r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21"/>
          <p:cNvPicPr preferRelativeResize="0"/>
          <p:nvPr/>
        </p:nvPicPr>
        <p:blipFill rotWithShape="1">
          <a:blip r:embed="rId3">
            <a:alphaModFix/>
          </a:blip>
          <a:srcRect l="35073"/>
          <a:stretch/>
        </p:blipFill>
        <p:spPr>
          <a:xfrm>
            <a:off x="4845362" y="639362"/>
            <a:ext cx="7079013" cy="600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10363202" cy="1603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FASE 3 — ALMACENAMIENTO POLIGLÓTICO</a:t>
            </a:r>
            <a:endParaRPr/>
          </a:p>
        </p:txBody>
      </p:sp>
      <p:sp>
        <p:nvSpPr>
          <p:cNvPr id="166" name="Google Shape;166;p22"/>
          <p:cNvSpPr txBox="1">
            <a:spLocks noGrp="1"/>
          </p:cNvSpPr>
          <p:nvPr>
            <p:ph type="body" idx="1"/>
          </p:nvPr>
        </p:nvSpPr>
        <p:spPr>
          <a:xfrm>
            <a:off x="914399" y="2022250"/>
            <a:ext cx="3299013" cy="391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dato se almacena en la</a:t>
            </a:r>
            <a:endParaRPr sz="1400"/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tecnología óptima para su patrón de</a:t>
            </a:r>
            <a:endParaRPr sz="1400"/>
          </a:p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acceso: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Redis</a:t>
            </a: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cache sub-ms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Bigtable</a:t>
            </a: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perfiles de usuario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BigQuery</a:t>
            </a: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analítica y DW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 Storage</a:t>
            </a: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data lake Parquet</a:t>
            </a:r>
            <a:endParaRPr/>
          </a:p>
        </p:txBody>
      </p:sp>
      <p:graphicFrame>
        <p:nvGraphicFramePr>
          <p:cNvPr id="167" name="Google Shape;167;p22"/>
          <p:cNvGraphicFramePr/>
          <p:nvPr/>
        </p:nvGraphicFramePr>
        <p:xfrm>
          <a:off x="4602163" y="2017713"/>
          <a:ext cx="6675400" cy="3925500"/>
        </p:xfrm>
        <a:graphic>
          <a:graphicData uri="http://schemas.openxmlformats.org/drawingml/2006/table">
            <a:tbl>
              <a:tblPr firstRow="1" bandRow="1">
                <a:noFill/>
                <a:tableStyleId>{B70FFE32-FB1A-4265-AAB2-1A00FC435DC5}</a:tableStyleId>
              </a:tblPr>
              <a:tblGrid>
                <a:gridCol w="1668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b="1" u="none" strike="noStrike" cap="none">
                          <a:solidFill>
                            <a:schemeClr val="dk1"/>
                          </a:solidFill>
                        </a:rPr>
                        <a:t>Tecnología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b="1" u="none" strike="noStrike" cap="none">
                          <a:solidFill>
                            <a:schemeClr val="dk1"/>
                          </a:solidFill>
                        </a:rPr>
                        <a:t>Uso Principal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b="1" u="none" strike="noStrike" cap="none">
                          <a:solidFill>
                            <a:schemeClr val="dk1"/>
                          </a:solidFill>
                        </a:rPr>
                        <a:t>Latencia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b="1" u="none" strike="noStrike" cap="none">
                          <a:solidFill>
                            <a:schemeClr val="dk1"/>
                          </a:solidFill>
                        </a:rPr>
                        <a:t>Patrón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Redis (Memorystore)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Cache transacciones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Sub-ms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Key-value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Bigtable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Perfiles de usuario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1-2 ms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Wide-column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BigQuery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DW y analítica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Segundos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Columnar SQL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5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Cloud Storage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Data Lake Parquet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Variable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Object store</a:t>
                      </a:r>
                      <a:endParaRPr sz="1400" u="none" strike="noStrike" cap="none"/>
                    </a:p>
                  </a:txBody>
                  <a:tcPr marL="95175" marR="95175" marT="47600" marB="476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8" name="Google Shape;168;p22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 txBox="1">
            <a:spLocks noGrp="1"/>
          </p:cNvSpPr>
          <p:nvPr>
            <p:ph type="title"/>
          </p:nvPr>
        </p:nvSpPr>
        <p:spPr>
          <a:xfrm>
            <a:off x="891990" y="434225"/>
            <a:ext cx="9524998" cy="1499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FASE 4 — SERVICIO Y CONSUMO</a:t>
            </a:r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body" idx="1"/>
          </p:nvPr>
        </p:nvSpPr>
        <p:spPr>
          <a:xfrm>
            <a:off x="914399" y="2022250"/>
            <a:ext cx="5579534" cy="391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Cloud Run — API Backend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endpoints protegidos por IAM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Consultas parametrizadas a BigQuery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ED7D31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Frontend / BFF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Dashboard con Jinja2 + proxy BFF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ED7D31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Looker Studio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Conexión nativa a BigQuery</a:t>
            </a:r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body" idx="2"/>
          </p:nvPr>
        </p:nvSpPr>
        <p:spPr>
          <a:xfrm>
            <a:off x="7967475" y="2018119"/>
            <a:ext cx="2449514" cy="3931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7D31"/>
              </a:buClr>
              <a:buSzPts val="1400"/>
              <a:buFont typeface="Arial"/>
              <a:buNone/>
            </a:pPr>
            <a:r>
              <a:rPr lang="es-ES" sz="1400" b="1" i="0" u="none" strike="noStrike" cap="none">
                <a:solidFill>
                  <a:srgbClr val="ED7D31"/>
                </a:solidFill>
                <a:latin typeface="Arial"/>
                <a:ea typeface="Arial"/>
                <a:cs typeface="Arial"/>
                <a:sym typeface="Arial"/>
              </a:rPr>
              <a:t>Dashboards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Ejecutivo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Fraude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Liquidez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 Física</a:t>
            </a:r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>
            <a:spLocks noGrp="1"/>
          </p:cNvSpPr>
          <p:nvPr>
            <p:ph type="title"/>
          </p:nvPr>
        </p:nvSpPr>
        <p:spPr>
          <a:xfrm>
            <a:off x="923545" y="584477"/>
            <a:ext cx="10354052" cy="1209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STACK TECNOLÓGICO</a:t>
            </a:r>
            <a:endParaRPr/>
          </a:p>
        </p:txBody>
      </p:sp>
      <p:graphicFrame>
        <p:nvGraphicFramePr>
          <p:cNvPr id="184" name="Google Shape;184;p24"/>
          <p:cNvGraphicFramePr/>
          <p:nvPr/>
        </p:nvGraphicFramePr>
        <p:xfrm>
          <a:off x="923925" y="2009775"/>
          <a:ext cx="10363175" cy="3934000"/>
        </p:xfrm>
        <a:graphic>
          <a:graphicData uri="http://schemas.openxmlformats.org/drawingml/2006/table">
            <a:tbl>
              <a:tblPr firstRow="1" bandRow="1">
                <a:noFill/>
                <a:tableStyleId>{B70FFE32-FB1A-4265-AAB2-1A00FC435DC5}</a:tableStyleId>
              </a:tblPr>
              <a:tblGrid>
                <a:gridCol w="432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b="1" u="none" strike="noStrike" cap="none">
                          <a:solidFill>
                            <a:schemeClr val="dk1"/>
                          </a:solidFill>
                        </a:rPr>
                        <a:t>Capa</a:t>
                      </a:r>
                      <a:endParaRPr sz="1400" u="none" strike="noStrike" cap="none"/>
                    </a:p>
                  </a:txBody>
                  <a:tcPr marL="28800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b="1" u="none" strike="noStrike" cap="none">
                          <a:solidFill>
                            <a:schemeClr val="dk1"/>
                          </a:solidFill>
                        </a:rPr>
                        <a:t>Servicio GCP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b="1" u="none" strike="noStrike" cap="none">
                          <a:solidFill>
                            <a:schemeClr val="dk1"/>
                          </a:solidFill>
                        </a:rPr>
                        <a:t>Tecnología Base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b="1" u="none" strike="noStrike" cap="none">
                          <a:solidFill>
                            <a:schemeClr val="dk1"/>
                          </a:solidFill>
                        </a:rPr>
                        <a:t>Propósito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Ingesta</a:t>
                      </a:r>
                      <a:endParaRPr sz="1400" u="none" strike="noStrike" cap="none"/>
                    </a:p>
                  </a:txBody>
                  <a:tcPr marL="28800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Cloud Run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Flask / Docker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API transaccional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000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Ingesta</a:t>
                      </a:r>
                      <a:endParaRPr sz="1400" u="none" strike="noStrike" cap="none"/>
                    </a:p>
                  </a:txBody>
                  <a:tcPr marL="28800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Pub/Sub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Serverless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Mensajería at-least-once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000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Procesamiento</a:t>
                      </a:r>
                      <a:endParaRPr sz="1400" u="none" strike="noStrike" cap="none"/>
                    </a:p>
                  </a:txBody>
                  <a:tcPr marL="28800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Dataflow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Apache Beam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Streaming pipeline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000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Procesamiento</a:t>
                      </a:r>
                      <a:endParaRPr sz="1400" u="none" strike="noStrike" cap="none"/>
                    </a:p>
                  </a:txBody>
                  <a:tcPr marL="28800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Dataproc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PySpark / MLlib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Batch + ML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000">
                <a:tc>
                  <a:txBody>
                    <a:bodyPr/>
                    <a:lstStyle/>
                    <a:p>
                      <a:pPr marL="457200" marR="0" lvl="1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Almacenamiento</a:t>
                      </a:r>
                      <a:endParaRPr sz="1400" u="none" strike="noStrike" cap="none"/>
                    </a:p>
                  </a:txBody>
                  <a:tcPr marL="28800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BigQuery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SQL columnar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Data Warehouse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Servicio</a:t>
                      </a:r>
                      <a:endParaRPr sz="1400" u="none" strike="noStrike" cap="none"/>
                    </a:p>
                  </a:txBody>
                  <a:tcPr marL="28800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Vertex AI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XGBoost / GBT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ES" sz="1400" u="none" strike="noStrike" cap="none">
                          <a:solidFill>
                            <a:schemeClr val="dk1"/>
                          </a:solidFill>
                        </a:rPr>
                        <a:t>Modelo de fraude</a:t>
                      </a:r>
                      <a:endParaRPr sz="14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5" name="Google Shape;185;p24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>
            <a:spLocks noGrp="1"/>
          </p:cNvSpPr>
          <p:nvPr>
            <p:ph type="title"/>
          </p:nvPr>
        </p:nvSpPr>
        <p:spPr>
          <a:xfrm>
            <a:off x="914400" y="2580650"/>
            <a:ext cx="5826600" cy="33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s-ES"/>
              <a:t>IMPLEMENTACIÓN DETALLADA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/>
              <a:t>INFRAESTRUCTURA COMO CÓDIGO — TERRAFORM</a:t>
            </a:r>
            <a:endParaRPr/>
          </a:p>
        </p:txBody>
      </p:sp>
      <p:sp>
        <p:nvSpPr>
          <p:cNvPr id="196" name="Google Shape;196;p26"/>
          <p:cNvSpPr txBox="1">
            <a:spLocks noGrp="1"/>
          </p:cNvSpPr>
          <p:nvPr>
            <p:ph type="body" idx="1"/>
          </p:nvPr>
        </p:nvSpPr>
        <p:spPr>
          <a:xfrm>
            <a:off x="914399" y="2011363"/>
            <a:ext cx="300000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s-ES" sz="1500" dirty="0"/>
              <a:t>Toda la infraestructura definida como código en </a:t>
            </a:r>
            <a:r>
              <a:rPr lang="es-ES" sz="1500" b="1" dirty="0"/>
              <a:t>5 módulos Terraform</a:t>
            </a:r>
            <a:r>
              <a:rPr lang="es-ES" sz="1500" dirty="0"/>
              <a:t>, conectados por </a:t>
            </a:r>
            <a:r>
              <a:rPr lang="es-ES" sz="1500" b="1" dirty="0"/>
              <a:t>depends_on</a:t>
            </a:r>
            <a:r>
              <a:rPr lang="es-ES" sz="1500" dirty="0"/>
              <a:t> y </a:t>
            </a:r>
            <a:r>
              <a:rPr lang="es-ES" sz="1500" b="1" dirty="0"/>
              <a:t>outputs</a:t>
            </a:r>
            <a:r>
              <a:rPr lang="es-ES" sz="1500" dirty="0"/>
              <a:t>.</a:t>
            </a:r>
          </a:p>
          <a:p>
            <a:pPr marL="0" indent="0" algn="l">
              <a:lnSpc>
                <a:spcPct val="120000"/>
              </a:lnSpc>
              <a:spcBef>
                <a:spcPts val="800"/>
              </a:spcBef>
              <a:buNone/>
            </a:pPr>
            <a:r>
              <a:rPr lang="es-ES" sz="1300" dirty="0">
                <a:solidFill>
                  <a:srgbClr val="5A5A5A"/>
                </a:solidFill>
              </a:rPr>
              <a:t>Reproducible en </a:t>
            </a:r>
            <a:r>
              <a:rPr lang="es-ES" sz="1300" b="1" dirty="0">
                <a:solidFill>
                  <a:srgbClr val="ED7D31"/>
                </a:solidFill>
              </a:rPr>
              <a:t>&lt; 20 minutos</a:t>
            </a:r>
            <a:r>
              <a:rPr lang="es-ES" sz="1300" dirty="0">
                <a:solidFill>
                  <a:srgbClr val="5A5A5A"/>
                </a:solidFill>
              </a:rPr>
              <a:t> en cualquier proyecto GCP.</a:t>
            </a:r>
          </a:p>
        </p:txBody>
      </p:sp>
      <p:sp>
        <p:nvSpPr>
          <p:cNvPr id="197" name="Google Shape;197;p26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/>
              <a:t>12</a:t>
            </a:fld>
            <a:endParaRPr dirty="0"/>
          </a:p>
        </p:txBody>
      </p:sp>
      <p:sp>
        <p:nvSpPr>
          <p:cNvPr id="600" name="TfH"/>
          <p:cNvSpPr txBox="1"/>
          <p:nvPr/>
        </p:nvSpPr>
        <p:spPr>
          <a:xfrm>
            <a:off x="4267200" y="2032000"/>
            <a:ext cx="7162800" cy="355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s-ES" sz="1300" b="1" dirty="0">
                <a:solidFill>
                  <a:srgbClr val="ED7D31"/>
                </a:solidFill>
              </a:rPr>
              <a:t>5 módulos Terraform</a:t>
            </a:r>
          </a:p>
        </p:txBody>
      </p:sp>
      <p:sp>
        <p:nvSpPr>
          <p:cNvPr id="601" name="TfMod0"/>
          <p:cNvSpPr/>
          <p:nvPr/>
        </p:nvSpPr>
        <p:spPr>
          <a:xfrm>
            <a:off x="4362450" y="2540000"/>
            <a:ext cx="22225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1100" b="1" dirty="0">
                <a:solidFill>
                  <a:srgbClr val="ED7D31"/>
                </a:solidFill>
              </a:rPr>
              <a:t>network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s-ES" sz="900" dirty="0">
                <a:solidFill>
                  <a:srgbClr val="3A3A3A"/>
                </a:solidFill>
              </a:rPr>
              <a:t>VPC, subnets, NAT, IAM</a:t>
            </a:r>
          </a:p>
        </p:txBody>
      </p:sp>
      <p:sp>
        <p:nvSpPr>
          <p:cNvPr id="602" name="TfMod1"/>
          <p:cNvSpPr/>
          <p:nvPr/>
        </p:nvSpPr>
        <p:spPr>
          <a:xfrm>
            <a:off x="6737350" y="2540000"/>
            <a:ext cx="22225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1100" b="1" dirty="0">
                <a:solidFill>
                  <a:srgbClr val="ED7D31"/>
                </a:solidFill>
              </a:rPr>
              <a:t>ingestion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s-ES" sz="900" dirty="0">
                <a:solidFill>
                  <a:srgbClr val="3A3A3A"/>
                </a:solidFill>
              </a:rPr>
              <a:t>Cloud Run, Pub/Sub, GCS</a:t>
            </a:r>
          </a:p>
        </p:txBody>
      </p:sp>
      <p:sp>
        <p:nvSpPr>
          <p:cNvPr id="603" name="TfMod2"/>
          <p:cNvSpPr/>
          <p:nvPr/>
        </p:nvSpPr>
        <p:spPr>
          <a:xfrm>
            <a:off x="9112250" y="2540000"/>
            <a:ext cx="22225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1100" b="1" dirty="0">
                <a:solidFill>
                  <a:srgbClr val="ED7D31"/>
                </a:solidFill>
              </a:rPr>
              <a:t>processing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s-ES" sz="900" dirty="0">
                <a:solidFill>
                  <a:srgbClr val="3A3A3A"/>
                </a:solidFill>
              </a:rPr>
              <a:t>Dataflow, Dataproc, Redis</a:t>
            </a:r>
          </a:p>
        </p:txBody>
      </p:sp>
      <p:sp>
        <p:nvSpPr>
          <p:cNvPr id="604" name="TfMod3"/>
          <p:cNvSpPr/>
          <p:nvPr/>
        </p:nvSpPr>
        <p:spPr>
          <a:xfrm>
            <a:off x="5549900" y="3581400"/>
            <a:ext cx="22225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1100" b="1" dirty="0">
                <a:solidFill>
                  <a:srgbClr val="ED7D31"/>
                </a:solidFill>
              </a:rPr>
              <a:t>storage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s-ES" sz="900" dirty="0">
                <a:solidFill>
                  <a:srgbClr val="3A3A3A"/>
                </a:solidFill>
              </a:rPr>
              <a:t>BigQuery, Data Lake, Fan-out</a:t>
            </a:r>
          </a:p>
        </p:txBody>
      </p:sp>
      <p:sp>
        <p:nvSpPr>
          <p:cNvPr id="605" name="TfMod4"/>
          <p:cNvSpPr/>
          <p:nvPr/>
        </p:nvSpPr>
        <p:spPr>
          <a:xfrm>
            <a:off x="7924800" y="3581400"/>
            <a:ext cx="22225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1100" b="1" dirty="0">
                <a:solidFill>
                  <a:srgbClr val="ED7D31"/>
                </a:solidFill>
              </a:rPr>
              <a:t>serving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s-ES" sz="900" dirty="0">
                <a:solidFill>
                  <a:srgbClr val="3A3A3A"/>
                </a:solidFill>
              </a:rPr>
              <a:t>Cloud Run BFF/API, Vertex AI</a:t>
            </a:r>
          </a:p>
        </p:txBody>
      </p:sp>
      <p:sp>
        <p:nvSpPr>
          <p:cNvPr id="606" name="DepH"/>
          <p:cNvSpPr txBox="1"/>
          <p:nvPr/>
        </p:nvSpPr>
        <p:spPr>
          <a:xfrm>
            <a:off x="914400" y="4826000"/>
            <a:ext cx="10515600" cy="30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s-ES" sz="1300" b="1" dirty="0">
                <a:solidFill>
                  <a:srgbClr val="ED7D31"/>
                </a:solidFill>
              </a:rPr>
              <a:t>Flujo de despliegue</a:t>
            </a:r>
          </a:p>
        </p:txBody>
      </p:sp>
      <p:sp>
        <p:nvSpPr>
          <p:cNvPr id="607" name="Dep0"/>
          <p:cNvSpPr/>
          <p:nvPr/>
        </p:nvSpPr>
        <p:spPr>
          <a:xfrm>
            <a:off x="1981200" y="5207000"/>
            <a:ext cx="2540000" cy="762000"/>
          </a:xfrm>
          <a:prstGeom prst="roundRect">
            <a:avLst/>
          </a:prstGeom>
          <a:solidFill>
            <a:schemeClr val="accent2"/>
          </a:solidFill>
          <a:ln w="9525">
            <a:solidFill>
              <a:srgbClr val="1F1F1F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1200" b="1" dirty="0">
                <a:latin typeface="Consolas"/>
              </a:rPr>
              <a:t>terraform init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s-ES" sz="900" dirty="0">
                <a:solidFill>
                  <a:srgbClr val="FFFFFF"/>
                </a:solidFill>
              </a:rPr>
              <a:t>Descarga providers</a:t>
            </a:r>
          </a:p>
        </p:txBody>
      </p:sp>
      <p:sp>
        <p:nvSpPr>
          <p:cNvPr id="608" name="DepArr0"/>
          <p:cNvSpPr/>
          <p:nvPr/>
        </p:nvSpPr>
        <p:spPr>
          <a:xfrm>
            <a:off x="4521200" y="5486400"/>
            <a:ext cx="381000" cy="203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609" name="Dep1"/>
          <p:cNvSpPr/>
          <p:nvPr/>
        </p:nvSpPr>
        <p:spPr>
          <a:xfrm>
            <a:off x="4902200" y="5207000"/>
            <a:ext cx="2540000" cy="762000"/>
          </a:xfrm>
          <a:prstGeom prst="roundRect">
            <a:avLst/>
          </a:prstGeom>
          <a:solidFill>
            <a:schemeClr val="accent2"/>
          </a:solidFill>
          <a:ln w="9525">
            <a:solidFill>
              <a:srgbClr val="1F1F1F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1200" b="1" dirty="0">
                <a:latin typeface="Consolas"/>
              </a:rPr>
              <a:t>terraform plan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s-ES" sz="900" dirty="0">
                <a:solidFill>
                  <a:srgbClr val="FFFFFF"/>
                </a:solidFill>
              </a:rPr>
              <a:t>Calcula diff</a:t>
            </a:r>
          </a:p>
        </p:txBody>
      </p:sp>
      <p:sp>
        <p:nvSpPr>
          <p:cNvPr id="610" name="DepArr1"/>
          <p:cNvSpPr/>
          <p:nvPr/>
        </p:nvSpPr>
        <p:spPr>
          <a:xfrm>
            <a:off x="7442200" y="5486400"/>
            <a:ext cx="381000" cy="203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611" name="Dep2"/>
          <p:cNvSpPr/>
          <p:nvPr/>
        </p:nvSpPr>
        <p:spPr>
          <a:xfrm>
            <a:off x="7823200" y="5207000"/>
            <a:ext cx="2540000" cy="762000"/>
          </a:xfrm>
          <a:prstGeom prst="roundRect">
            <a:avLst/>
          </a:prstGeom>
          <a:solidFill>
            <a:schemeClr val="accent2"/>
          </a:solidFill>
          <a:ln w="9525">
            <a:solidFill>
              <a:srgbClr val="1F1F1F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1200" b="1" dirty="0">
                <a:latin typeface="Consolas"/>
              </a:rPr>
              <a:t>terraform apply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s-ES" sz="900" dirty="0">
                <a:solidFill>
                  <a:srgbClr val="FFFFFF"/>
                </a:solidFill>
              </a:rPr>
              <a:t>Crea recursos en GCP</a:t>
            </a:r>
          </a:p>
        </p:txBody>
      </p:sp>
      <p:sp>
        <p:nvSpPr>
          <p:cNvPr id="612" name="DFoot"/>
          <p:cNvSpPr txBox="1"/>
          <p:nvPr/>
        </p:nvSpPr>
        <p:spPr>
          <a:xfrm>
            <a:off x="914400" y="6070600"/>
            <a:ext cx="10515600" cy="254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s-ES" sz="900" i="1" dirty="0">
                <a:solidFill>
                  <a:srgbClr val="5A5A5A"/>
                </a:solidFill>
              </a:rPr>
              <a:t>Primera ejecución: 10–15 min (Dataproc + Redis tardan más)</a:t>
            </a:r>
          </a:p>
        </p:txBody>
      </p:sp>
    </p:spTree>
    <p:extLst>
      <p:ext uri="{BB962C8B-B14F-4D97-AF65-F5344CB8AC3E}">
        <p14:creationId xmlns:p14="http://schemas.microsoft.com/office/powerpoint/2010/main" val="1950473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/>
              <a:t>PIPELINE STREAMING — APACHE BEAM</a:t>
            </a:r>
            <a:endParaRPr/>
          </a:p>
        </p:txBody>
      </p:sp>
      <p:sp>
        <p:nvSpPr>
          <p:cNvPr id="204" name="Google Shape;204;p27"/>
          <p:cNvSpPr txBox="1">
            <a:spLocks noGrp="1"/>
          </p:cNvSpPr>
          <p:nvPr>
            <p:ph type="body" idx="1"/>
          </p:nvPr>
        </p:nvSpPr>
        <p:spPr>
          <a:xfrm>
            <a:off x="914399" y="2011363"/>
            <a:ext cx="7273638" cy="415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ES" sz="1400"/>
              <a:t>7 etapas encadenadas sobre Dataflow (DataflowRunner):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</a:pPr>
            <a:endParaRPr sz="600"/>
          </a:p>
          <a:p>
            <a:pPr marL="228600" lvl="0" indent="-2286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1"/>
              <a:t>ReadFromPubSub</a:t>
            </a:r>
            <a:r>
              <a:rPr lang="es-ES" sz="1400"/>
              <a:t> — consume suscripción del tópico de ingesta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1"/>
              <a:t>ParseTransaction</a:t>
            </a:r>
            <a:r>
              <a:rPr lang="es-ES" sz="1400"/>
              <a:t> — decodifica JSON, valida campos, enriquece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1"/>
              <a:t>EnrichWithFraudScore</a:t>
            </a:r>
            <a:r>
              <a:rPr lang="es-ES" sz="1400"/>
              <a:t> — invoca Vertex AI endpoint (&lt; 200 ms)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1"/>
              <a:t>WriteBigtable</a:t>
            </a:r>
            <a:r>
              <a:rPr lang="es-ES" sz="1400"/>
              <a:t> — actualiza perfil cliente (row_key: bank#customer)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1"/>
              <a:t>WriteRedis</a:t>
            </a:r>
            <a:r>
              <a:rPr lang="es-ES" sz="1400"/>
              <a:t> — cache txn:{id} con TTL 3600s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1"/>
              <a:t>WriteBigQuery</a:t>
            </a:r>
            <a:r>
              <a:rPr lang="es-ES" sz="1400"/>
              <a:t> — streaming insert con WRITE_APPEND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1"/>
              <a:t>PublishDistribution</a:t>
            </a:r>
            <a:r>
              <a:rPr lang="es-ES" sz="1400"/>
              <a:t> — fan-out a 12 suscripciones por banco</a:t>
            </a:r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/>
              <a:t>13</a:t>
            </a:fld>
            <a:endParaRPr/>
          </a:p>
        </p:txBody>
      </p:sp>
      <p:pic>
        <p:nvPicPr>
          <p:cNvPr id="206" name="Google Shape;206;p27" title="Screenshot 2026-04-17 at 16-09-03 beamapp-ve…-o6ud4xal – Dataflow – lumina-bank-big-dat… – Google Cloud conso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5824" y="516075"/>
            <a:ext cx="2312825" cy="582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/>
              <a:t>PIPELINE BATCH — PYSPARK SOBRE DATAPROC</a:t>
            </a:r>
            <a:endParaRPr/>
          </a:p>
        </p:txBody>
      </p:sp>
      <p:sp>
        <p:nvSpPr>
          <p:cNvPr id="212" name="Google Shape;212;p28"/>
          <p:cNvSpPr txBox="1">
            <a:spLocks noGrp="1"/>
          </p:cNvSpPr>
          <p:nvPr>
            <p:ph type="body" idx="1"/>
          </p:nvPr>
        </p:nvSpPr>
        <p:spPr>
          <a:xfrm>
            <a:off x="914399" y="2011363"/>
            <a:ext cx="7273638" cy="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s-ES" sz="1500" dirty="0"/>
              <a:t>7 etapas encadenadas sobre Dataflow. Procesamiento continuo y autoescalable que absorbe picos sin intervencion manual.</a:t>
            </a:r>
          </a:p>
        </p:txBody>
      </p:sp>
      <p:sp>
        <p:nvSpPr>
          <p:cNvPr id="213" name="Google Shape;213;p28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/>
              <a:t>14</a:t>
            </a:fld>
            <a:endParaRPr/>
          </a:p>
        </p:txBody>
      </p:sp>
      <p:sp>
        <p:nvSpPr>
          <p:cNvPr id="300" name="DiagHeading"/>
          <p:cNvSpPr txBox="1"/>
          <p:nvPr/>
        </p:nvSpPr>
        <p:spPr>
          <a:xfrm>
            <a:off x="914400" y="3111500"/>
            <a:ext cx="10515600" cy="355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s-ES" sz="1300" b="1" dirty="0">
                <a:solidFill>
                  <a:srgbClr val="ED7D31"/>
                </a:solidFill>
              </a:rPr>
              <a:t>Flujo de las 7 etapas</a:t>
            </a:r>
          </a:p>
        </p:txBody>
      </p:sp>
      <p:sp>
        <p:nvSpPr>
          <p:cNvPr id="301" name="StageBox0"/>
          <p:cNvSpPr/>
          <p:nvPr/>
        </p:nvSpPr>
        <p:spPr>
          <a:xfrm>
            <a:off x="1187450" y="3784600"/>
            <a:ext cx="1206500" cy="1041400"/>
          </a:xfrm>
          <a:prstGeom prst="roundRect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900" b="1" dirty="0">
                <a:solidFill>
                  <a:srgbClr val="FFFFFF"/>
                </a:solidFill>
              </a:rPr>
              <a:t>ReadFromPubSub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 dirty="0">
                <a:solidFill>
                  <a:srgbClr val="FFFFFF"/>
                </a:solidFill>
              </a:rPr>
              <a:t>Suscripcion ingesta</a:t>
            </a:r>
          </a:p>
        </p:txBody>
      </p:sp>
      <p:sp>
        <p:nvSpPr>
          <p:cNvPr id="302" name="Num0"/>
          <p:cNvSpPr/>
          <p:nvPr/>
        </p:nvSpPr>
        <p:spPr>
          <a:xfrm>
            <a:off x="1612900" y="3556000"/>
            <a:ext cx="355600" cy="355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1200" b="1" dirty="0">
                <a:solidFill>
                  <a:srgbClr val="ED7D31"/>
                </a:solidFill>
              </a:rPr>
              <a:t>1</a:t>
            </a:r>
          </a:p>
        </p:txBody>
      </p:sp>
      <p:sp>
        <p:nvSpPr>
          <p:cNvPr id="303" name="Arrow0"/>
          <p:cNvSpPr/>
          <p:nvPr/>
        </p:nvSpPr>
        <p:spPr>
          <a:xfrm>
            <a:off x="2393950" y="4203700"/>
            <a:ext cx="254000" cy="203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304" name="StageBox1"/>
          <p:cNvSpPr/>
          <p:nvPr/>
        </p:nvSpPr>
        <p:spPr>
          <a:xfrm>
            <a:off x="2647950" y="3784600"/>
            <a:ext cx="1206500" cy="1041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900" b="1" dirty="0">
                <a:solidFill>
                  <a:srgbClr val="1F1F1F"/>
                </a:solidFill>
              </a:rPr>
              <a:t>ParseTransaction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 dirty="0">
                <a:solidFill>
                  <a:srgbClr val="5A5A5A"/>
                </a:solidFill>
              </a:rPr>
              <a:t>Decodifica + valida</a:t>
            </a:r>
          </a:p>
        </p:txBody>
      </p:sp>
      <p:sp>
        <p:nvSpPr>
          <p:cNvPr id="305" name="Num1"/>
          <p:cNvSpPr/>
          <p:nvPr/>
        </p:nvSpPr>
        <p:spPr>
          <a:xfrm>
            <a:off x="3073400" y="3556000"/>
            <a:ext cx="355600" cy="3556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1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6" name="Arrow1"/>
          <p:cNvSpPr/>
          <p:nvPr/>
        </p:nvSpPr>
        <p:spPr>
          <a:xfrm>
            <a:off x="3854450" y="4203700"/>
            <a:ext cx="254000" cy="203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307" name="StageBox2"/>
          <p:cNvSpPr/>
          <p:nvPr/>
        </p:nvSpPr>
        <p:spPr>
          <a:xfrm>
            <a:off x="4108450" y="3784600"/>
            <a:ext cx="1206500" cy="1041400"/>
          </a:xfrm>
          <a:prstGeom prst="roundRect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900" b="1" dirty="0">
                <a:solidFill>
                  <a:srgbClr val="FFFFFF"/>
                </a:solidFill>
              </a:rPr>
              <a:t>EnrichWithFraud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 dirty="0">
                <a:solidFill>
                  <a:srgbClr val="FFFFFF"/>
                </a:solidFill>
              </a:rPr>
              <a:t>Vertex AI &lt;200ms</a:t>
            </a:r>
          </a:p>
        </p:txBody>
      </p:sp>
      <p:sp>
        <p:nvSpPr>
          <p:cNvPr id="308" name="Num2"/>
          <p:cNvSpPr/>
          <p:nvPr/>
        </p:nvSpPr>
        <p:spPr>
          <a:xfrm>
            <a:off x="4533900" y="3556000"/>
            <a:ext cx="355600" cy="355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1200" b="1" dirty="0">
                <a:solidFill>
                  <a:srgbClr val="ED7D31"/>
                </a:solidFill>
              </a:rPr>
              <a:t>3</a:t>
            </a:r>
          </a:p>
        </p:txBody>
      </p:sp>
      <p:sp>
        <p:nvSpPr>
          <p:cNvPr id="309" name="Arrow2"/>
          <p:cNvSpPr/>
          <p:nvPr/>
        </p:nvSpPr>
        <p:spPr>
          <a:xfrm>
            <a:off x="5314950" y="4203700"/>
            <a:ext cx="254000" cy="203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310" name="StageBox3"/>
          <p:cNvSpPr/>
          <p:nvPr/>
        </p:nvSpPr>
        <p:spPr>
          <a:xfrm>
            <a:off x="5568950" y="3784600"/>
            <a:ext cx="1206500" cy="1041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900" b="1" dirty="0">
                <a:solidFill>
                  <a:srgbClr val="1F1F1F"/>
                </a:solidFill>
              </a:rPr>
              <a:t>WriteBigtable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 dirty="0">
                <a:solidFill>
                  <a:srgbClr val="5A5A5A"/>
                </a:solidFill>
              </a:rPr>
              <a:t>Perfil cliente</a:t>
            </a:r>
          </a:p>
        </p:txBody>
      </p:sp>
      <p:sp>
        <p:nvSpPr>
          <p:cNvPr id="311" name="Num3"/>
          <p:cNvSpPr/>
          <p:nvPr/>
        </p:nvSpPr>
        <p:spPr>
          <a:xfrm>
            <a:off x="5994400" y="3556000"/>
            <a:ext cx="355600" cy="3556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1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2" name="Arrow3"/>
          <p:cNvSpPr/>
          <p:nvPr/>
        </p:nvSpPr>
        <p:spPr>
          <a:xfrm>
            <a:off x="6775450" y="4203700"/>
            <a:ext cx="254000" cy="203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313" name="StageBox4"/>
          <p:cNvSpPr/>
          <p:nvPr/>
        </p:nvSpPr>
        <p:spPr>
          <a:xfrm>
            <a:off x="7029450" y="3784600"/>
            <a:ext cx="1206500" cy="1041400"/>
          </a:xfrm>
          <a:prstGeom prst="roundRect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900" b="1" dirty="0">
                <a:solidFill>
                  <a:srgbClr val="FFFFFF"/>
                </a:solidFill>
              </a:rPr>
              <a:t>WriteRedis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 dirty="0">
                <a:solidFill>
                  <a:srgbClr val="FFFFFF"/>
                </a:solidFill>
              </a:rPr>
              <a:t>Cache TTL 3600s</a:t>
            </a:r>
          </a:p>
        </p:txBody>
      </p:sp>
      <p:sp>
        <p:nvSpPr>
          <p:cNvPr id="314" name="Num4"/>
          <p:cNvSpPr/>
          <p:nvPr/>
        </p:nvSpPr>
        <p:spPr>
          <a:xfrm>
            <a:off x="7454900" y="3556000"/>
            <a:ext cx="355600" cy="355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1200" b="1" dirty="0">
                <a:solidFill>
                  <a:srgbClr val="ED7D31"/>
                </a:solidFill>
              </a:rPr>
              <a:t>5</a:t>
            </a:r>
          </a:p>
        </p:txBody>
      </p:sp>
      <p:sp>
        <p:nvSpPr>
          <p:cNvPr id="315" name="Arrow4"/>
          <p:cNvSpPr/>
          <p:nvPr/>
        </p:nvSpPr>
        <p:spPr>
          <a:xfrm>
            <a:off x="8235950" y="4203700"/>
            <a:ext cx="254000" cy="203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316" name="StageBox5"/>
          <p:cNvSpPr/>
          <p:nvPr/>
        </p:nvSpPr>
        <p:spPr>
          <a:xfrm>
            <a:off x="8489950" y="3784600"/>
            <a:ext cx="1206500" cy="1041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900" b="1" dirty="0">
                <a:solidFill>
                  <a:srgbClr val="1F1F1F"/>
                </a:solidFill>
              </a:rPr>
              <a:t>WriteBigQuery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 dirty="0">
                <a:solidFill>
                  <a:srgbClr val="5A5A5A"/>
                </a:solidFill>
              </a:rPr>
              <a:t>Streaming insert</a:t>
            </a:r>
          </a:p>
        </p:txBody>
      </p:sp>
      <p:sp>
        <p:nvSpPr>
          <p:cNvPr id="317" name="Num5"/>
          <p:cNvSpPr/>
          <p:nvPr/>
        </p:nvSpPr>
        <p:spPr>
          <a:xfrm>
            <a:off x="8915400" y="3556000"/>
            <a:ext cx="355600" cy="3556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12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18" name="Arrow5"/>
          <p:cNvSpPr/>
          <p:nvPr/>
        </p:nvSpPr>
        <p:spPr>
          <a:xfrm>
            <a:off x="9696450" y="4203700"/>
            <a:ext cx="254000" cy="203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319" name="StageBox6"/>
          <p:cNvSpPr/>
          <p:nvPr/>
        </p:nvSpPr>
        <p:spPr>
          <a:xfrm>
            <a:off x="9950450" y="3784600"/>
            <a:ext cx="1206500" cy="1041400"/>
          </a:xfrm>
          <a:prstGeom prst="roundRect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900" b="1" dirty="0">
                <a:solidFill>
                  <a:srgbClr val="1F1F1F"/>
                </a:solidFill>
              </a:rPr>
              <a:t>Publish Fan-out</a:t>
            </a:r>
          </a:p>
          <a:p>
            <a:pPr algn="ctr">
              <a:lnSpc>
                <a:spcPct val="100000"/>
              </a:lnSpc>
              <a:spcBef>
                <a:spcPts val="300"/>
              </a:spcBef>
              <a:buNone/>
            </a:pPr>
            <a:r>
              <a:rPr lang="es-ES" sz="800" dirty="0">
                <a:solidFill>
                  <a:srgbClr val="5A5A5A"/>
                </a:solidFill>
              </a:rPr>
              <a:t>12 suscripciones</a:t>
            </a:r>
          </a:p>
        </p:txBody>
      </p:sp>
      <p:sp>
        <p:nvSpPr>
          <p:cNvPr id="320" name="Num6"/>
          <p:cNvSpPr/>
          <p:nvPr/>
        </p:nvSpPr>
        <p:spPr>
          <a:xfrm>
            <a:off x="10375900" y="3556000"/>
            <a:ext cx="355600" cy="355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1200" b="1" dirty="0">
                <a:solidFill>
                  <a:srgbClr val="ED7D31"/>
                </a:solidFill>
              </a:rPr>
              <a:t>7</a:t>
            </a:r>
          </a:p>
        </p:txBody>
      </p:sp>
      <p:sp>
        <p:nvSpPr>
          <p:cNvPr id="321" name="DiagFooter"/>
          <p:cNvSpPr txBox="1"/>
          <p:nvPr/>
        </p:nvSpPr>
        <p:spPr>
          <a:xfrm>
            <a:off x="914400" y="5270500"/>
            <a:ext cx="105156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s-ES" sz="1000" i="1" dirty="0">
                <a:solidFill>
                  <a:srgbClr val="5A5A5A"/>
                </a:solidFill>
              </a:rPr>
              <a:t>Cada evento atraviesa el pipeline en segundos — la etapa 3 (fraude) es crítica para SLA &lt; 200 ms</a:t>
            </a:r>
          </a:p>
        </p:txBody>
      </p:sp>
    </p:spTree>
    <p:extLst>
      <p:ext uri="{BB962C8B-B14F-4D97-AF65-F5344CB8AC3E}">
        <p14:creationId xmlns:p14="http://schemas.microsoft.com/office/powerpoint/2010/main" val="437761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9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/>
              <a:t>MODELO DE FRAUDE — GBT + VERTEX AI</a:t>
            </a:r>
            <a:endParaRPr/>
          </a:p>
        </p:txBody>
      </p:sp>
      <p:sp>
        <p:nvSpPr>
          <p:cNvPr id="219" name="Google Shape;219;p29"/>
          <p:cNvSpPr txBox="1">
            <a:spLocks noGrp="1"/>
          </p:cNvSpPr>
          <p:nvPr>
            <p:ph type="body" idx="1"/>
          </p:nvPr>
        </p:nvSpPr>
        <p:spPr>
          <a:xfrm>
            <a:off x="914399" y="2011363"/>
            <a:ext cx="7273638" cy="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s-ES" sz="1500" dirty="0"/>
              <a:t>5 pasos secuenciales ejecutados en clúster Dataproc efímero. Levanta, procesa 90 días de historia y se destruye automáticamente.</a:t>
            </a:r>
          </a:p>
        </p:txBody>
      </p:sp>
      <p:sp>
        <p:nvSpPr>
          <p:cNvPr id="220" name="Google Shape;220;p29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/>
              <a:t>15</a:t>
            </a:fld>
            <a:endParaRPr/>
          </a:p>
        </p:txBody>
      </p:sp>
      <p:sp>
        <p:nvSpPr>
          <p:cNvPr id="400" name="DiagH"/>
          <p:cNvSpPr txBox="1"/>
          <p:nvPr/>
        </p:nvSpPr>
        <p:spPr>
          <a:xfrm>
            <a:off x="914400" y="3111500"/>
            <a:ext cx="10515600" cy="355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s-ES" sz="1300" b="1" dirty="0">
                <a:solidFill>
                  <a:srgbClr val="ED7D31"/>
                </a:solidFill>
              </a:rPr>
              <a:t>5 pasos secuenciales en clúster efímero (45 min/día)</a:t>
            </a:r>
          </a:p>
        </p:txBody>
      </p:sp>
      <p:sp>
        <p:nvSpPr>
          <p:cNvPr id="401" name="BBox0"/>
          <p:cNvSpPr/>
          <p:nvPr/>
        </p:nvSpPr>
        <p:spPr>
          <a:xfrm>
            <a:off x="1409700" y="3848100"/>
            <a:ext cx="16510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45000" tIns="36000" rIns="45000" bIns="36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1100" b="1" dirty="0">
                <a:solidFill>
                  <a:srgbClr val="1F1F1F"/>
                </a:solidFill>
              </a:rPr>
              <a:t>Carga histórica</a:t>
            </a:r>
          </a:p>
          <a:p>
            <a:pPr algn="ctr">
              <a:lnSpc>
                <a:spcPct val="105000"/>
              </a:lnSpc>
              <a:spcBef>
                <a:spcPts val="400"/>
              </a:spcBef>
              <a:buNone/>
            </a:pPr>
            <a:r>
              <a:rPr lang="es-ES" sz="900" dirty="0">
                <a:solidFill>
                  <a:srgbClr val="5A5A5A"/>
                </a:solidFill>
              </a:rPr>
              <a:t>90 días desde GCS</a:t>
            </a:r>
          </a:p>
        </p:txBody>
      </p:sp>
      <p:sp>
        <p:nvSpPr>
          <p:cNvPr id="402" name="BNum0"/>
          <p:cNvSpPr/>
          <p:nvPr/>
        </p:nvSpPr>
        <p:spPr>
          <a:xfrm>
            <a:off x="2006600" y="3619500"/>
            <a:ext cx="457200" cy="4572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45000" tIns="36000" rIns="45000" bIns="36000" anchor="ctr" anchorCtr="1"/>
          <a:lstStyle/>
          <a:p>
            <a:pPr algn="ctr">
              <a:buNone/>
            </a:pPr>
            <a:r>
              <a:rPr lang="es-E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3" name="BArr0"/>
          <p:cNvSpPr/>
          <p:nvPr/>
        </p:nvSpPr>
        <p:spPr>
          <a:xfrm>
            <a:off x="3060700" y="4432300"/>
            <a:ext cx="317500" cy="2540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45000" tIns="36000" rIns="45000" bIns="36000" anchor="ctr" anchorCtr="1"/>
          <a:lstStyle/>
          <a:p>
            <a:endParaRPr lang="es-ES"/>
          </a:p>
        </p:txBody>
      </p:sp>
      <p:sp>
        <p:nvSpPr>
          <p:cNvPr id="404" name="BBox1"/>
          <p:cNvSpPr/>
          <p:nvPr/>
        </p:nvSpPr>
        <p:spPr>
          <a:xfrm>
            <a:off x="3378200" y="3848100"/>
            <a:ext cx="16510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45000" tIns="36000" rIns="45000" bIns="36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1100" b="1" dirty="0">
                <a:solidFill>
                  <a:srgbClr val="1F1F1F"/>
                </a:solidFill>
              </a:rPr>
              <a:t>Tendencias</a:t>
            </a:r>
          </a:p>
          <a:p>
            <a:pPr algn="ctr">
              <a:lnSpc>
                <a:spcPct val="105000"/>
              </a:lnSpc>
              <a:spcBef>
                <a:spcPts val="400"/>
              </a:spcBef>
              <a:buNone/>
            </a:pPr>
            <a:r>
              <a:rPr lang="es-ES" sz="900" dirty="0">
                <a:solidFill>
                  <a:srgbClr val="5A5A5A"/>
                </a:solidFill>
              </a:rPr>
              <a:t>Agregación diaria por entidad</a:t>
            </a:r>
          </a:p>
        </p:txBody>
      </p:sp>
      <p:sp>
        <p:nvSpPr>
          <p:cNvPr id="405" name="BNum1"/>
          <p:cNvSpPr/>
          <p:nvPr/>
        </p:nvSpPr>
        <p:spPr>
          <a:xfrm>
            <a:off x="3975100" y="3619500"/>
            <a:ext cx="457200" cy="4572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45000" tIns="36000" rIns="45000" bIns="36000" anchor="ctr" anchorCtr="1"/>
          <a:lstStyle/>
          <a:p>
            <a:pPr algn="ctr">
              <a:buNone/>
            </a:pPr>
            <a:r>
              <a:rPr lang="es-E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6" name="BArr1"/>
          <p:cNvSpPr/>
          <p:nvPr/>
        </p:nvSpPr>
        <p:spPr>
          <a:xfrm>
            <a:off x="5029200" y="4432300"/>
            <a:ext cx="317500" cy="2540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45000" tIns="36000" rIns="45000" bIns="36000" anchor="ctr" anchorCtr="1"/>
          <a:lstStyle/>
          <a:p>
            <a:endParaRPr lang="es-ES"/>
          </a:p>
        </p:txBody>
      </p:sp>
      <p:sp>
        <p:nvSpPr>
          <p:cNvPr id="407" name="BBox2"/>
          <p:cNvSpPr/>
          <p:nvPr/>
        </p:nvSpPr>
        <p:spPr>
          <a:xfrm>
            <a:off x="5346700" y="3848100"/>
            <a:ext cx="16510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45000" tIns="36000" rIns="45000" bIns="36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1100" b="1" dirty="0">
                <a:solidFill>
                  <a:srgbClr val="1F1F1F"/>
                </a:solidFill>
              </a:rPr>
              <a:t>Pronóstico liquidez</a:t>
            </a:r>
          </a:p>
          <a:p>
            <a:pPr algn="ctr">
              <a:lnSpc>
                <a:spcPct val="105000"/>
              </a:lnSpc>
              <a:spcBef>
                <a:spcPts val="400"/>
              </a:spcBef>
              <a:buNone/>
            </a:pPr>
            <a:r>
              <a:rPr lang="es-ES" sz="900" dirty="0">
                <a:solidFill>
                  <a:srgbClr val="5A5A5A"/>
                </a:solidFill>
              </a:rPr>
              <a:t>Inflows / outflows + payday flag</a:t>
            </a:r>
          </a:p>
        </p:txBody>
      </p:sp>
      <p:sp>
        <p:nvSpPr>
          <p:cNvPr id="408" name="BNum2"/>
          <p:cNvSpPr/>
          <p:nvPr/>
        </p:nvSpPr>
        <p:spPr>
          <a:xfrm>
            <a:off x="5943600" y="3619500"/>
            <a:ext cx="457200" cy="4572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45000" tIns="36000" rIns="45000" bIns="36000" anchor="ctr" anchorCtr="1"/>
          <a:lstStyle/>
          <a:p>
            <a:pPr algn="ctr">
              <a:buNone/>
            </a:pPr>
            <a:r>
              <a:rPr lang="es-E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9" name="BArr2"/>
          <p:cNvSpPr/>
          <p:nvPr/>
        </p:nvSpPr>
        <p:spPr>
          <a:xfrm>
            <a:off x="6997700" y="4432300"/>
            <a:ext cx="317500" cy="2540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45000" tIns="36000" rIns="45000" bIns="36000" anchor="ctr" anchorCtr="1"/>
          <a:lstStyle/>
          <a:p>
            <a:endParaRPr lang="es-ES"/>
          </a:p>
        </p:txBody>
      </p:sp>
      <p:sp>
        <p:nvSpPr>
          <p:cNvPr id="410" name="BBox3"/>
          <p:cNvSpPr/>
          <p:nvPr/>
        </p:nvSpPr>
        <p:spPr>
          <a:xfrm>
            <a:off x="7315200" y="3848100"/>
            <a:ext cx="16510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45000" tIns="36000" rIns="45000" bIns="36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1100" b="1" dirty="0">
                <a:solidFill>
                  <a:srgbClr val="1F1F1F"/>
                </a:solidFill>
              </a:rPr>
              <a:t>Modelo GBT</a:t>
            </a:r>
          </a:p>
          <a:p>
            <a:pPr algn="ctr">
              <a:lnSpc>
                <a:spcPct val="105000"/>
              </a:lnSpc>
              <a:spcBef>
                <a:spcPts val="400"/>
              </a:spcBef>
              <a:buNone/>
            </a:pPr>
            <a:r>
              <a:rPr lang="es-ES" sz="900" dirty="0">
                <a:solidFill>
                  <a:srgbClr val="5A5A5A"/>
                </a:solidFill>
              </a:rPr>
              <a:t>7 features, AUC-ROC eval</a:t>
            </a:r>
          </a:p>
        </p:txBody>
      </p:sp>
      <p:sp>
        <p:nvSpPr>
          <p:cNvPr id="411" name="BNum3"/>
          <p:cNvSpPr/>
          <p:nvPr/>
        </p:nvSpPr>
        <p:spPr>
          <a:xfrm>
            <a:off x="7912100" y="3619500"/>
            <a:ext cx="457200" cy="4572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45000" tIns="36000" rIns="45000" bIns="36000" anchor="ctr" anchorCtr="1"/>
          <a:lstStyle/>
          <a:p>
            <a:pPr algn="ctr">
              <a:buNone/>
            </a:pPr>
            <a:r>
              <a:rPr lang="es-ES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12" name="BArr3"/>
          <p:cNvSpPr/>
          <p:nvPr/>
        </p:nvSpPr>
        <p:spPr>
          <a:xfrm>
            <a:off x="8966200" y="4432300"/>
            <a:ext cx="317500" cy="2540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45000" tIns="36000" rIns="45000" bIns="36000" anchor="ctr" anchorCtr="1"/>
          <a:lstStyle/>
          <a:p>
            <a:endParaRPr lang="es-ES"/>
          </a:p>
        </p:txBody>
      </p:sp>
      <p:sp>
        <p:nvSpPr>
          <p:cNvPr id="413" name="BBox4"/>
          <p:cNvSpPr/>
          <p:nvPr/>
        </p:nvSpPr>
        <p:spPr>
          <a:xfrm>
            <a:off x="9283700" y="3848100"/>
            <a:ext cx="1651000" cy="1422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45000" tIns="36000" rIns="45000" bIns="36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1100" b="1" dirty="0">
                <a:solidFill>
                  <a:srgbClr val="1F1F1F"/>
                </a:solidFill>
              </a:rPr>
              <a:t>Métricas sucursal</a:t>
            </a:r>
          </a:p>
          <a:p>
            <a:pPr algn="ctr">
              <a:lnSpc>
                <a:spcPct val="105000"/>
              </a:lnSpc>
              <a:spcBef>
                <a:spcPts val="400"/>
              </a:spcBef>
              <a:buNone/>
            </a:pPr>
            <a:r>
              <a:rPr lang="es-ES" sz="900" dirty="0">
                <a:solidFill>
                  <a:srgbClr val="5A5A5A"/>
                </a:solidFill>
              </a:rPr>
              <a:t>Volumen por banco/canal</a:t>
            </a:r>
          </a:p>
        </p:txBody>
      </p:sp>
      <p:sp>
        <p:nvSpPr>
          <p:cNvPr id="414" name="BNum4"/>
          <p:cNvSpPr/>
          <p:nvPr/>
        </p:nvSpPr>
        <p:spPr>
          <a:xfrm>
            <a:off x="9880600" y="3619500"/>
            <a:ext cx="457200" cy="4572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45000" tIns="36000" rIns="45000" bIns="36000" anchor="ctr" anchorCtr="1"/>
          <a:lstStyle/>
          <a:p>
            <a:pPr algn="ctr">
              <a:buNone/>
            </a:pPr>
            <a:r>
              <a:rPr lang="es-ES" sz="16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5" name="BFoot"/>
          <p:cNvSpPr txBox="1"/>
          <p:nvPr/>
        </p:nvSpPr>
        <p:spPr>
          <a:xfrm>
            <a:off x="914400" y="5588000"/>
            <a:ext cx="105156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s-ES" sz="1000" i="1" dirty="0">
                <a:solidFill>
                  <a:srgbClr val="5A5A5A"/>
                </a:solidFill>
              </a:rPr>
              <a:t>Cron diario 2 AM → disparado por Cloud Function → Dataproc se autodestruye al terminar (-95% costo vs 24/7)</a:t>
            </a:r>
          </a:p>
        </p:txBody>
      </p:sp>
    </p:spTree>
    <p:extLst>
      <p:ext uri="{BB962C8B-B14F-4D97-AF65-F5344CB8AC3E}">
        <p14:creationId xmlns:p14="http://schemas.microsoft.com/office/powerpoint/2010/main" val="1284291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/>
              <a:t>SEGURIDAD Y GOBIERNO DE DATOS</a:t>
            </a:r>
            <a:endParaRPr/>
          </a:p>
        </p:txBody>
      </p:sp>
      <p:sp>
        <p:nvSpPr>
          <p:cNvPr id="226" name="Google Shape;226;p30"/>
          <p:cNvSpPr txBox="1">
            <a:spLocks noGrp="1"/>
          </p:cNvSpPr>
          <p:nvPr>
            <p:ph type="body" idx="1"/>
          </p:nvPr>
        </p:nvSpPr>
        <p:spPr>
          <a:xfrm>
            <a:off x="914399" y="2011363"/>
            <a:ext cx="7273638" cy="415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s-ES" sz="1800" b="1" dirty="0">
                <a:solidFill>
                  <a:srgbClr val="ED7D31"/>
                </a:solidFill>
              </a:rPr>
              <a:t>¿Por qué GBT?</a:t>
            </a:r>
          </a:p>
          <a:p>
            <a:pPr marL="228600" indent="-228600" algn="l">
              <a:lnSpc>
                <a:spcPct val="120000"/>
              </a:lnSpc>
              <a:spcBef>
                <a:spcPts val="600"/>
              </a:spcBef>
              <a:buFont typeface="Arial"/>
              <a:buChar char="•"/>
            </a:pPr>
            <a:r>
              <a:rPr lang="es-ES" sz="1400" b="1" dirty="0"/>
              <a:t>Rendimiento superior</a:t>
            </a:r>
            <a:r>
              <a:rPr lang="es-ES" sz="1400" dirty="0"/>
              <a:t> en datos tabulares vs deep learning</a:t>
            </a:r>
          </a:p>
          <a:p>
            <a:pPr marL="228600" indent="-228600" algn="l">
              <a:lnSpc>
                <a:spcPct val="120000"/>
              </a:lnSpc>
              <a:spcBef>
                <a:spcPts val="400"/>
              </a:spcBef>
              <a:buFont typeface="Arial"/>
              <a:buChar char="•"/>
            </a:pPr>
            <a:r>
              <a:rPr lang="es-ES" sz="1400" b="1" dirty="0"/>
              <a:t>Inferencia rápida</a:t>
            </a:r>
            <a:r>
              <a:rPr lang="es-ES" sz="1400" dirty="0"/>
              <a:t> (microsegundos) por transacción</a:t>
            </a:r>
          </a:p>
          <a:p>
            <a:pPr marL="228600" indent="-228600" algn="l">
              <a:lnSpc>
                <a:spcPct val="120000"/>
              </a:lnSpc>
              <a:spcBef>
                <a:spcPts val="400"/>
              </a:spcBef>
              <a:buFont typeface="Arial"/>
              <a:buChar char="•"/>
            </a:pPr>
            <a:r>
              <a:rPr lang="es-ES" sz="1400" b="1" dirty="0"/>
              <a:t>Interpretabilidad</a:t>
            </a:r>
            <a:r>
              <a:rPr lang="es-ES" sz="1400" dirty="0"/>
              <a:t> vía feature importance</a:t>
            </a:r>
          </a:p>
          <a:p>
            <a:pPr marL="228600" indent="-228600" algn="l">
              <a:lnSpc>
                <a:spcPct val="120000"/>
              </a:lnSpc>
              <a:spcBef>
                <a:spcPts val="400"/>
              </a:spcBef>
              <a:buFont typeface="Arial"/>
              <a:buChar char="•"/>
            </a:pPr>
            <a:r>
              <a:rPr lang="es-ES" sz="1400" b="1" dirty="0"/>
              <a:t>Hiperparámetros: </a:t>
            </a:r>
            <a:r>
              <a:rPr lang="es-ES" sz="1400" dirty="0"/>
              <a:t>maxIter=50, maxDepth=5</a:t>
            </a:r>
          </a:p>
        </p:txBody>
      </p:sp>
      <p:sp>
        <p:nvSpPr>
          <p:cNvPr id="227" name="Google Shape;227;p30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/>
              <a:t>16</a:t>
            </a:fld>
            <a:endParaRPr/>
          </a:p>
        </p:txBody>
      </p:sp>
      <p:sp>
        <p:nvSpPr>
          <p:cNvPr id="500" name="CycH"/>
          <p:cNvSpPr txBox="1"/>
          <p:nvPr/>
        </p:nvSpPr>
        <p:spPr>
          <a:xfrm>
            <a:off x="7683500" y="2095500"/>
            <a:ext cx="3683000" cy="355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s-ES" sz="1300" b="1" dirty="0">
                <a:solidFill>
                  <a:srgbClr val="ED7D31"/>
                </a:solidFill>
              </a:rPr>
              <a:t>Ciclo de vida del modelo</a:t>
            </a:r>
          </a:p>
        </p:txBody>
      </p:sp>
      <p:sp>
        <p:nvSpPr>
          <p:cNvPr id="501" name="CycCenter"/>
          <p:cNvSpPr/>
          <p:nvPr/>
        </p:nvSpPr>
        <p:spPr>
          <a:xfrm>
            <a:off x="8890000" y="3556000"/>
            <a:ext cx="1270000" cy="12700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1100" b="1" dirty="0">
                <a:solidFill>
                  <a:srgbClr val="FFFFFF"/>
                </a:solidFill>
              </a:rPr>
              <a:t>Modelo</a:t>
            </a:r>
          </a:p>
          <a:p>
            <a:pPr algn="ctr">
              <a:buNone/>
            </a:pPr>
            <a:r>
              <a:rPr lang="es-ES" sz="1100" b="1" dirty="0">
                <a:solidFill>
                  <a:srgbClr val="FFFFFF"/>
                </a:solidFill>
              </a:rPr>
              <a:t>Fraude</a:t>
            </a:r>
          </a:p>
          <a:p>
            <a:pPr algn="ctr">
              <a:buNone/>
            </a:pPr>
            <a:r>
              <a:rPr lang="es-ES" sz="900" dirty="0">
                <a:solidFill>
                  <a:srgbClr val="FFFFFF"/>
                </a:solidFill>
              </a:rPr>
              <a:t>GBT</a:t>
            </a:r>
          </a:p>
        </p:txBody>
      </p:sp>
      <p:sp>
        <p:nvSpPr>
          <p:cNvPr id="502" name="Card_top"/>
          <p:cNvSpPr/>
          <p:nvPr/>
        </p:nvSpPr>
        <p:spPr>
          <a:xfrm>
            <a:off x="8699500" y="2413000"/>
            <a:ext cx="16510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1000" b="1" dirty="0">
                <a:solidFill>
                  <a:srgbClr val="1F1F1F"/>
                </a:solidFill>
              </a:rPr>
              <a:t>1. Entrenamiento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s-ES" sz="800" dirty="0">
                <a:solidFill>
                  <a:srgbClr val="5A5A5A"/>
                </a:solidFill>
              </a:rPr>
              <a:t>Dataproc • 90 días • diario</a:t>
            </a:r>
          </a:p>
        </p:txBody>
      </p:sp>
      <p:sp>
        <p:nvSpPr>
          <p:cNvPr id="503" name="Card_right"/>
          <p:cNvSpPr/>
          <p:nvPr/>
        </p:nvSpPr>
        <p:spPr>
          <a:xfrm>
            <a:off x="10033000" y="3746500"/>
            <a:ext cx="16510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1000" b="1" dirty="0">
                <a:solidFill>
                  <a:srgbClr val="1F1F1F"/>
                </a:solidFill>
              </a:rPr>
              <a:t>2. Serialización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s-ES" sz="800" dirty="0">
                <a:solidFill>
                  <a:srgbClr val="5A5A5A"/>
                </a:solidFill>
              </a:rPr>
              <a:t>Modelo guardado en GCS</a:t>
            </a:r>
          </a:p>
        </p:txBody>
      </p:sp>
      <p:sp>
        <p:nvSpPr>
          <p:cNvPr id="504" name="Card_bottom"/>
          <p:cNvSpPr/>
          <p:nvPr/>
        </p:nvSpPr>
        <p:spPr>
          <a:xfrm>
            <a:off x="8699500" y="5080000"/>
            <a:ext cx="16510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1000" b="1" dirty="0">
                <a:solidFill>
                  <a:srgbClr val="1F1F1F"/>
                </a:solidFill>
              </a:rPr>
              <a:t>3. Despliegue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s-ES" sz="800" dirty="0">
                <a:solidFill>
                  <a:srgbClr val="5A5A5A"/>
                </a:solidFill>
              </a:rPr>
              <a:t>Vertex AI • autoscale 2-10</a:t>
            </a:r>
          </a:p>
        </p:txBody>
      </p:sp>
      <p:sp>
        <p:nvSpPr>
          <p:cNvPr id="505" name="Card_left"/>
          <p:cNvSpPr/>
          <p:nvPr/>
        </p:nvSpPr>
        <p:spPr>
          <a:xfrm>
            <a:off x="7366000" y="3746500"/>
            <a:ext cx="1651000" cy="88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lnSpc>
                <a:spcPct val="100000"/>
              </a:lnSpc>
              <a:buNone/>
            </a:pPr>
            <a:r>
              <a:rPr lang="es-ES" sz="1000" b="1" dirty="0">
                <a:solidFill>
                  <a:srgbClr val="1F1F1F"/>
                </a:solidFill>
              </a:rPr>
              <a:t>4. Monitoreo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es-ES" sz="800" dirty="0">
                <a:solidFill>
                  <a:srgbClr val="5A5A5A"/>
                </a:solidFill>
              </a:rPr>
              <a:t>Detecta drift → reentrena</a:t>
            </a:r>
          </a:p>
        </p:txBody>
      </p:sp>
      <p:sp>
        <p:nvSpPr>
          <p:cNvPr id="506" name="CycArr_TR"/>
          <p:cNvSpPr/>
          <p:nvPr/>
        </p:nvSpPr>
        <p:spPr>
          <a:xfrm rot="2700000">
            <a:off x="10200324" y="3248976"/>
            <a:ext cx="355600" cy="1778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507" name="CycArr_BR"/>
          <p:cNvSpPr/>
          <p:nvPr/>
        </p:nvSpPr>
        <p:spPr>
          <a:xfrm rot="8100000">
            <a:off x="10200324" y="4955223"/>
            <a:ext cx="355600" cy="1778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508" name="CycArr_BL"/>
          <p:cNvSpPr/>
          <p:nvPr/>
        </p:nvSpPr>
        <p:spPr>
          <a:xfrm rot="13500000">
            <a:off x="8494076" y="4955223"/>
            <a:ext cx="355600" cy="1778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509" name="CycArr_TL"/>
          <p:cNvSpPr/>
          <p:nvPr/>
        </p:nvSpPr>
        <p:spPr>
          <a:xfrm rot="18900000">
            <a:off x="8494076" y="3248976"/>
            <a:ext cx="355600" cy="1778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6995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 txBox="1">
            <a:spLocks noGrp="1"/>
          </p:cNvSpPr>
          <p:nvPr>
            <p:ph type="title"/>
          </p:nvPr>
        </p:nvSpPr>
        <p:spPr>
          <a:xfrm>
            <a:off x="914400" y="2580640"/>
            <a:ext cx="5181600" cy="3368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s-ES"/>
              <a:t>VALOR PARA EL NEGOCIO Y RESULTADOS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/>
              <a:t>KPIS </a:t>
            </a:r>
            <a:endParaRPr/>
          </a:p>
        </p:txBody>
      </p:sp>
      <p:sp>
        <p:nvSpPr>
          <p:cNvPr id="239" name="Google Shape;239;p32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/>
              <a:t>18</a:t>
            </a:fld>
            <a:endParaRPr/>
          </a:p>
        </p:txBody>
      </p:sp>
      <p:graphicFrame>
        <p:nvGraphicFramePr>
          <p:cNvPr id="240" name="Google Shape;240;p32"/>
          <p:cNvGraphicFramePr/>
          <p:nvPr/>
        </p:nvGraphicFramePr>
        <p:xfrm>
          <a:off x="1231763" y="1680450"/>
          <a:ext cx="9728475" cy="4264875"/>
        </p:xfrm>
        <a:graphic>
          <a:graphicData uri="http://schemas.openxmlformats.org/drawingml/2006/table">
            <a:tbl>
              <a:tblPr>
                <a:noFill/>
                <a:tableStyleId>{92435763-9C17-43DC-80A8-A50D2EDA7CBF}</a:tableStyleId>
              </a:tblPr>
              <a:tblGrid>
                <a:gridCol w="228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33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ES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KPI</a:t>
                      </a:r>
                      <a:endParaRPr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88900" marR="88900" marT="63500" marB="635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ES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Meta</a:t>
                      </a:r>
                      <a:endParaRPr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88900" marR="88900" marT="63500" marB="635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ES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Resultado esperado</a:t>
                      </a:r>
                      <a:endParaRPr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88900" marR="88900" marT="63500" marB="635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ES" b="1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Evidencia/Soporte Técnico</a:t>
                      </a:r>
                      <a:endParaRPr b="1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88900" marR="88900" marT="63500" marB="635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Throughput en picos (TPS)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88900" marR="88900" marT="63500" marB="635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≥ 5.000 TPS en días de pago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88900" marR="88900" marT="63500" marB="635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~5,000+ TPS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Cloud Run autoscaling + Pub/Sub + Bigtable (~10K ops/s por nodo)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Disponibilidad del pipeline de ingesta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88900" marR="88900" marT="63500" marB="635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≥ 99.95 % mensual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88900" marR="88900" marT="63500" marB="635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≥ 99.9%+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Servicios GCP multi-zona con SLA gestionado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Pérdida de mensajes transaccionales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88900" marR="88900" marT="63500" marB="635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0 mensajes (retención 31 días + DLT)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88900" marR="88900" marT="63500" marB="635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0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Retención 31 días + DLT + reintentos (max_delivery_attempts)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Detección de fraude cruzado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88900" marR="88900" marT="63500" marB="635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≥ 90 % de casos inter-bancarios detectados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88900" marR="88900" marT="63500" marB="635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≥ 90%*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Modelo GBT entrenado sobre data inter-bancaria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2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Frescura de datos en BigQuery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88900" marR="88900" marT="63500" marB="635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&lt; 10 segundos desde el evento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88900" marR="88900" marT="63500" marB="635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2–5 s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s-ES" sz="1200"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Pipeline streaming (Pub/Sub + Dataflow)</a:t>
                      </a:r>
                      <a:endParaRPr sz="1200"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114300" marR="114300" marT="76200" marB="76200">
                    <a:lnL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8C4D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1" name="Google Shape;241;p32"/>
          <p:cNvSpPr txBox="1"/>
          <p:nvPr/>
        </p:nvSpPr>
        <p:spPr>
          <a:xfrm>
            <a:off x="2260050" y="6070350"/>
            <a:ext cx="76719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b="1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El sistema demuestra viabilidad técnica y capacidad de operación en escenarios reales de alta carga.</a:t>
            </a:r>
            <a:endParaRPr b="1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72735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/>
              <a:t>IMPACTO EN EL NEGOCIO</a:t>
            </a:r>
            <a:endParaRPr/>
          </a:p>
        </p:txBody>
      </p:sp>
      <p:sp>
        <p:nvSpPr>
          <p:cNvPr id="247" name="Google Shape;247;p33"/>
          <p:cNvSpPr txBox="1">
            <a:spLocks noGrp="1"/>
          </p:cNvSpPr>
          <p:nvPr>
            <p:ph type="body" idx="1"/>
          </p:nvPr>
        </p:nvSpPr>
        <p:spPr>
          <a:xfrm>
            <a:off x="914400" y="1850000"/>
            <a:ext cx="9879300" cy="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s-ES" sz="1500" dirty="0"/>
              <a:t>Cinco efectos medibles del nuevo stack sobre el negocio:</a:t>
            </a:r>
          </a:p>
        </p:txBody>
      </p:sp>
      <p:sp>
        <p:nvSpPr>
          <p:cNvPr id="248" name="Google Shape;248;p33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200" cy="2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/>
              <a:t>19</a:t>
            </a:fld>
            <a:endParaRPr/>
          </a:p>
        </p:txBody>
      </p:sp>
      <p:sp>
        <p:nvSpPr>
          <p:cNvPr id="800" name="ImpCard0"/>
          <p:cNvSpPr/>
          <p:nvPr/>
        </p:nvSpPr>
        <p:spPr>
          <a:xfrm>
            <a:off x="914400" y="3048000"/>
            <a:ext cx="1955800" cy="2476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801" name="ImpIcon0"/>
          <p:cNvSpPr/>
          <p:nvPr/>
        </p:nvSpPr>
        <p:spPr>
          <a:xfrm>
            <a:off x="1587500" y="3251200"/>
            <a:ext cx="609600" cy="6096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2000" b="1" dirty="0">
                <a:solidFill>
                  <a:srgbClr val="FFFFFF"/>
                </a:solidFill>
              </a:rPr>
              <a:t>⚖</a:t>
            </a:r>
          </a:p>
        </p:txBody>
      </p:sp>
      <p:sp>
        <p:nvSpPr>
          <p:cNvPr id="802" name="ImpKpi0"/>
          <p:cNvSpPr txBox="1"/>
          <p:nvPr/>
        </p:nvSpPr>
        <p:spPr>
          <a:xfrm>
            <a:off x="914400" y="3987800"/>
            <a:ext cx="19558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s-ES" sz="2000" b="1" dirty="0">
                <a:solidFill>
                  <a:srgbClr val="ED7D31"/>
                </a:solidFill>
              </a:rPr>
              <a:t>30-50%</a:t>
            </a:r>
          </a:p>
        </p:txBody>
      </p:sp>
      <p:sp>
        <p:nvSpPr>
          <p:cNvPr id="803" name="ImpTit0"/>
          <p:cNvSpPr txBox="1"/>
          <p:nvPr/>
        </p:nvSpPr>
        <p:spPr>
          <a:xfrm>
            <a:off x="1016000" y="4445000"/>
            <a:ext cx="17526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s-ES" sz="1100" b="1" dirty="0">
                <a:solidFill>
                  <a:srgbClr val="1F1F1F"/>
                </a:solidFill>
              </a:rPr>
              <a:t>Reducción fraude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  <a:buNone/>
            </a:pPr>
            <a:r>
              <a:rPr lang="es-ES" sz="900" dirty="0">
                <a:solidFill>
                  <a:srgbClr val="5A5A5A"/>
                </a:solidFill>
              </a:rPr>
              <a:t>Detección cruzada entre 12 bancos</a:t>
            </a:r>
          </a:p>
        </p:txBody>
      </p:sp>
      <p:sp>
        <p:nvSpPr>
          <p:cNvPr id="804" name="ImpCard1"/>
          <p:cNvSpPr/>
          <p:nvPr/>
        </p:nvSpPr>
        <p:spPr>
          <a:xfrm>
            <a:off x="3048000" y="3048000"/>
            <a:ext cx="1955800" cy="2476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805" name="ImpIcon1"/>
          <p:cNvSpPr/>
          <p:nvPr/>
        </p:nvSpPr>
        <p:spPr>
          <a:xfrm>
            <a:off x="3721100" y="3251200"/>
            <a:ext cx="609600" cy="6096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2000" b="1" dirty="0">
                <a:solidFill>
                  <a:srgbClr val="FFFFFF"/>
                </a:solidFill>
              </a:rPr>
              <a:t>▲</a:t>
            </a:r>
          </a:p>
        </p:txBody>
      </p:sp>
      <p:sp>
        <p:nvSpPr>
          <p:cNvPr id="806" name="ImpKpi1"/>
          <p:cNvSpPr txBox="1"/>
          <p:nvPr/>
        </p:nvSpPr>
        <p:spPr>
          <a:xfrm>
            <a:off x="3048000" y="3987800"/>
            <a:ext cx="19558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s-ES" sz="2000" b="1" dirty="0">
                <a:solidFill>
                  <a:srgbClr val="ED7D31"/>
                </a:solidFill>
              </a:rPr>
              <a:t>1 día</a:t>
            </a:r>
          </a:p>
        </p:txBody>
      </p:sp>
      <p:sp>
        <p:nvSpPr>
          <p:cNvPr id="807" name="ImpTit1"/>
          <p:cNvSpPr txBox="1"/>
          <p:nvPr/>
        </p:nvSpPr>
        <p:spPr>
          <a:xfrm>
            <a:off x="3149600" y="4445000"/>
            <a:ext cx="17526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s-ES" sz="1100" b="1" dirty="0">
                <a:solidFill>
                  <a:srgbClr val="1F1F1F"/>
                </a:solidFill>
              </a:rPr>
              <a:t>Pronóstico liquidez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  <a:buNone/>
            </a:pPr>
            <a:r>
              <a:rPr lang="es-ES" sz="900" dirty="0">
                <a:solidFill>
                  <a:srgbClr val="5A5A5A"/>
                </a:solidFill>
              </a:rPr>
              <a:t>Anticipación vs reactivo</a:t>
            </a:r>
          </a:p>
        </p:txBody>
      </p:sp>
      <p:sp>
        <p:nvSpPr>
          <p:cNvPr id="808" name="ImpCard2"/>
          <p:cNvSpPr/>
          <p:nvPr/>
        </p:nvSpPr>
        <p:spPr>
          <a:xfrm>
            <a:off x="5181600" y="3048000"/>
            <a:ext cx="1955800" cy="2476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809" name="ImpIcon2"/>
          <p:cNvSpPr/>
          <p:nvPr/>
        </p:nvSpPr>
        <p:spPr>
          <a:xfrm>
            <a:off x="5854700" y="3251200"/>
            <a:ext cx="609600" cy="6096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2000" b="1" dirty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810" name="ImpKpi2"/>
          <p:cNvSpPr txBox="1"/>
          <p:nvPr/>
        </p:nvSpPr>
        <p:spPr>
          <a:xfrm>
            <a:off x="5181600" y="3987800"/>
            <a:ext cx="19558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s-ES" sz="2000" b="1" dirty="0">
                <a:solidFill>
                  <a:srgbClr val="ED7D31"/>
                </a:solidFill>
              </a:rPr>
              <a:t>+x-sell</a:t>
            </a:r>
          </a:p>
        </p:txBody>
      </p:sp>
      <p:sp>
        <p:nvSpPr>
          <p:cNvPr id="811" name="ImpTit2"/>
          <p:cNvSpPr txBox="1"/>
          <p:nvPr/>
        </p:nvSpPr>
        <p:spPr>
          <a:xfrm>
            <a:off x="5283200" y="4445000"/>
            <a:ext cx="17526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s-ES" sz="1100" b="1" dirty="0">
                <a:solidFill>
                  <a:srgbClr val="1F1F1F"/>
                </a:solidFill>
              </a:rPr>
              <a:t>Personalización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  <a:buNone/>
            </a:pPr>
            <a:r>
              <a:rPr lang="es-ES" sz="900" dirty="0">
                <a:solidFill>
                  <a:srgbClr val="5A5A5A"/>
                </a:solidFill>
              </a:rPr>
              <a:t>Recos micro-crédito · seguros</a:t>
            </a:r>
          </a:p>
        </p:txBody>
      </p:sp>
      <p:sp>
        <p:nvSpPr>
          <p:cNvPr id="812" name="ImpCard3"/>
          <p:cNvSpPr/>
          <p:nvPr/>
        </p:nvSpPr>
        <p:spPr>
          <a:xfrm>
            <a:off x="7315200" y="3048000"/>
            <a:ext cx="1955800" cy="2476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813" name="ImpIcon3"/>
          <p:cNvSpPr/>
          <p:nvPr/>
        </p:nvSpPr>
        <p:spPr>
          <a:xfrm>
            <a:off x="7988300" y="3251200"/>
            <a:ext cx="609600" cy="6096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2000" b="1" dirty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814" name="ImpKpi3"/>
          <p:cNvSpPr txBox="1"/>
          <p:nvPr/>
        </p:nvSpPr>
        <p:spPr>
          <a:xfrm>
            <a:off x="7315200" y="3987800"/>
            <a:ext cx="19558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s-ES" sz="2000" b="1" dirty="0">
                <a:solidFill>
                  <a:srgbClr val="ED7D31"/>
                </a:solidFill>
              </a:rPr>
              <a:t>&gt;95%</a:t>
            </a:r>
          </a:p>
        </p:txBody>
      </p:sp>
      <p:sp>
        <p:nvSpPr>
          <p:cNvPr id="815" name="ImpTit3"/>
          <p:cNvSpPr txBox="1"/>
          <p:nvPr/>
        </p:nvSpPr>
        <p:spPr>
          <a:xfrm>
            <a:off x="7416800" y="4445000"/>
            <a:ext cx="17526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s-ES" sz="1100" b="1" dirty="0">
                <a:solidFill>
                  <a:srgbClr val="1F1F1F"/>
                </a:solidFill>
              </a:rPr>
              <a:t>Reducción TI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  <a:buNone/>
            </a:pPr>
            <a:r>
              <a:rPr lang="es-ES" sz="900" dirty="0">
                <a:solidFill>
                  <a:srgbClr val="5A5A5A"/>
                </a:solidFill>
              </a:rPr>
              <a:t>IaC + servicios gestionados</a:t>
            </a:r>
          </a:p>
        </p:txBody>
      </p:sp>
      <p:sp>
        <p:nvSpPr>
          <p:cNvPr id="816" name="ImpCard4"/>
          <p:cNvSpPr/>
          <p:nvPr/>
        </p:nvSpPr>
        <p:spPr>
          <a:xfrm>
            <a:off x="9448800" y="3048000"/>
            <a:ext cx="1955800" cy="2476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817" name="ImpIcon4"/>
          <p:cNvSpPr/>
          <p:nvPr/>
        </p:nvSpPr>
        <p:spPr>
          <a:xfrm>
            <a:off x="10121900" y="3251200"/>
            <a:ext cx="609600" cy="6096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2000" b="1" dirty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818" name="ImpKpi4"/>
          <p:cNvSpPr txBox="1"/>
          <p:nvPr/>
        </p:nvSpPr>
        <p:spPr>
          <a:xfrm>
            <a:off x="9448800" y="3987800"/>
            <a:ext cx="1955800" cy="406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s-ES" sz="2000" b="1" dirty="0">
                <a:solidFill>
                  <a:srgbClr val="ED7D31"/>
                </a:solidFill>
              </a:rPr>
              <a:t>Ágil</a:t>
            </a:r>
          </a:p>
        </p:txBody>
      </p:sp>
      <p:sp>
        <p:nvSpPr>
          <p:cNvPr id="819" name="ImpTit4"/>
          <p:cNvSpPr txBox="1"/>
          <p:nvPr/>
        </p:nvSpPr>
        <p:spPr>
          <a:xfrm>
            <a:off x="9550400" y="4445000"/>
            <a:ext cx="1752600" cy="889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es-ES" sz="1100" b="1" dirty="0">
                <a:solidFill>
                  <a:srgbClr val="1F1F1F"/>
                </a:solidFill>
              </a:rPr>
              <a:t>Cumplimiento</a:t>
            </a:r>
          </a:p>
          <a:p>
            <a:pPr algn="ctr">
              <a:lnSpc>
                <a:spcPct val="110000"/>
              </a:lnSpc>
              <a:spcBef>
                <a:spcPts val="300"/>
              </a:spcBef>
              <a:buNone/>
            </a:pPr>
            <a:r>
              <a:rPr lang="es-ES" sz="900" dirty="0">
                <a:solidFill>
                  <a:srgbClr val="5A5A5A"/>
                </a:solidFill>
              </a:rPr>
              <a:t>Reportes consolidados al regulador</a:t>
            </a:r>
          </a:p>
        </p:txBody>
      </p:sp>
      <p:sp>
        <p:nvSpPr>
          <p:cNvPr id="820" name="ImpROI"/>
          <p:cNvSpPr/>
          <p:nvPr/>
        </p:nvSpPr>
        <p:spPr>
          <a:xfrm>
            <a:off x="914400" y="5842000"/>
            <a:ext cx="10515600" cy="381000"/>
          </a:xfrm>
          <a:prstGeom prst="roundRect">
            <a:avLst/>
          </a:prstGeom>
          <a:solidFill>
            <a:srgbClr val="1F1F1F"/>
          </a:solidFill>
          <a:ln w="9525">
            <a:solidFill>
              <a:srgbClr val="1F1F1F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1100" b="1" dirty="0">
                <a:solidFill>
                  <a:srgbClr val="FFFFFF"/>
                </a:solidFill>
              </a:rPr>
              <a:t>ROI estimado: $10–15K/mes · equilibrio en Año 1 · retorno neto desde Año 2</a:t>
            </a:r>
          </a:p>
        </p:txBody>
      </p:sp>
    </p:spTree>
    <p:extLst>
      <p:ext uri="{BB962C8B-B14F-4D97-AF65-F5344CB8AC3E}">
        <p14:creationId xmlns:p14="http://schemas.microsoft.com/office/powerpoint/2010/main" val="1836477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/>
              <a:t>COSTOS Y PALANCAS DE OPTIMIZACIÓN</a:t>
            </a:r>
            <a:endParaRPr/>
          </a:p>
        </p:txBody>
      </p:sp>
      <p:sp>
        <p:nvSpPr>
          <p:cNvPr id="254" name="Google Shape;254;p34"/>
          <p:cNvSpPr txBox="1">
            <a:spLocks noGrp="1"/>
          </p:cNvSpPr>
          <p:nvPr>
            <p:ph type="body" idx="1"/>
          </p:nvPr>
        </p:nvSpPr>
        <p:spPr>
          <a:xfrm>
            <a:off x="914399" y="2011363"/>
            <a:ext cx="7273638" cy="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s-ES" sz="1500" dirty="0"/>
              <a:t>Cinco palancas de optimización con su ahorro estimado vs configuración por defecto:</a:t>
            </a:r>
          </a:p>
        </p:txBody>
      </p:sp>
      <p:sp>
        <p:nvSpPr>
          <p:cNvPr id="255" name="Google Shape;255;p34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/>
              <a:t>20</a:t>
            </a:fld>
            <a:endParaRPr/>
          </a:p>
        </p:txBody>
      </p:sp>
      <p:sp>
        <p:nvSpPr>
          <p:cNvPr id="900" name="CostH"/>
          <p:cNvSpPr txBox="1"/>
          <p:nvPr/>
        </p:nvSpPr>
        <p:spPr>
          <a:xfrm>
            <a:off x="914400" y="2895600"/>
            <a:ext cx="10515600" cy="254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s-ES" sz="1100" b="1" dirty="0">
                <a:solidFill>
                  <a:srgbClr val="ED7D31"/>
                </a:solidFill>
              </a:rPr>
              <a:t>Ahorro estimado por palanca</a:t>
            </a:r>
          </a:p>
        </p:txBody>
      </p:sp>
      <p:sp>
        <p:nvSpPr>
          <p:cNvPr id="901" name="CLab0"/>
          <p:cNvSpPr txBox="1"/>
          <p:nvPr/>
        </p:nvSpPr>
        <p:spPr>
          <a:xfrm>
            <a:off x="914400" y="3175000"/>
            <a:ext cx="355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s-ES" sz="1200" dirty="0">
                <a:solidFill>
                  <a:srgbClr val="1F1F1F"/>
                </a:solidFill>
              </a:rPr>
              <a:t>Dataproc efímero (45 min/día)</a:t>
            </a:r>
          </a:p>
        </p:txBody>
      </p:sp>
      <p:sp>
        <p:nvSpPr>
          <p:cNvPr id="902" name="CBgBar0"/>
          <p:cNvSpPr/>
          <p:nvPr/>
        </p:nvSpPr>
        <p:spPr>
          <a:xfrm>
            <a:off x="4597400" y="3276600"/>
            <a:ext cx="5943600" cy="254000"/>
          </a:xfrm>
          <a:prstGeom prst="roundRect">
            <a:avLst/>
          </a:prstGeom>
          <a:solidFill>
            <a:srgbClr val="EFEFEF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903" name="CBar0"/>
          <p:cNvSpPr/>
          <p:nvPr/>
        </p:nvSpPr>
        <p:spPr>
          <a:xfrm>
            <a:off x="4597400" y="3276600"/>
            <a:ext cx="5646420" cy="254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904" name="CPct0"/>
          <p:cNvSpPr txBox="1"/>
          <p:nvPr/>
        </p:nvSpPr>
        <p:spPr>
          <a:xfrm>
            <a:off x="10320020" y="3175000"/>
            <a:ext cx="889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sz="1300" b="1" dirty="0">
                <a:solidFill>
                  <a:srgbClr val="ED7D31"/>
                </a:solidFill>
              </a:rPr>
              <a:t>-95%</a:t>
            </a:r>
          </a:p>
        </p:txBody>
      </p:sp>
      <p:sp>
        <p:nvSpPr>
          <p:cNvPr id="905" name="CLab1"/>
          <p:cNvSpPr txBox="1"/>
          <p:nvPr/>
        </p:nvSpPr>
        <p:spPr>
          <a:xfrm>
            <a:off x="914400" y="3708400"/>
            <a:ext cx="355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s-ES" sz="1200" dirty="0">
                <a:solidFill>
                  <a:srgbClr val="1F1F1F"/>
                </a:solidFill>
              </a:rPr>
              <a:t>BigQuery particionado + clustering</a:t>
            </a:r>
          </a:p>
        </p:txBody>
      </p:sp>
      <p:sp>
        <p:nvSpPr>
          <p:cNvPr id="906" name="CBgBar1"/>
          <p:cNvSpPr/>
          <p:nvPr/>
        </p:nvSpPr>
        <p:spPr>
          <a:xfrm>
            <a:off x="4597400" y="3810000"/>
            <a:ext cx="5943600" cy="254000"/>
          </a:xfrm>
          <a:prstGeom prst="roundRect">
            <a:avLst/>
          </a:prstGeom>
          <a:solidFill>
            <a:srgbClr val="EFEFEF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907" name="CBar1"/>
          <p:cNvSpPr/>
          <p:nvPr/>
        </p:nvSpPr>
        <p:spPr>
          <a:xfrm>
            <a:off x="4597400" y="3810000"/>
            <a:ext cx="5349240" cy="254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908" name="CPct1"/>
          <p:cNvSpPr txBox="1"/>
          <p:nvPr/>
        </p:nvSpPr>
        <p:spPr>
          <a:xfrm>
            <a:off x="10022840" y="3708400"/>
            <a:ext cx="889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sz="1300" b="1" dirty="0">
                <a:solidFill>
                  <a:srgbClr val="ED7D31"/>
                </a:solidFill>
              </a:rPr>
              <a:t>-90%</a:t>
            </a:r>
          </a:p>
        </p:txBody>
      </p:sp>
      <p:sp>
        <p:nvSpPr>
          <p:cNvPr id="909" name="CLab2"/>
          <p:cNvSpPr txBox="1"/>
          <p:nvPr/>
        </p:nvSpPr>
        <p:spPr>
          <a:xfrm>
            <a:off x="914400" y="4241800"/>
            <a:ext cx="355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s-ES" sz="1200" dirty="0">
                <a:solidFill>
                  <a:srgbClr val="1F1F1F"/>
                </a:solidFill>
              </a:rPr>
              <a:t>GCS lifecycle (Nearline / Coldline)</a:t>
            </a:r>
          </a:p>
        </p:txBody>
      </p:sp>
      <p:sp>
        <p:nvSpPr>
          <p:cNvPr id="910" name="CBgBar2"/>
          <p:cNvSpPr/>
          <p:nvPr/>
        </p:nvSpPr>
        <p:spPr>
          <a:xfrm>
            <a:off x="4597400" y="4343400"/>
            <a:ext cx="5943600" cy="254000"/>
          </a:xfrm>
          <a:prstGeom prst="roundRect">
            <a:avLst/>
          </a:prstGeom>
          <a:solidFill>
            <a:srgbClr val="EFEFEF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911" name="CBar2"/>
          <p:cNvSpPr/>
          <p:nvPr/>
        </p:nvSpPr>
        <p:spPr>
          <a:xfrm>
            <a:off x="4597400" y="4343400"/>
            <a:ext cx="4754880" cy="254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912" name="CPct2"/>
          <p:cNvSpPr txBox="1"/>
          <p:nvPr/>
        </p:nvSpPr>
        <p:spPr>
          <a:xfrm>
            <a:off x="9428480" y="4241800"/>
            <a:ext cx="889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sz="1300" b="1" dirty="0">
                <a:solidFill>
                  <a:srgbClr val="ED7D31"/>
                </a:solidFill>
              </a:rPr>
              <a:t>-80%</a:t>
            </a:r>
          </a:p>
        </p:txBody>
      </p:sp>
      <p:sp>
        <p:nvSpPr>
          <p:cNvPr id="913" name="CLab3"/>
          <p:cNvSpPr txBox="1"/>
          <p:nvPr/>
        </p:nvSpPr>
        <p:spPr>
          <a:xfrm>
            <a:off x="914400" y="4775200"/>
            <a:ext cx="355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s-ES" sz="1200" dirty="0">
                <a:solidFill>
                  <a:srgbClr val="1F1F1F"/>
                </a:solidFill>
              </a:rPr>
              <a:t>Cloud Run scale-to-zero</a:t>
            </a:r>
          </a:p>
        </p:txBody>
      </p:sp>
      <p:sp>
        <p:nvSpPr>
          <p:cNvPr id="914" name="CBgBar3"/>
          <p:cNvSpPr/>
          <p:nvPr/>
        </p:nvSpPr>
        <p:spPr>
          <a:xfrm>
            <a:off x="4597400" y="4876800"/>
            <a:ext cx="5943600" cy="254000"/>
          </a:xfrm>
          <a:prstGeom prst="roundRect">
            <a:avLst/>
          </a:prstGeom>
          <a:solidFill>
            <a:srgbClr val="EFEFEF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915" name="CBar3"/>
          <p:cNvSpPr/>
          <p:nvPr/>
        </p:nvSpPr>
        <p:spPr>
          <a:xfrm>
            <a:off x="4597400" y="4876800"/>
            <a:ext cx="3566160" cy="254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916" name="CPct3"/>
          <p:cNvSpPr txBox="1"/>
          <p:nvPr/>
        </p:nvSpPr>
        <p:spPr>
          <a:xfrm>
            <a:off x="8239760" y="4775200"/>
            <a:ext cx="889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sz="1300" b="1" dirty="0">
                <a:solidFill>
                  <a:srgbClr val="ED7D31"/>
                </a:solidFill>
              </a:rPr>
              <a:t>scale-to-0</a:t>
            </a:r>
          </a:p>
        </p:txBody>
      </p:sp>
      <p:sp>
        <p:nvSpPr>
          <p:cNvPr id="917" name="CLab4"/>
          <p:cNvSpPr txBox="1"/>
          <p:nvPr/>
        </p:nvSpPr>
        <p:spPr>
          <a:xfrm>
            <a:off x="914400" y="5308600"/>
            <a:ext cx="3556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es-ES" sz="1200" dirty="0">
                <a:solidFill>
                  <a:srgbClr val="1F1F1F"/>
                </a:solidFill>
              </a:rPr>
              <a:t>BigQuery slots reservados</a:t>
            </a:r>
          </a:p>
        </p:txBody>
      </p:sp>
      <p:sp>
        <p:nvSpPr>
          <p:cNvPr id="918" name="CBgBar4"/>
          <p:cNvSpPr/>
          <p:nvPr/>
        </p:nvSpPr>
        <p:spPr>
          <a:xfrm>
            <a:off x="4597400" y="5410200"/>
            <a:ext cx="5943600" cy="254000"/>
          </a:xfrm>
          <a:prstGeom prst="roundRect">
            <a:avLst/>
          </a:prstGeom>
          <a:solidFill>
            <a:srgbClr val="EFEFEF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919" name="CBar4"/>
          <p:cNvSpPr/>
          <p:nvPr/>
        </p:nvSpPr>
        <p:spPr>
          <a:xfrm>
            <a:off x="4597400" y="5410200"/>
            <a:ext cx="2377440" cy="2540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920" name="CPct4"/>
          <p:cNvSpPr txBox="1"/>
          <p:nvPr/>
        </p:nvSpPr>
        <p:spPr>
          <a:xfrm>
            <a:off x="7051040" y="5308600"/>
            <a:ext cx="88900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s-ES" sz="1300" b="1" dirty="0">
                <a:solidFill>
                  <a:srgbClr val="ED7D31"/>
                </a:solidFill>
              </a:rPr>
              <a:t>-40%</a:t>
            </a:r>
          </a:p>
        </p:txBody>
      </p:sp>
      <p:sp>
        <p:nvSpPr>
          <p:cNvPr id="921" name="CFoot"/>
          <p:cNvSpPr txBox="1"/>
          <p:nvPr/>
        </p:nvSpPr>
        <p:spPr>
          <a:xfrm>
            <a:off x="914400" y="5905500"/>
            <a:ext cx="10515600" cy="254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buNone/>
            </a:pPr>
            <a:r>
              <a:rPr lang="es-ES" sz="1000" i="1" dirty="0">
                <a:solidFill>
                  <a:srgbClr val="5A5A5A"/>
                </a:solidFill>
              </a:rPr>
              <a:t>Ahorros vs configuración por defecto/24x7. Acumulado: foundation que paga el ROI mes a mes.</a:t>
            </a:r>
          </a:p>
        </p:txBody>
      </p:sp>
    </p:spTree>
    <p:extLst>
      <p:ext uri="{BB962C8B-B14F-4D97-AF65-F5344CB8AC3E}">
        <p14:creationId xmlns:p14="http://schemas.microsoft.com/office/powerpoint/2010/main" val="977881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/>
              <a:t>DESAFÍOS Y LECCIONES APRENDIDAS</a:t>
            </a:r>
            <a:endParaRPr/>
          </a:p>
        </p:txBody>
      </p:sp>
      <p:sp>
        <p:nvSpPr>
          <p:cNvPr id="261" name="Google Shape;261;p35"/>
          <p:cNvSpPr txBox="1">
            <a:spLocks noGrp="1"/>
          </p:cNvSpPr>
          <p:nvPr>
            <p:ph type="body" idx="1"/>
          </p:nvPr>
        </p:nvSpPr>
        <p:spPr>
          <a:xfrm>
            <a:off x="914399" y="2011363"/>
            <a:ext cx="7273500" cy="41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1"/>
              <a:t>Cuotas GCP en modo trial</a:t>
            </a:r>
            <a:r>
              <a:rPr lang="es-ES" sz="1400"/>
              <a:t>: límites de CPU para Dataflow, IPs simultáneas. Solución: solicitar aumentos antes del primer apply.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1"/>
              <a:t>Permisos IAM</a:t>
            </a:r>
            <a:r>
              <a:rPr lang="es-ES" sz="1400"/>
              <a:t>: cuenta Compute Engine sin roles de build/logging. Solución: asignación explícita en módulo network.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1"/>
              <a:t>VPC Connector y rangos CIDR</a:t>
            </a:r>
            <a:r>
              <a:rPr lang="es-ES" sz="1400"/>
              <a:t>: colisión con rangos secundarios. Solución: plan CIDR documentado desde el inicio.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1"/>
              <a:t>SDK mismatch en Dataflow</a:t>
            </a:r>
            <a:r>
              <a:rPr lang="es-ES" sz="1400"/>
              <a:t>: Beam 2.58 vs 2.56. Solución: imagen Docker custom como worker harness.</a:t>
            </a:r>
            <a:endParaRPr/>
          </a:p>
          <a:p>
            <a:pPr marL="228600" lvl="0" indent="-2286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ES" sz="1400" b="1"/>
              <a:t>APIs asíncronas de GCP</a:t>
            </a:r>
            <a:r>
              <a:rPr lang="es-ES" sz="1400"/>
              <a:t>: habilitación no instantánea. Solución: time_sleep de 60s tras activación.</a:t>
            </a:r>
            <a:endParaRPr/>
          </a:p>
        </p:txBody>
      </p:sp>
      <p:sp>
        <p:nvSpPr>
          <p:cNvPr id="262" name="Google Shape;262;p35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7273637" cy="1646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s-ES"/>
              <a:t>TRABAJO FUTURO — ROADMAP</a:t>
            </a:r>
            <a:endParaRPr/>
          </a:p>
        </p:txBody>
      </p:sp>
      <p:sp>
        <p:nvSpPr>
          <p:cNvPr id="268" name="Google Shape;268;p36"/>
          <p:cNvSpPr txBox="1">
            <a:spLocks noGrp="1"/>
          </p:cNvSpPr>
          <p:nvPr>
            <p:ph type="body" idx="1"/>
          </p:nvPr>
        </p:nvSpPr>
        <p:spPr>
          <a:xfrm>
            <a:off x="914399" y="2011363"/>
            <a:ext cx="7273638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s-ES" sz="1500" dirty="0"/>
              <a:t>4 fases para evolucionar la plataforma desde el MVP actual hacia una operación productiva, gobernada y escalable.</a:t>
            </a:r>
          </a:p>
        </p:txBody>
      </p:sp>
      <p:sp>
        <p:nvSpPr>
          <p:cNvPr id="269" name="Google Shape;269;p36"/>
          <p:cNvSpPr txBox="1">
            <a:spLocks noGrp="1"/>
          </p:cNvSpPr>
          <p:nvPr>
            <p:ph type="sldNum" idx="12"/>
          </p:nvPr>
        </p:nvSpPr>
        <p:spPr>
          <a:xfrm>
            <a:off x="914400" y="6246254"/>
            <a:ext cx="631065" cy="2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-ES"/>
              <a:t>22</a:t>
            </a:fld>
            <a:endParaRPr/>
          </a:p>
        </p:txBody>
      </p:sp>
      <p:sp>
        <p:nvSpPr>
          <p:cNvPr id="700" name="TLine"/>
          <p:cNvSpPr/>
          <p:nvPr/>
        </p:nvSpPr>
        <p:spPr>
          <a:xfrm>
            <a:off x="1295400" y="4381500"/>
            <a:ext cx="975360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701" name="RoadH"/>
          <p:cNvSpPr txBox="1"/>
          <p:nvPr/>
        </p:nvSpPr>
        <p:spPr>
          <a:xfrm>
            <a:off x="914400" y="3429000"/>
            <a:ext cx="10515600" cy="355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buNone/>
            </a:pPr>
            <a:r>
              <a:rPr lang="es-ES" sz="1300" b="1" dirty="0">
                <a:solidFill>
                  <a:srgbClr val="ED7D31"/>
                </a:solidFill>
              </a:rPr>
              <a:t>Roadmap por fases</a:t>
            </a:r>
          </a:p>
        </p:txBody>
      </p:sp>
      <p:sp>
        <p:nvSpPr>
          <p:cNvPr id="702" name="TDot0"/>
          <p:cNvSpPr/>
          <p:nvPr/>
        </p:nvSpPr>
        <p:spPr>
          <a:xfrm>
            <a:off x="2051050" y="4229100"/>
            <a:ext cx="355600" cy="3556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FFFFFF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12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03" name="TCard0"/>
          <p:cNvSpPr/>
          <p:nvPr/>
        </p:nvSpPr>
        <p:spPr>
          <a:xfrm>
            <a:off x="1054100" y="2679700"/>
            <a:ext cx="2349500" cy="1397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l">
              <a:lnSpc>
                <a:spcPct val="100000"/>
              </a:lnSpc>
              <a:buNone/>
            </a:pPr>
            <a:r>
              <a:rPr lang="es-ES" sz="900" b="1" dirty="0">
                <a:solidFill>
                  <a:srgbClr val="ED7D31"/>
                </a:solidFill>
              </a:rPr>
              <a:t>0-3 meses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s-ES" sz="1100" b="1" dirty="0">
                <a:solidFill>
                  <a:srgbClr val="1F1F1F"/>
                </a:solidFill>
              </a:rPr>
              <a:t>F1: Hardening</a:t>
            </a:r>
          </a:p>
          <a:p>
            <a:pPr marL="86400" indent="-86400" algn="l">
              <a:lnSpc>
                <a:spcPct val="105000"/>
              </a:lnSpc>
              <a:spcBef>
                <a:spcPts val="200"/>
              </a:spcBef>
              <a:buFont typeface="Arial"/>
              <a:buChar char="•"/>
            </a:pPr>
            <a:r>
              <a:rPr lang="es-ES" sz="900" dirty="0">
                <a:solidFill>
                  <a:srgbClr val="3A3A3A"/>
                </a:solidFill>
              </a:rPr>
              <a:t>KMS • Cloud Armor</a:t>
            </a:r>
          </a:p>
          <a:p>
            <a:pPr marL="86400" indent="-86400" algn="l">
              <a:lnSpc>
                <a:spcPct val="105000"/>
              </a:lnSpc>
              <a:spcBef>
                <a:spcPts val="200"/>
              </a:spcBef>
              <a:buFont typeface="Arial"/>
              <a:buChar char="•"/>
            </a:pPr>
            <a:r>
              <a:rPr lang="es-ES" sz="900" dirty="0">
                <a:solidFill>
                  <a:srgbClr val="3A3A3A"/>
                </a:solidFill>
              </a:rPr>
              <a:t>DLP • VPC-SC</a:t>
            </a:r>
          </a:p>
          <a:p>
            <a:pPr marL="86400" indent="-86400" algn="l">
              <a:lnSpc>
                <a:spcPct val="105000"/>
              </a:lnSpc>
              <a:spcBef>
                <a:spcPts val="200"/>
              </a:spcBef>
              <a:buFont typeface="Arial"/>
              <a:buChar char="•"/>
            </a:pPr>
            <a:r>
              <a:rPr lang="es-ES" sz="900" dirty="0">
                <a:solidFill>
                  <a:srgbClr val="3A3A3A"/>
                </a:solidFill>
              </a:rPr>
              <a:t>Logs auditoría</a:t>
            </a:r>
          </a:p>
        </p:txBody>
      </p:sp>
      <p:sp>
        <p:nvSpPr>
          <p:cNvPr id="704" name="TConn0"/>
          <p:cNvSpPr/>
          <p:nvPr/>
        </p:nvSpPr>
        <p:spPr>
          <a:xfrm>
            <a:off x="2216150" y="4076700"/>
            <a:ext cx="2540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705" name="TDot1"/>
          <p:cNvSpPr/>
          <p:nvPr/>
        </p:nvSpPr>
        <p:spPr>
          <a:xfrm>
            <a:off x="4679950" y="4229100"/>
            <a:ext cx="355600" cy="3556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FFFFFF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1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06" name="TCard1"/>
          <p:cNvSpPr/>
          <p:nvPr/>
        </p:nvSpPr>
        <p:spPr>
          <a:xfrm>
            <a:off x="3683000" y="4686300"/>
            <a:ext cx="2349500" cy="1397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l">
              <a:lnSpc>
                <a:spcPct val="100000"/>
              </a:lnSpc>
              <a:buNone/>
            </a:pPr>
            <a:r>
              <a:rPr lang="es-ES" sz="900" b="1" dirty="0">
                <a:solidFill>
                  <a:srgbClr val="ED7D31"/>
                </a:solidFill>
              </a:rPr>
              <a:t>4-6 meses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s-ES" sz="1100" b="1" dirty="0">
                <a:solidFill>
                  <a:srgbClr val="1F1F1F"/>
                </a:solidFill>
              </a:rPr>
              <a:t>F2: Gobernanza</a:t>
            </a:r>
          </a:p>
          <a:p>
            <a:pPr marL="86400" indent="-86400" algn="l">
              <a:lnSpc>
                <a:spcPct val="105000"/>
              </a:lnSpc>
              <a:spcBef>
                <a:spcPts val="200"/>
              </a:spcBef>
              <a:buFont typeface="Arial"/>
              <a:buChar char="•"/>
            </a:pPr>
            <a:r>
              <a:rPr lang="es-ES" sz="900" dirty="0">
                <a:solidFill>
                  <a:srgbClr val="3A3A3A"/>
                </a:solidFill>
              </a:rPr>
              <a:t>Dataplex (raw/curated)</a:t>
            </a:r>
          </a:p>
          <a:p>
            <a:pPr marL="86400" indent="-86400" algn="l">
              <a:lnSpc>
                <a:spcPct val="105000"/>
              </a:lnSpc>
              <a:spcBef>
                <a:spcPts val="200"/>
              </a:spcBef>
              <a:buFont typeface="Arial"/>
              <a:buChar char="•"/>
            </a:pPr>
            <a:r>
              <a:rPr lang="es-ES" sz="900" dirty="0">
                <a:solidFill>
                  <a:srgbClr val="3A3A3A"/>
                </a:solidFill>
              </a:rPr>
              <a:t>Catalog • linaje</a:t>
            </a:r>
          </a:p>
          <a:p>
            <a:pPr marL="86400" indent="-86400" algn="l">
              <a:lnSpc>
                <a:spcPct val="105000"/>
              </a:lnSpc>
              <a:spcBef>
                <a:spcPts val="200"/>
              </a:spcBef>
              <a:buFont typeface="Arial"/>
              <a:buChar char="•"/>
            </a:pPr>
            <a:r>
              <a:rPr lang="es-ES" sz="900" dirty="0">
                <a:solidFill>
                  <a:srgbClr val="3A3A3A"/>
                </a:solidFill>
              </a:rPr>
              <a:t>Vistas materializadas</a:t>
            </a:r>
          </a:p>
        </p:txBody>
      </p:sp>
      <p:sp>
        <p:nvSpPr>
          <p:cNvPr id="707" name="TConn1"/>
          <p:cNvSpPr/>
          <p:nvPr/>
        </p:nvSpPr>
        <p:spPr>
          <a:xfrm>
            <a:off x="4845050" y="4559300"/>
            <a:ext cx="2540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708" name="TDot2"/>
          <p:cNvSpPr/>
          <p:nvPr/>
        </p:nvSpPr>
        <p:spPr>
          <a:xfrm>
            <a:off x="7308850" y="4229100"/>
            <a:ext cx="355600" cy="3556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FFFFFF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09" name="TCard2"/>
          <p:cNvSpPr/>
          <p:nvPr/>
        </p:nvSpPr>
        <p:spPr>
          <a:xfrm>
            <a:off x="6311900" y="2679700"/>
            <a:ext cx="2349500" cy="1397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l">
              <a:lnSpc>
                <a:spcPct val="100000"/>
              </a:lnSpc>
              <a:buNone/>
            </a:pPr>
            <a:r>
              <a:rPr lang="es-ES" sz="900" b="1" dirty="0">
                <a:solidFill>
                  <a:srgbClr val="ED7D31"/>
                </a:solidFill>
              </a:rPr>
              <a:t>6-9 meses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s-ES" sz="1100" b="1" dirty="0">
                <a:solidFill>
                  <a:srgbClr val="1F1F1F"/>
                </a:solidFill>
              </a:rPr>
              <a:t>F3: IA &amp; Agentes</a:t>
            </a:r>
          </a:p>
          <a:p>
            <a:pPr marL="86400" indent="-86400" algn="l">
              <a:lnSpc>
                <a:spcPct val="105000"/>
              </a:lnSpc>
              <a:spcBef>
                <a:spcPts val="200"/>
              </a:spcBef>
              <a:buFont typeface="Arial"/>
              <a:buChar char="•"/>
            </a:pPr>
            <a:r>
              <a:rPr lang="es-ES" sz="900" dirty="0">
                <a:solidFill>
                  <a:srgbClr val="3A3A3A"/>
                </a:solidFill>
              </a:rPr>
              <a:t>Reentrenamiento auto</a:t>
            </a:r>
          </a:p>
          <a:p>
            <a:pPr marL="86400" indent="-86400" algn="l">
              <a:lnSpc>
                <a:spcPct val="105000"/>
              </a:lnSpc>
              <a:spcBef>
                <a:spcPts val="200"/>
              </a:spcBef>
              <a:buFont typeface="Arial"/>
              <a:buChar char="•"/>
            </a:pPr>
            <a:r>
              <a:rPr lang="es-ES" sz="900" dirty="0">
                <a:solidFill>
                  <a:srgbClr val="3A3A3A"/>
                </a:solidFill>
              </a:rPr>
              <a:t>RAG con Gemini</a:t>
            </a:r>
          </a:p>
          <a:p>
            <a:pPr marL="86400" indent="-86400" algn="l">
              <a:lnSpc>
                <a:spcPct val="105000"/>
              </a:lnSpc>
              <a:spcBef>
                <a:spcPts val="200"/>
              </a:spcBef>
              <a:buFont typeface="Arial"/>
              <a:buChar char="•"/>
            </a:pPr>
            <a:r>
              <a:rPr lang="es-ES" sz="900" dirty="0">
                <a:solidFill>
                  <a:srgbClr val="3A3A3A"/>
                </a:solidFill>
              </a:rPr>
              <a:t>Copiloto para analistas</a:t>
            </a:r>
          </a:p>
        </p:txBody>
      </p:sp>
      <p:sp>
        <p:nvSpPr>
          <p:cNvPr id="710" name="TConn2"/>
          <p:cNvSpPr/>
          <p:nvPr/>
        </p:nvSpPr>
        <p:spPr>
          <a:xfrm>
            <a:off x="7473950" y="4076700"/>
            <a:ext cx="2540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  <p:sp>
        <p:nvSpPr>
          <p:cNvPr id="711" name="TDot3"/>
          <p:cNvSpPr/>
          <p:nvPr/>
        </p:nvSpPr>
        <p:spPr>
          <a:xfrm>
            <a:off x="9937750" y="4229100"/>
            <a:ext cx="355600" cy="355600"/>
          </a:xfrm>
          <a:prstGeom prst="ellipse">
            <a:avLst/>
          </a:prstGeom>
          <a:solidFill>
            <a:srgbClr val="ED7D31"/>
          </a:solidFill>
          <a:ln w="9525">
            <a:solidFill>
              <a:srgbClr val="FFFFFF"/>
            </a:solidFill>
          </a:ln>
        </p:spPr>
        <p:txBody>
          <a:bodyPr wrap="square" lIns="36000" tIns="18000" rIns="36000" bIns="18000" anchor="ctr" anchorCtr="1"/>
          <a:lstStyle/>
          <a:p>
            <a:pPr algn="ctr">
              <a:buNone/>
            </a:pPr>
            <a:r>
              <a:rPr lang="es-ES" sz="12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12" name="TCard3"/>
          <p:cNvSpPr/>
          <p:nvPr/>
        </p:nvSpPr>
        <p:spPr>
          <a:xfrm>
            <a:off x="8940800" y="4686300"/>
            <a:ext cx="2349500" cy="1397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7D31"/>
            </a:solidFill>
          </a:ln>
        </p:spPr>
        <p:txBody>
          <a:bodyPr wrap="square" lIns="36000" tIns="18000" rIns="36000" bIns="18000" anchor="ctr" anchorCtr="1"/>
          <a:lstStyle/>
          <a:p>
            <a:pPr algn="l">
              <a:lnSpc>
                <a:spcPct val="100000"/>
              </a:lnSpc>
              <a:buNone/>
            </a:pPr>
            <a:r>
              <a:rPr lang="es-ES" sz="900" b="1" dirty="0">
                <a:solidFill>
                  <a:srgbClr val="ED7D31"/>
                </a:solidFill>
              </a:rPr>
              <a:t>Año 2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buNone/>
            </a:pPr>
            <a:r>
              <a:rPr lang="es-ES" sz="1100" b="1" dirty="0">
                <a:solidFill>
                  <a:srgbClr val="1F1F1F"/>
                </a:solidFill>
              </a:rPr>
              <a:t>F4: Escalamiento</a:t>
            </a:r>
          </a:p>
          <a:p>
            <a:pPr marL="86400" indent="-86400" algn="l">
              <a:lnSpc>
                <a:spcPct val="105000"/>
              </a:lnSpc>
              <a:spcBef>
                <a:spcPts val="200"/>
              </a:spcBef>
              <a:buFont typeface="Arial"/>
              <a:buChar char="•"/>
            </a:pPr>
            <a:r>
              <a:rPr lang="es-ES" sz="900" dirty="0">
                <a:solidFill>
                  <a:srgbClr val="3A3A3A"/>
                </a:solidFill>
              </a:rPr>
              <a:t>Slots reservados</a:t>
            </a:r>
          </a:p>
          <a:p>
            <a:pPr marL="86400" indent="-86400" algn="l">
              <a:lnSpc>
                <a:spcPct val="105000"/>
              </a:lnSpc>
              <a:spcBef>
                <a:spcPts val="200"/>
              </a:spcBef>
              <a:buFont typeface="Arial"/>
              <a:buChar char="•"/>
            </a:pPr>
            <a:r>
              <a:rPr lang="es-ES" sz="900" dirty="0">
                <a:solidFill>
                  <a:srgbClr val="3A3A3A"/>
                </a:solidFill>
              </a:rPr>
              <a:t>Multi-región / multi-tenant</a:t>
            </a:r>
          </a:p>
          <a:p>
            <a:pPr marL="86400" indent="-86400" algn="l">
              <a:lnSpc>
                <a:spcPct val="105000"/>
              </a:lnSpc>
              <a:spcBef>
                <a:spcPts val="200"/>
              </a:spcBef>
              <a:buFont typeface="Arial"/>
              <a:buChar char="•"/>
            </a:pPr>
            <a:r>
              <a:rPr lang="es-ES" sz="900" dirty="0">
                <a:solidFill>
                  <a:srgbClr val="3A3A3A"/>
                </a:solidFill>
              </a:rPr>
              <a:t>Nuevas entidades</a:t>
            </a:r>
          </a:p>
        </p:txBody>
      </p:sp>
      <p:sp>
        <p:nvSpPr>
          <p:cNvPr id="713" name="TConn3"/>
          <p:cNvSpPr/>
          <p:nvPr/>
        </p:nvSpPr>
        <p:spPr>
          <a:xfrm>
            <a:off x="10102850" y="4559300"/>
            <a:ext cx="25400" cy="127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square" lIns="36000" tIns="18000" rIns="36000" bIns="18000" anchor="ctr" anchorCtr="1"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54967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"/>
          <p:cNvSpPr/>
          <p:nvPr/>
        </p:nvSpPr>
        <p:spPr>
          <a:xfrm flipH="1">
            <a:off x="0" y="0"/>
            <a:ext cx="51816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37"/>
          <p:cNvSpPr txBox="1">
            <a:spLocks noGrp="1"/>
          </p:cNvSpPr>
          <p:nvPr>
            <p:ph type="title"/>
          </p:nvPr>
        </p:nvSpPr>
        <p:spPr>
          <a:xfrm>
            <a:off x="5857875" y="374100"/>
            <a:ext cx="5290800" cy="3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s-ES"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CONCLUSIONES Y CIERRE</a:t>
            </a:r>
            <a:endParaRPr/>
          </a:p>
        </p:txBody>
      </p:sp>
      <p:sp>
        <p:nvSpPr>
          <p:cNvPr id="277" name="Google Shape;277;p37"/>
          <p:cNvSpPr txBox="1">
            <a:spLocks noGrp="1"/>
          </p:cNvSpPr>
          <p:nvPr>
            <p:ph type="body" idx="1"/>
          </p:nvPr>
        </p:nvSpPr>
        <p:spPr>
          <a:xfrm>
            <a:off x="5857825" y="4173000"/>
            <a:ext cx="5290800" cy="25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s-ES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Lumina Bank demuestra que es viable unificar 12 entidades bancarias en una plataforma única que opera en tiempo real, cumple SLAs críticos y expone analítica consistente para negocio y regulador.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14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369DFA0-5769-1743-84D7-4AEBDFCE1DC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9e7c67fd-8f65-4d60-af12-e8213a76c63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1565</Words>
  <Application>Microsoft Macintosh PowerPoint</Application>
  <PresentationFormat>Widescreen</PresentationFormat>
  <Paragraphs>359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Consolas</vt:lpstr>
      <vt:lpstr>Calibri</vt:lpstr>
      <vt:lpstr>Space Grotesk</vt:lpstr>
      <vt:lpstr>Personalizar</vt:lpstr>
      <vt:lpstr>LUMINA BANK ARQUITECTURA DE DATOS END-TO-END SOBRE GOOGLE CLOUD PLATFORM SISTEMA FINANCIERO UNIFICADO DE DATALANDIA |  Lopez Medina, Sebastián Nieto Espinoza, Brajan Tapia Chasquibol, Mateo </vt:lpstr>
      <vt:lpstr>SOBRE LUMINA BANK</vt:lpstr>
      <vt:lpstr>PROBLEMÁTICA Y OBJETIVOS DEL NEGOCIO</vt:lpstr>
      <vt:lpstr>OBJETIVOS DEL PROYECTO</vt:lpstr>
      <vt:lpstr>ARQUITECTURA DE LA SOLUCIÓN — 4 FASES</vt:lpstr>
      <vt:lpstr>FASE 1 — INGESTA</vt:lpstr>
      <vt:lpstr>FASE 2 — PROCESAMIENTO</vt:lpstr>
      <vt:lpstr>FASE 3 — ALMACENAMIENTO POLIGLÓTICO</vt:lpstr>
      <vt:lpstr>FASE 4 — SERVICIO Y CONSUMO</vt:lpstr>
      <vt:lpstr>STACK TECNOLÓGICO</vt:lpstr>
      <vt:lpstr>IMPLEMENTACIÓN DETALLADA</vt:lpstr>
      <vt:lpstr>INFRAESTRUCTURA COMO CÓDIGO — TERRAFORM</vt:lpstr>
      <vt:lpstr>PIPELINE STREAMING — APACHE BEAM</vt:lpstr>
      <vt:lpstr>PIPELINE BATCH — PYSPARK SOBRE DATAPROC</vt:lpstr>
      <vt:lpstr>MODELO DE FRAUDE — GBT + VERTEX AI</vt:lpstr>
      <vt:lpstr>SEGURIDAD Y GOBIERNO DE DATOS</vt:lpstr>
      <vt:lpstr>VALOR PARA EL NEGOCIO Y RESULTADOS</vt:lpstr>
      <vt:lpstr>KPIS </vt:lpstr>
      <vt:lpstr>IMPACTO EN EL NEGOCIO</vt:lpstr>
      <vt:lpstr>COSTOS Y PALANCAS DE OPTIMIZACIÓN</vt:lpstr>
      <vt:lpstr>DESAFÍOS Y LECCIONES APRENDIDAS</vt:lpstr>
      <vt:lpstr>TRABAJO FUTURO — ROADMAP</vt:lpstr>
      <vt:lpstr>CONCLUSIONES Y CIERRE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Microsoft Office User</cp:lastModifiedBy>
  <cp:revision>1</cp:revision>
  <dcterms:modified xsi:type="dcterms:W3CDTF">2026-04-18T02:29:42Z</dcterms:modified>
</cp:coreProperties>
</file>